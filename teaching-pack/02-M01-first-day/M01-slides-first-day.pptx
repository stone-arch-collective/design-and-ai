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mejob-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606040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26B1D"/>
                </a:solidFill>
                <a:latin typeface="Barlow Condensed"/>
              </a:rPr>
              <a:t>MEETING 01  ·  UNIT 1: HIRED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Barlow Condensed"/>
              </a:rPr>
              <a:t>Your first day at
ACMEJOB.Ai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6F8FAF"/>
                </a:solidFill>
                <a:latin typeface="Arial"/>
              </a:rPr>
              <a:t>What is AI, and what is the difference between a rule and a learned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Barlow Condensed"/>
              </a:rPr>
              <a:t>Tuesday, February 2, 2027  ·  SEIS 201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You were hired this morning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ACMEJOB.Ai — a 60-year-old Minnesota civil and mechanical firm that added two letters to its name two years ago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65376"/>
            <a:ext cx="3429000" cy="320040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08483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DIANE HALVORSEN, 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23744"/>
            <a:ext cx="28803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Principal engineer, 27 years.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Knows every inspector and contractor in the county.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Does not trust FOREMAN.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Asks one question, every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65376"/>
            <a:ext cx="3429000" cy="320040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208483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WES TANAKA, EIT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523744"/>
            <a:ext cx="28803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Second year out of school.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Split across three projects.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Genuinely trying.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His handoffs arrive late and incomplete.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865376"/>
            <a:ext cx="3429000" cy="32004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7616" y="208483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FOREMAN v4.2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7616" y="2523744"/>
            <a:ext cx="28803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The firm's AI platform.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Fast, fluent, confident.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Reads more than any of you can.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Wrong about one time in five, at full confidence.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294376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 i="0">
                <a:solidFill>
                  <a:srgbClr val="6B7280"/>
                </a:solidFill>
                <a:latin typeface="Arial"/>
              </a:rPr>
              <a:t>The colour code holds all semester: </a:t>
            </a:r>
            <a:r>
              <a:rPr sz="1600" b="0" i="0">
                <a:solidFill>
                  <a:srgbClr val="6B7280"/>
                </a:solidFill>
                <a:latin typeface="Arial"/>
              </a:rPr>
              <a:t>orange is the machine, blue is a person. When you cannot remember who said something, look at the colour.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Here’s the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Otter Bend Lift Bridge  ·  County Road 9 over the Kinnick River</a:t>
            </a:r>
          </a:p>
        </p:txBody>
      </p:sp>
      <p:pic>
        <p:nvPicPr>
          <p:cNvPr id="5" name="Picture 4" descr="otter-bend-lift-bridge-flat-cl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233" y="1883664"/>
            <a:ext cx="9283227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13562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0" i="0">
                <a:solidFill>
                  <a:srgbClr val="6B7280"/>
                </a:solidFill>
                <a:latin typeface="Arial"/>
              </a:rPr>
              <a:t>Kinnick County wants an answer by May: rehabilitate, or replace?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Place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Otter Bend, Kinnick County  ·  County Road 9</a:t>
            </a:r>
          </a:p>
        </p:txBody>
      </p:sp>
      <p:pic>
        <p:nvPicPr>
          <p:cNvPr id="5" name="Picture 4" descr="otter-bend-site-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702" y="1883664"/>
            <a:ext cx="6312290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13562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0" i="0">
                <a:solidFill>
                  <a:srgbClr val="6B7280"/>
                </a:solidFill>
                <a:latin typeface="Arial"/>
              </a:rPr>
              <a:t>Every lab, dataset and exam this semester comes back to this one fictional site.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Read the bridge before the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320′ total  ·  140′ lift span  ·  two 90′ approach spans</a:t>
            </a:r>
          </a:p>
        </p:txBody>
      </p:sp>
      <p:pic>
        <p:nvPicPr>
          <p:cNvPr id="5" name="Picture 4" descr="otter-bend-general-ele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598" y="1883664"/>
            <a:ext cx="7610498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13562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0" i="0">
                <a:solidFill>
                  <a:srgbClr val="6B7280"/>
                </a:solidFill>
                <a:latin typeface="Arial"/>
              </a:rPr>
              <a:t>For now, orient yourself to the lift span and approaches; you do not need every drawing callout.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Barlow Condensed"/>
              </a:rPr>
              <a:t>Two things happened before
nine o'clock this morning.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And they do not agree with each other.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Exhibit A — FOREMAN's demo, 07:41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44168"/>
            <a:ext cx="10853928" cy="214884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6362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FOREMAN v4.2 — DECK CONDITION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02536"/>
            <a:ext cx="1030528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“Deck is in fair to good condition overall. Mean panel rating 6.8. No panel rated below 6. No immediate action required. Model confidence is high across all panels (mean 92.0%).”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Six panels rated from photographs. Elapsed time: 1.9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7673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It read six photographs and produced six numbers, faster than you can open the file. Ask yourself now, before we go further: </a:t>
            </a:r>
            <a:r>
              <a:rPr sz="1900" b="1" i="0">
                <a:solidFill>
                  <a:srgbClr val="1F3A5F"/>
                </a:solidFill>
                <a:latin typeface="Arial"/>
              </a:rPr>
              <a:t>what would it take to check this?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Exhibit B — Diane's orientation memo, 08:30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44168"/>
            <a:ext cx="10853928" cy="178308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6362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DIANE HALVORSEN, 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02536"/>
            <a:ext cx="1030528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200" b="0" i="0">
                <a:solidFill>
                  <a:srgbClr val="2B2F36"/>
                </a:solidFill>
                <a:latin typeface="Arial"/>
              </a:rPr>
              <a:t>“Every number you hand me comes with one sentence: how do you know that is right?”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55848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She is not asking you to prove the number from first principles. She is asking you to know </a:t>
            </a:r>
            <a:r>
              <a:rPr sz="1900" b="1" i="0">
                <a:solidFill>
                  <a:srgbClr val="2B2F36"/>
                </a:solidFill>
                <a:latin typeface="Arial"/>
              </a:rPr>
              <a:t>which check you did</a:t>
            </a:r>
            <a:r>
              <a:rPr sz="1900" b="0" i="0">
                <a:solidFill>
                  <a:srgbClr val="2B2F36"/>
                </a:solidFill>
                <a:latin typeface="Arial"/>
              </a:rPr>
              <a:t> — so that when the county asks her, the answer is not “the computer said so.”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407408"/>
            <a:ext cx="10853928" cy="160020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62686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TODAY'S ARGUMENT, IN ONE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065776"/>
            <a:ext cx="103052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FOREMAN produced an answer nobody can check. Diane's method produces an answer anybody can check. Both are legitimate engineering. Knowing which one you are holding is the job.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Steps somebody wrote down, that anybody can repeat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 rule: the load rating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Diane's standard sheet LR-1. This is arithmetic — you do not need to have taken structures.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11095"/>
            <a:ext cx="10853928" cy="1143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157984"/>
            <a:ext cx="108539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1F3A5F"/>
                </a:solidFill>
                <a:latin typeface="Courier New"/>
              </a:rPr>
              <a:t>RF  =  ( C − D )  ÷  ( L × IM )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47014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337413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C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girder moment capacity — what the steel can carry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90956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81355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D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dead load moment — the weight of the structure itself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34898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425297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L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live load moment — the rating truck, an HS-20 at 36 tons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78840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692395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IM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impact factor — allowance for a moving load bouncing. 1.33.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15721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Above RF = 1.00 the girder carries the truck. Below it, you post or restrict the bridge.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Worked: Girder G-3, south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Follow it with a pencil. Every line is checkable by somebody who was not in the room.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29487" y="1773936"/>
          <a:ext cx="10332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291840"/>
                <a:gridCol w="310896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Barlow Condensed"/>
                        </a:rPr>
                        <a:t>Step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Barlow Condensed"/>
                        </a:rPr>
                        <a:t>Substitution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FFFFFF"/>
                          </a:solidFill>
                          <a:latin typeface="Barlow Condensed"/>
                        </a:rPr>
                        <a:t>Result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B2F36"/>
                          </a:solidFill>
                          <a:latin typeface="Arial"/>
                        </a:rPr>
                        <a:t>1.  Capacity minus dead load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B2F36"/>
                          </a:solidFill>
                          <a:latin typeface="Arial"/>
                        </a:rPr>
                        <a:t>3,920 − 1,455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B2F36"/>
                          </a:solidFill>
                          <a:latin typeface="Arial"/>
                        </a:rPr>
                        <a:t>2,465 kip-ft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B2F36"/>
                          </a:solidFill>
                          <a:latin typeface="Arial"/>
                        </a:rPr>
                        <a:t>2.  Live load with impact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B2F36"/>
                          </a:solidFill>
                          <a:latin typeface="Arial"/>
                        </a:rPr>
                        <a:t>1,080 × 1.33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B2F36"/>
                          </a:solidFill>
                          <a:latin typeface="Arial"/>
                        </a:rPr>
                        <a:t>1,436.4 kip-ft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B2F36"/>
                          </a:solidFill>
                          <a:latin typeface="Arial"/>
                        </a:rPr>
                        <a:t>3.  Rating factor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B2F36"/>
                          </a:solidFill>
                          <a:latin typeface="Arial"/>
                        </a:rPr>
                        <a:t>2,465 ÷ 1,436.4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B2F36"/>
                          </a:solidFill>
                          <a:latin typeface="Arial"/>
                        </a:rPr>
                        <a:t>1.716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B2F36"/>
                          </a:solidFill>
                          <a:latin typeface="Arial"/>
                        </a:rPr>
                        <a:t>4.  Rating in tons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B2F36"/>
                          </a:solidFill>
                          <a:latin typeface="Arial"/>
                        </a:rPr>
                        <a:t>1.716 × 36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B2F36"/>
                          </a:solidFill>
                          <a:latin typeface="Arial"/>
                        </a:rPr>
                        <a:t>61.8 tons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24281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F3A5F"/>
                </a:solidFill>
                <a:latin typeface="Arial"/>
              </a:rPr>
              <a:t>That is the entire point of a rule. </a:t>
            </a:r>
            <a:r>
              <a:rPr sz="2000" b="0" i="0">
                <a:solidFill>
                  <a:srgbClr val="2B2F36"/>
                </a:solidFill>
                <a:latin typeface="Arial"/>
              </a:rPr>
              <a:t>Nobody has to trust Diane. They can redo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Work the rating factor for Girder G-4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10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G-4 sits under the wheel line. Its bottom flange has 60 years of section loss, so its capacity is lower: C = 3,850 kip-ft. D and L are unchanged.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1576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79775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73405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Work the four steps on handout H1-02. Show every substitution.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9125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3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20954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Is your RF above or below 1.00? Say what that means for a 36-ton truck.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6674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3075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685031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Write one sentence: how do you know your answer is right?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If you finish early: what happens to the rating if the section loss is worse than assumed and C drops to 3,500?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RF = 1.692, which is a rating of 60.9 tons</a:t>
            </a:r>
          </a:p>
        </p:txBody>
      </p:sp>
      <p:pic>
        <p:nvPicPr>
          <p:cNvPr id="5" name="Picture 4" descr="m01-rating-f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883664"/>
            <a:ext cx="10607040" cy="37225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789085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0" i="0">
                <a:solidFill>
                  <a:srgbClr val="6B7280"/>
                </a:solidFill>
                <a:latin typeface="Arial"/>
              </a:rPr>
              <a:t>G-4 carries the rating truck, with less margin than G-3. Both girders pass. Nothing here required judgement — and that is exactly what makes it a rule.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Learned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Nobody wrote the steps down. A machine was shown examples until it picked up the pattern.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How FOREMAN rated the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There is no formula in here anywhere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09854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200253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Training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41,800 photographs of bridge decks, each labelled by an inspector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81228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71627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Learning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the model adjusts itself until its ratings match the labels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25170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15569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Use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show it a new photograph, it returns the rating that best matches the pattern it picked up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96544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386943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Confidence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the model's own estimate of how well it did, produced by the model itself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471416"/>
            <a:ext cx="10853928" cy="1874519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69087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WHY THIS IS NOT A BAD 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129784"/>
            <a:ext cx="10305288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Nobody can write the rule for what spalling looks like in a photograph. If you want that job done at all, it has to be learned. The question is never whether to use it — it is what you would accept as evidence that it worked.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Same six panels. Two sources.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FOREMAN's 2027 photo ratings against Diane's 2019 field ratings</a:t>
            </a:r>
          </a:p>
        </p:txBody>
      </p:sp>
      <p:pic>
        <p:nvPicPr>
          <p:cNvPr id="5" name="Picture 4" descr="m01-deck-ra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188" y="1883664"/>
            <a:ext cx="8867318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18134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0" i="0">
                <a:solidFill>
                  <a:srgbClr val="6B7280"/>
                </a:solidFill>
                <a:latin typeface="Arial"/>
              </a:rPr>
              <a:t>Five panels agree within a point. One is three points apart.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800" b="1" i="0">
                <a:solidFill>
                  <a:srgbClr val="1F3A5F"/>
                </a:solidFill>
                <a:latin typeface="Barlow Condensed"/>
              </a:rPr>
              <a:t>Which panel was FOREMAN
most confident about?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D-15. At 96 percent.</a:t>
            </a:r>
          </a:p>
        </p:txBody>
      </p:sp>
      <p:pic>
        <p:nvPicPr>
          <p:cNvPr id="4" name="Picture 3" descr="m01-confidence-vs-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982" y="1316736"/>
            <a:ext cx="7199729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5614416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0" i="0">
                <a:solidFill>
                  <a:srgbClr val="6B7280"/>
                </a:solidFill>
                <a:latin typeface="Arial"/>
              </a:rPr>
              <a:t>The panel was overlaid with new surfacing in 2018. The photograph shows a smooth, clean overlay — so the model was surer, not less sure. Confidence went up precisely because the evidence got worse.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Nobody here is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This is the distinction the whole semester rests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5394960" cy="3456432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WHAT FOREMAN DID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4846320" cy="2542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Answered the question it was asked: what condition does this surface appear to be in?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/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Its answer was reasonable for that question.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/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It had no way to know the surface was not the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956816"/>
            <a:ext cx="5367528" cy="3456432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2176272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WHAT DIANE 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615184"/>
            <a:ext cx="4818888" cy="2542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She could tap the deck with a hammer and listen.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/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She remembered the 2018 overlay because she was there.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/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None of that is in a photograph, and no amount of training data puts it there.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596127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Arial"/>
              </a:rPr>
              <a:t>The failure was in the question, not the algorithm.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Remember that when somebody tells you a better model would have caught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Rules and learned patterns, side by side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5167" y="1207008"/>
          <a:ext cx="1088136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023360"/>
                <a:gridCol w="457200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Barlow Condensed"/>
                        </a:rPr>
                        <a:t/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Barlow Condensed"/>
                        </a:rPr>
                        <a:t>A rule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Barlow Condensed"/>
                        </a:rPr>
                        <a:t>A learned pattern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Built from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Steps somebody wrote down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Examples somebody labelled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Shows its work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Every line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No line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You check it by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Redoing the steps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Testing it on cases it never saw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Fails by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Being wrong the same way every time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Being wrong on things unlike its training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Tells you it failed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It does not, but you can see where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It does not, and it sounds the same either way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4032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Most real work is a mix. The skill is knowing which part you are holding at any moment.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Task sort — rule, learned, or both?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12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Handout H1-05 lists nine things this firm does on the Otter Bend job.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For each: how would you build it — a rule, a learned pattern, or either?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Then the harder column: what single piece of evidence would convince you it works?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Two of the nine are genuinely arguable. Be ready to say which two.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Work in pairs. Disagreement is the point — if your pair agrees on all nine, you are not arguing hard enough about number 9.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Where that lands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83767" y="1207008"/>
          <a:ext cx="104241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6766560"/>
                <a:gridCol w="301752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Barlow Condensed"/>
                        </a:rPr>
                        <a:t>#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Barlow Condensed"/>
                        </a:rPr>
                        <a:t>Task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Barlow Condensed"/>
                        </a:rPr>
                        <a:t>Answer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Rating factor for a girder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Rule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Find spalling in 400 photographs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Learned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Counterweight balance check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Rule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Draft the county cover letter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Learned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Flag any strain reading above 250 µε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Rule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Predict which panels need repair in 5 years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Learned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Convert 42 ft 7 in to metres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Rule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18872" marR="91440" marT="45720" marB="45720" anchor="ctr">
                    <a:solidFill>
                      <a:srgbClr val="FFF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Fatigue crack or shrinkage crack?</a:t>
                      </a:r>
                    </a:p>
                  </a:txBody>
                  <a:tcPr marL="118872" marR="91440" marT="45720" marB="45720" anchor="ctr">
                    <a:solidFill>
                      <a:srgbClr val="FFF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Both — argue it</a:t>
                      </a:r>
                    </a:p>
                  </a:txBody>
                  <a:tcPr marL="118872" marR="91440" marT="45720" marB="45720" anchor="ctr">
                    <a:solidFill>
                      <a:srgbClr val="FFF6E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18872" marR="91440" marT="45720" marB="45720" anchor="ctr">
                    <a:solidFill>
                      <a:srgbClr val="FFF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Look up an interval in the county spec</a:t>
                      </a:r>
                    </a:p>
                  </a:txBody>
                  <a:tcPr marL="118872" marR="91440" marT="45720" marB="45720" anchor="ctr">
                    <a:solidFill>
                      <a:srgbClr val="FFF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Both — argue it</a:t>
                      </a:r>
                    </a:p>
                  </a:txBody>
                  <a:tcPr marL="118872" marR="91440" marT="45720" marB="45720" anchor="ctr">
                    <a:solidFill>
                      <a:srgbClr val="FFF6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Barlow Condensed"/>
              </a:rPr>
              <a:t>Number 9 is a rule —
if you open the document.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Next Tuesday we find out what happens when you ask a language model instead. Do not look it up before then.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One sentence. It is due before you leave.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10853928" cy="1188720"/>
          </a:xfrm>
          <a:prstGeom prst="roundRect">
            <a:avLst>
              <a:gd name="adj" fmla="val 50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9424"/>
            <a:ext cx="10149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0" i="0">
                <a:solidFill>
                  <a:srgbClr val="2B2F36"/>
                </a:solidFill>
                <a:latin typeface="Barlow Condensed"/>
              </a:rPr>
              <a:t>I believe </a:t>
            </a:r>
            <a:r>
              <a:rPr sz="2600" b="1" i="0">
                <a:solidFill>
                  <a:srgbClr val="F26B1D"/>
                </a:solidFill>
                <a:latin typeface="Barlow Condensed"/>
              </a:rPr>
              <a:t>[the number or claim]</a:t>
            </a:r>
            <a:r>
              <a:rPr sz="2600" b="0" i="0">
                <a:solidFill>
                  <a:srgbClr val="2B2F36"/>
                </a:solidFill>
                <a:latin typeface="Barlow Condensed"/>
              </a:rPr>
              <a:t> is right because I checked it against </a:t>
            </a:r>
            <a:r>
              <a:rPr sz="2600" b="1" i="0">
                <a:solidFill>
                  <a:srgbClr val="F26B1D"/>
                </a:solidFill>
                <a:latin typeface="Barlow Condensed"/>
              </a:rPr>
              <a:t>[the thing you checked it against]</a:t>
            </a:r>
            <a:r>
              <a:rPr sz="2600" b="0" i="0">
                <a:solidFill>
                  <a:srgbClr val="2B2F36"/>
                </a:solidFill>
                <a:latin typeface="Barlow Condensed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374136"/>
            <a:ext cx="5394960" cy="2331720"/>
          </a:xfrm>
          <a:prstGeom prst="roundRect">
            <a:avLst>
              <a:gd name="adj" fmla="val 3500"/>
            </a:avLst>
          </a:prstGeom>
          <a:solidFill>
            <a:srgbClr val="E9F4EC"/>
          </a:solidFill>
          <a:ln w="15875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593591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E7D4F"/>
                </a:solidFill>
                <a:latin typeface="Barlow Condensed"/>
              </a:rPr>
              <a:t>STRONG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032504"/>
            <a:ext cx="4846320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“I believe the rating factor of 1.69 is right because I worked the arithmetic twice and the second pass matched.”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Names the claim. Names a check somebody else could repeat.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3374136"/>
            <a:ext cx="5367528" cy="2331720"/>
          </a:xfrm>
          <a:prstGeom prst="roundRect">
            <a:avLst>
              <a:gd name="adj" fmla="val 3500"/>
            </a:avLst>
          </a:prstGeom>
          <a:solidFill>
            <a:srgbClr val="FAEAEC"/>
          </a:solidFill>
          <a:ln w="15875">
            <a:solidFill>
              <a:srgbClr val="C02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3593591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C0263C"/>
                </a:solidFill>
                <a:latin typeface="Barlow Condensed"/>
              </a:rPr>
              <a:t>NOT YET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4032504"/>
            <a:ext cx="4818888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“I believe the deck is in fair condition because FOREMAN rated it 6.8 with 92% confidence.”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Confidence is not a check. Nothing was compared to anything.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Mask off — two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The part where I stop being the firm and go back to being your instructor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016252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1920240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Diane is a character.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She is not the grader and her reaction is never your grade. Some weeks she will be in a hurry and wave through work that deserved better.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004312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908300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The rubric is the grade.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It scores the claim you named and the check you did — never whether the number turned out right.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718051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622039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You are allowed to disagree with her.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Doing it with evidence is the assignment.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Before Thursday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The orientation memo and the deck panel history, if you have not already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Thursday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Bring a ruler or calipers if you own them. We measure something physical before anyone touches sensor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Coming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HW1 is handed out Thursday. It is about eight strain gauges and whether you believe them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