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cmejob-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96012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2606040"/>
            <a:ext cx="7863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26B1D"/>
                </a:solidFill>
                <a:latin typeface="Barlow Condensed"/>
              </a:rPr>
              <a:t>MEETING 02  ·  UNIT 1: HIRED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718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600"/>
              </a:spcAft>
            </a:pPr>
            <a:r>
              <a:rPr sz="5800" b="1" i="0">
                <a:solidFill>
                  <a:srgbClr val="FFFFFF"/>
                </a:solidFill>
                <a:latin typeface="Barlow Condensed"/>
              </a:rPr>
              <a:t>Measure one thing,
five times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0"/>
            <a:ext cx="9326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i="0">
                <a:solidFill>
                  <a:srgbClr val="6F8FAF"/>
                </a:solidFill>
                <a:latin typeface="Arial"/>
              </a:rPr>
              <a:t>Why measurement is uncertain, and what averaging can and cannot fix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4360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B7280"/>
                </a:solidFill>
                <a:latin typeface="Barlow Condensed"/>
              </a:rPr>
              <a:t>Thursday, February 4, 2027  ·  SEIS 201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FOREMAN cleared the gauge array at 06:02 this morning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44168"/>
            <a:ext cx="10853928" cy="1874519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563624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FOREMAN v4.2 — BASELINE ACCEPTANCE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02536"/>
            <a:ext cx="10305288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900" b="0" i="0">
                <a:solidFill>
                  <a:srgbClr val="2B2F36"/>
                </a:solidFill>
                <a:latin typeface="Arial"/>
              </a:rPr>
              <a:t>“PASS. Array baseline offset 23.062500 µε against a specification limit of ±25 µε. The array is within tolerance and cleared for service. Confidence 97%.”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447288"/>
            <a:ext cx="10881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0" i="0">
                <a:solidFill>
                  <a:srgbClr val="2B2F36"/>
                </a:solidFill>
                <a:latin typeface="Arial"/>
              </a:rPr>
              <a:t>Northline invoices us the moment we accept the array, and the February load response study runs off these eight gauges. </a:t>
            </a:r>
            <a:r>
              <a:rPr sz="1900" b="1" i="0">
                <a:solidFill>
                  <a:srgbClr val="1F3A5F"/>
                </a:solidFill>
                <a:latin typeface="Arial"/>
              </a:rPr>
              <a:t>Diane will not accept it until somebody has looked.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453128"/>
            <a:ext cx="10853928" cy="132588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4672584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THE QUESTION ON THE 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5111496"/>
            <a:ext cx="10305288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2200" b="0" i="0">
                <a:solidFill>
                  <a:srgbClr val="2B2F36"/>
                </a:solidFill>
                <a:latin typeface="Arial"/>
              </a:rPr>
              <a:t>Do we accept the array?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03120"/>
            <a:ext cx="1014984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Barlow Condensed"/>
              </a:rPr>
              <a:t>We are not going to open
that file for forty minutes.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800600"/>
            <a:ext cx="1014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1">
                <a:solidFill>
                  <a:srgbClr val="6F8FAF"/>
                </a:solidFill>
                <a:latin typeface="Arial"/>
              </a:rPr>
              <a:t>You cannot judge somebody else's measurements until you have watched your own disagree with each other.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9000" b="1" i="0">
                <a:solidFill>
                  <a:srgbClr val="F26B1D"/>
                </a:solidFill>
                <a:latin typeface="Barlow Condensed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Barlow Condensed"/>
              </a:rPr>
              <a:t>What a measurement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900" b="0" i="0">
                <a:solidFill>
                  <a:srgbClr val="6F8FAF"/>
                </a:solidFill>
                <a:latin typeface="Arial"/>
              </a:rPr>
              <a:t>Nobody measures anything once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Measure the same thing five times and you get five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This is not carelessness. It is what measurement is.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144268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" y="2048255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2B2F36"/>
                </a:solidFill>
                <a:latin typeface="Arial"/>
              </a:rPr>
              <a:t>The reading  </a:t>
            </a:r>
            <a:r>
              <a:rPr sz="1900" b="0" i="0">
                <a:solidFill>
                  <a:srgbClr val="2B2F36"/>
                </a:solidFill>
                <a:latin typeface="Arial"/>
              </a:rPr>
              <a:t>one number off the instrument. On its own it tells you almost nothing.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858007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2761995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2B2F36"/>
                </a:solidFill>
                <a:latin typeface="Arial"/>
              </a:rPr>
              <a:t>The spread  </a:t>
            </a:r>
            <a:r>
              <a:rPr sz="1900" b="0" i="0">
                <a:solidFill>
                  <a:srgbClr val="2B2F36"/>
                </a:solidFill>
                <a:latin typeface="Arial"/>
              </a:rPr>
              <a:t>how far apart your repeated readings are. This is the honest width of what you know.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571747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3475735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2B2F36"/>
                </a:solidFill>
                <a:latin typeface="Arial"/>
              </a:rPr>
              <a:t>The resolution  </a:t>
            </a:r>
            <a:r>
              <a:rPr sz="1900" b="0" i="0">
                <a:solidFill>
                  <a:srgbClr val="2B2F36"/>
                </a:solidFill>
                <a:latin typeface="Arial"/>
              </a:rPr>
              <a:t>the smallest division the instrument can actually show. You cannot know anything finer than this, no matter how many readings you take.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559808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6424" y="4463795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 i="0">
                <a:solidFill>
                  <a:srgbClr val="2B2F36"/>
                </a:solidFill>
                <a:latin typeface="Arial"/>
              </a:rPr>
              <a:t>The true value  </a:t>
            </a:r>
            <a:r>
              <a:rPr sz="1900" b="0" i="0">
                <a:solidFill>
                  <a:srgbClr val="2B2F36"/>
                </a:solidFill>
                <a:latin typeface="Arial"/>
              </a:rPr>
              <a:t>what you are trying to find. You never see it. You only ever see readings.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020056"/>
            <a:ext cx="10853928" cy="150876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5239512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WRITE THIS 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5678424"/>
            <a:ext cx="10305288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A measurement is a range, not a number. Reporting it as a single number is a decision you made, and you should be able to say what you threw away.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Two ways to be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The crosshair is the true value. Each dot is one reading.</a:t>
            </a:r>
          </a:p>
        </p:txBody>
      </p:sp>
      <p:pic>
        <p:nvPicPr>
          <p:cNvPr id="5" name="Picture 4" descr="m02-accuracy-pr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1883664"/>
            <a:ext cx="10607040" cy="30799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14652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600" b="0" i="0">
                <a:solidFill>
                  <a:srgbClr val="6B7280"/>
                </a:solidFill>
                <a:latin typeface="Arial"/>
              </a:rPr>
              <a:t>Precise means your readings agree with each other. Accurate means they agree with the truth. They are independent, and only one of them is visible from inside your own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This is the distinction that matters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5394960" cy="3200400"/>
          </a:xfrm>
          <a:prstGeom prst="roundRect">
            <a:avLst>
              <a:gd name="adj" fmla="val 3500"/>
            </a:avLst>
          </a:prstGeom>
          <a:solidFill>
            <a:srgbClr val="EEF3F8"/>
          </a:solidFill>
          <a:ln w="15875">
            <a:solidFill>
              <a:srgbClr val="3A7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09344"/>
            <a:ext cx="4846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RANDOM ERROR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484632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Pushes you up as often as down.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Shows up as scatter in your own readings.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More readings shrink it.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/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Averaging works.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389888"/>
            <a:ext cx="5367528" cy="3200400"/>
          </a:xfrm>
          <a:prstGeom prst="roundRect">
            <a:avLst>
              <a:gd name="adj" fmla="val 3500"/>
            </a:avLst>
          </a:prstGeom>
          <a:solidFill>
            <a:srgbClr val="FAEAEC"/>
          </a:solidFill>
          <a:ln w="15875">
            <a:solidFill>
              <a:srgbClr val="C02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09344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C0263C"/>
                </a:solidFill>
                <a:latin typeface="Barlow Condensed"/>
              </a:rPr>
              <a:t>SYSTEMATIC 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048256"/>
            <a:ext cx="481888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Pushes the same way every time.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Invisible inside your own readings — they agree beautifully.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More readings do nothing.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/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Averaging hides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81888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C0263C"/>
                </a:solidFill>
                <a:latin typeface="Arial"/>
              </a:rPr>
              <a:t>Hold on to that last line.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In forty minutes it is going to cost somebody an invoice.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F2C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B2F36"/>
                </a:solidFill>
                <a:latin typeface="Barlow Condensed"/>
              </a:rPr>
              <a:t>IN CLASS — DO THIS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2B2F36"/>
                </a:solidFill>
                <a:latin typeface="Barlow Condensed"/>
              </a:rPr>
              <a:t>The measurement lab — handout H2-01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572768" cy="749808"/>
          </a:xfrm>
          <a:prstGeom prst="roundRect">
            <a:avLst>
              <a:gd name="adj" fmla="val 12000"/>
            </a:avLst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475488"/>
            <a:ext cx="157276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2C230"/>
                </a:solidFill>
                <a:latin typeface="Barlow Condensed"/>
              </a:rPr>
              <a:t>25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29967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984248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Part A. Measure the pin five times. Put the instrument down between readings. Record every value, including the one you think is wrong.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1576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779775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734056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Part B. Swap pins with the pair next to you and measure theirs. Compare their mean with yours, and compare that gap with your own spread.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6557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529584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483864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Part C. Turn your diameter into a cross-sectional area, and carry the uncertainty with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8978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6B7280"/>
                </a:solidFill>
                <a:latin typeface="Arial"/>
              </a:rPr>
              <a:t>No calipers on your table? A ruler works, and works better for Part A. No instrument at all? Use pin_measurements_backup.csv — 24 readings, two people.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Part C — uncertainty does not stay where you left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10853928" cy="118872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64208"/>
            <a:ext cx="1085392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1F3A5F"/>
                </a:solidFill>
                <a:latin typeface="Courier New"/>
              </a:rPr>
              <a:t>A  =  π d² /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52928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900" b="0" i="0">
                <a:solidFill>
                  <a:srgbClr val="2B2F36"/>
                </a:solidFill>
                <a:latin typeface="Arial"/>
              </a:rPr>
              <a:t>Because the diameter is squared, a 1% error in </a:t>
            </a:r>
            <a:r>
              <a:rPr sz="1900" b="1" i="0">
                <a:solidFill>
                  <a:srgbClr val="2B2F36"/>
                </a:solidFill>
                <a:latin typeface="Arial"/>
              </a:rPr>
              <a:t>d</a:t>
            </a:r>
            <a:r>
              <a:rPr sz="1900" b="0" i="0">
                <a:solidFill>
                  <a:srgbClr val="2B2F36"/>
                </a:solidFill>
                <a:latin typeface="Arial"/>
              </a:rPr>
              <a:t> becomes a 2% error in </a:t>
            </a:r>
            <a:r>
              <a:rPr sz="1900" b="1" i="0">
                <a:solidFill>
                  <a:srgbClr val="2B2F36"/>
                </a:solidFill>
                <a:latin typeface="Arial"/>
              </a:rPr>
              <a:t>A</a:t>
            </a:r>
            <a:r>
              <a:rPr sz="1900" b="0" i="0">
                <a:solidFill>
                  <a:srgbClr val="2B2F36"/>
                </a:solidFill>
                <a:latin typeface="Arial"/>
              </a:rPr>
              <a:t>. Nobody cares about the diameter. They care about the area of steel, because that is what carries the load — and that is the number your uncertainty has to survive into.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087368"/>
            <a:ext cx="10853928" cy="150876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4306824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WITH THE BACKUP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745736"/>
            <a:ext cx="10305288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Mean diameter 38.110 mm, spread 0.0257 mm — about 0.067% of d. Area comes out 1141 mm², ± 0.135% — twice the percentage you started with.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What the backup data shows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Two people, the same pin, twelve readings each</a:t>
            </a:r>
          </a:p>
        </p:txBody>
      </p:sp>
      <p:pic>
        <p:nvPicPr>
          <p:cNvPr id="5" name="Picture 4" descr="m02-pin-rea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107" y="1883664"/>
            <a:ext cx="6661481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175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600" b="0" i="0">
                <a:solidFill>
                  <a:srgbClr val="6B7280"/>
                </a:solidFill>
                <a:latin typeface="Arial"/>
              </a:rPr>
              <a:t>Reader B is about 33 micrometres high on every single reading. Their own twelve readings agree with each other beautifully. Nothing inside B's data can reveal this — it only shows up when you compare with 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03120"/>
            <a:ext cx="1014984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Barlow Condensed"/>
              </a:rPr>
              <a:t>Now open the gauge file.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800600"/>
            <a:ext cx="1014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1">
                <a:solidFill>
                  <a:srgbClr val="6F8FAF"/>
                </a:solidFill>
                <a:latin typeface="Arial"/>
              </a:rPr>
              <a:t>gauges_install.csv — eight gauges, twelve readings each, taken on install day with the roadway closed.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9000" b="1" i="0">
                <a:solidFill>
                  <a:srgbClr val="F26B1D"/>
                </a:solidFill>
                <a:latin typeface="Barlow Condensed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Barlow Condensed"/>
              </a:rPr>
              <a:t>Eight gauges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900" b="0" i="0">
                <a:solidFill>
                  <a:srgbClr val="6F8FAF"/>
                </a:solidFill>
                <a:latin typeface="Arial"/>
              </a:rPr>
              <a:t>FOREMAN read all 96 numbers in 0.4 seconds. We are going to read them one gauge at a time.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One gauge at a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Specification KC-MB-12 §4.3: each gauge shall read within ±25 µε of zero under no load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43887" y="1773936"/>
          <a:ext cx="850392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377440"/>
                <a:gridCol w="1828800"/>
                <a:gridCol w="2743200"/>
              </a:tblGrid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Barlow Condensed"/>
                        </a:rPr>
                        <a:t>Gauge</a:t>
                      </a:r>
                    </a:p>
                  </a:txBody>
                  <a:tcPr marL="118872" marR="91440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Barlow Condensed"/>
                        </a:rPr>
                        <a:t>Mean (µε)</a:t>
                      </a:r>
                    </a:p>
                  </a:txBody>
                  <a:tcPr marL="118872" marR="91440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Barlow Condensed"/>
                        </a:rPr>
                        <a:t>Spread</a:t>
                      </a:r>
                    </a:p>
                  </a:txBody>
                  <a:tcPr marL="118872" marR="91440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Barlow Condensed"/>
                        </a:rPr>
                        <a:t>Within ±25 µε?</a:t>
                      </a:r>
                    </a:p>
                  </a:txBody>
                  <a:tcPr marL="118872" marR="91440" marT="45720" marB="45720" anchor="ctr">
                    <a:solidFill>
                      <a:srgbClr val="1F3A5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G1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0.08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G2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-0.50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G3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-0.75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G4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-1.08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G5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-0.25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G6</a:t>
                      </a:r>
                    </a:p>
                  </a:txBody>
                  <a:tcPr marL="118872" marR="91440" marT="45720" marB="45720" anchor="ctr">
                    <a:solidFill>
                      <a:srgbClr val="C026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187.50</a:t>
                      </a:r>
                    </a:p>
                  </a:txBody>
                  <a:tcPr marL="118872" marR="91440" marT="45720" marB="45720" anchor="ctr">
                    <a:solidFill>
                      <a:srgbClr val="C026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18872" marR="91440" marT="45720" marB="45720" anchor="ctr">
                    <a:solidFill>
                      <a:srgbClr val="C026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118872" marR="91440" marT="45720" marB="45720" anchor="ctr">
                    <a:solidFill>
                      <a:srgbClr val="C0263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G7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-0.08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G8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-0.42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G6</a:t>
            </a:r>
          </a:p>
        </p:txBody>
      </p:sp>
      <p:pic>
        <p:nvPicPr>
          <p:cNvPr id="4" name="Picture 3" descr="m02-gauges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118" y="1316736"/>
            <a:ext cx="8163458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5431536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600" b="0" i="0">
                <a:solidFill>
                  <a:srgbClr val="6B7280"/>
                </a:solidFill>
                <a:latin typeface="Arial"/>
              </a:rPr>
              <a:t>Seven gauges sit within about one microstrain of zero. G6 reads 187.5 — seven times the limit. Its own twelve readings are as tight as everybody else's, so nothing inside G6 looks wrong.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So how did it pass?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FOREMAN's arithmetic is correct. Every digit of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02536"/>
            <a:ext cx="10853928" cy="1572768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121408"/>
            <a:ext cx="1085392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1F3A5F"/>
                </a:solidFill>
                <a:latin typeface="Courier New"/>
              </a:rPr>
              <a:t>G6 187.50   +   the other seven (−3.00)   =   184.50 µε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523744"/>
            <a:ext cx="1085392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F3A5F"/>
                </a:solidFill>
                <a:latin typeface="Courier New"/>
              </a:rPr>
              <a:t>184.50  ÷  8 gauges  =  23.06 µε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962656"/>
            <a:ext cx="1085392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2E7D4F"/>
                </a:solidFill>
                <a:latin typeface="Courier New"/>
              </a:rPr>
              <a:t>23.06  &lt;  25       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85616"/>
            <a:ext cx="10424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900" b="0" i="0">
                <a:solidFill>
                  <a:srgbClr val="2B2F36"/>
                </a:solidFill>
                <a:latin typeface="Arial"/>
              </a:rPr>
              <a:t>Averaging eight gauges divided one gauge's error by eight, and slid a failure of 162 µε under a limit it fails outright. </a:t>
            </a:r>
            <a:r>
              <a:rPr sz="1900" b="1" i="0">
                <a:solidFill>
                  <a:srgbClr val="C0263C"/>
                </a:solidFill>
                <a:latin typeface="Arial"/>
              </a:rPr>
              <a:t>The error is not in how FOREMAN computed. It is in what it chose to compute.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974336"/>
            <a:ext cx="10853928" cy="1536192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5193792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AND THE SECOND 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5632703"/>
            <a:ext cx="10305288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It reported 23.062500 µε — six decimal places, from an instrument whose installation record says it resolves 1 µε.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Somebody already knew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Page 2 of the installation record, in the margin, in pen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2139696"/>
            <a:ext cx="9235440" cy="1371600"/>
          </a:xfrm>
          <a:prstGeom prst="roundRect">
            <a:avLst>
              <a:gd name="adj" fmla="val 40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432304"/>
            <a:ext cx="8503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0" i="0">
                <a:solidFill>
                  <a:srgbClr val="1F3A5F"/>
                </a:solidFill>
                <a:latin typeface="Caveat"/>
              </a:rPr>
              <a:t>“Northline guy was in a hurry. I watched him re-glue G6 and didn't see him re-zero it. Said it was fine.”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145536"/>
            <a:ext cx="8503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6B7280"/>
                </a:solidFill>
                <a:latin typeface="Arial"/>
              </a:rPr>
              <a:t>— W. Tanaka, EIT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973068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387705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One hour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spent reading the installation record would have handed you the answer.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686808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459079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Two hours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spent recomputing the eight means would have found it the hard way, and taught you more.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5400548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530453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Zero hours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carries G6 into the February study, into HW3, and into April.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03120"/>
            <a:ext cx="1014984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4400" b="1" i="0">
                <a:solidFill>
                  <a:srgbClr val="F26B1D"/>
                </a:solidFill>
                <a:latin typeface="Barlow Condensed"/>
              </a:rPr>
              <a:t>This one comes back.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800600"/>
            <a:ext cx="1014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1">
                <a:solidFill>
                  <a:srgbClr val="6F8FAF"/>
                </a:solidFill>
                <a:latin typeface="Arial"/>
              </a:rPr>
              <a:t>In April a four-step workflow produces a number nobody can explain, and one of its inputs came from a February file with your name on it. Nobody will tell you which.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HW1, and your ten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Handout H2-04. Due Tuesday, one page.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047" y="1911095"/>
          <a:ext cx="105156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005840"/>
                <a:gridCol w="493776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Barlow Condensed"/>
                        </a:rPr>
                        <a:t>What you could do</a:t>
                      </a:r>
                    </a:p>
                  </a:txBody>
                  <a:tcPr marL="118872" marR="9144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Barlow Condensed"/>
                        </a:rPr>
                        <a:t>Hours</a:t>
                      </a:r>
                    </a:p>
                  </a:txBody>
                  <a:tcPr marL="118872" marR="9144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Barlow Condensed"/>
                        </a:rPr>
                        <a:t>What it buys</a:t>
                      </a:r>
                    </a:p>
                  </a:txBody>
                  <a:tcPr marL="118872" marR="91440" anchor="ctr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Recompute all eight gauge means yourself</a:t>
                      </a:r>
                    </a:p>
                  </a:txBody>
                  <a:tcPr marL="118872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18872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You know the numbers are real</a:t>
                      </a:r>
                    </a:p>
                  </a:txBody>
                  <a:tcPr marL="118872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Spot-check one gauge</a:t>
                      </a:r>
                    </a:p>
                  </a:txBody>
                  <a:tcPr marL="118872" marR="9144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18872" marR="9144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Your method works — not that the rest is right</a:t>
                      </a:r>
                    </a:p>
                  </a:txBody>
                  <a:tcPr marL="118872" marR="91440" anchor="ctr">
                    <a:solidFill>
                      <a:srgbClr val="F4F6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Read the installation record and field notes</a:t>
                      </a:r>
                    </a:p>
                  </a:txBody>
                  <a:tcPr marL="118872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18872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Context FOREMAN did not have</a:t>
                      </a:r>
                    </a:p>
                  </a:txBody>
                  <a:tcPr marL="118872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Call Northline about the install</a:t>
                      </a:r>
                    </a:p>
                  </a:txBody>
                  <a:tcPr marL="118872" marR="9144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18872" marR="9144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An answer next meeting, not today</a:t>
                      </a:r>
                    </a:p>
                  </a:txBody>
                  <a:tcPr marL="118872" marR="91440" anchor="ctr">
                    <a:solidFill>
                      <a:srgbClr val="F4F6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Re-derive FOREMAN's array figure</a:t>
                      </a:r>
                    </a:p>
                  </a:txBody>
                  <a:tcPr marL="118872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18872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You learn what it actually did</a:t>
                      </a:r>
                    </a:p>
                  </a:txBody>
                  <a:tcPr marL="118872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Accept FOREMAN's result as delivered</a:t>
                      </a:r>
                    </a:p>
                  </a:txBody>
                  <a:tcPr marL="118872" marR="9144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18872" marR="9144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B2F36"/>
                          </a:solidFill>
                          <a:latin typeface="Arial"/>
                        </a:rPr>
                        <a:t>Four hours saved, a number you cannot defend</a:t>
                      </a:r>
                    </a:p>
                  </a:txBody>
                  <a:tcPr marL="118872" marR="91440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919471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You have ten. You cannot do all of it — that is the assignment.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Write down what you chose not to check, on the decision log. You will want it in May.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Mask off — two minutes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833372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" y="1737360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Hours are never points.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Running out of them costs you nothing. Spending them on the wrong thing costs you nothing.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547112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2451100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There was no trick.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The data was in the file, the warning was in the margin, and the arithmetic was correct. Nothing was hidden from you.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260851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3164839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Nobody is expected to catch everything.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You are expected to know what you did not check, and to say so.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8580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Barlow Condensed"/>
              </a:rPr>
              <a:t>Before Tuesday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170078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HW1, one page, due Tuesday. Start your decision log — week 1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06039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Keep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569463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The decision log lives in your folder all semester. Two minutes a 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Tuesday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343814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FOREMAN summarizes the county specification, and we find out what happens when a language model looks something 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