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6"/>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5" Type="http://schemas.openxmlformats.org/officeDocument/2006/relationships/notesMaster" Target="notesMasters/notesMaster1.xml"/><Relationship Id="rId16"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Reader B’s consistent 33 µm height across all readings reveals a systematic error invisible within its own dataset but glaring when compared to Reader A. This highlights the importance of cross-checking instruments against external references rather than relying solely on internal consistency. Pause here to ask students: “Why might a systematic error go unnoticed within a single dataset?” Emphasize that arithmetic correctness doesn’t guarantee methodological soundness.</a:t>
            </a:r>
          </a:p>
          <a:p/>
          <a:p>
            <a:r>
              <a:t>[FACILITATION]: Use this moment to contrast internal validation with peer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G6’s mean of 187.50 FAILs by ±25, while other gauges (G1–G5, G7, G8) cluster near zero and PASS. This stark contrast underscores the need to isolate outliers for deeper analysis rather than averaging them into compliance. Pause to ask: “What risks arise from averaging a single failure across multiple readings?” Note the false precision of six decimal places versus the 1 µε resolution on the install record.</a:t>
            </a:r>
          </a:p>
          <a:p/>
          <a:p>
            <a:r>
              <a:t>[FACILITATION]: Highlight the danger of conflating statistical noise with engineering truth.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G6’s tight internal spread masks its 7×-over limit mean, illustrating how a dataset can appear “correct” internally while failing externally. This reinforces the principle that consistency within a group doesn’t equate to correctness in context. Pause to ask: “How might a team overlook a critical failure if they only check internal metrics?”</a:t>
            </a:r>
          </a:p>
          <a:p/>
          <a:p>
            <a:r>
              <a:t>[FACILITATION]: Encourage students to question assumptions about data integrity beyond surface-level checks.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PASS result arose from averaging one failure across eight gauges, diluting the error to 23.06 &lt; 25. This false compliance highlights the perils of statistical sleight-of-hand versus engineering rigor. Pause to ask: “Why is dividing a single failure by eight ethically problematic?” Note the discrepancy between six-decimal precision and the 1 µε resolution on the install record.</a:t>
            </a:r>
          </a:p>
          <a:p/>
          <a:p>
            <a:r>
              <a:t>[FACILITATION]: Stress that arithmetic alone cannot validate engineering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Wes Tanaka’s margin note says that he watched Northline re-glue G6 and did not see it re-zeroed. That is Wes’s procedural observation; it is not an estimate of anyone’s timeline.</a:t>
            </a:r>
          </a:p>
          <a:p/>
          <a:p>
            <a:r>
              <a:t>Keep the separate student hour-budget menu distinct: students may spend 1 hour reading the installation record, 2 hours recomputing the eight means, or 0 hours accepting the result. Do not attribute those choices to Wes. Pause to ask: “Which evidence would each student choice uncover, and what would remain unchecked?”</a:t>
            </a:r>
          </a:p>
          <a:p/>
          <a:p>
            <a:r>
              <a:t>[FACILITATION]: Use this to discuss the difference between field evidence and a student’s verification-budget decision.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mention of a February file with students’ names foreshadows a later workflow where past data will be reused. This emphasizes the need for traceable, well-documented records to avoid future errors. Pause to ask: “Why might a February file be relevant to a later task?”</a:t>
            </a:r>
          </a:p>
          <a:p/>
          <a:p>
            <a:r>
              <a:t>[FACILITATION]: Encourage students to think about how their current work might impact future projects.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HW1 requires one page plus a decision log and hour menu, with HW1B’s lift station being a later transfer case. Clarify that this week’s focus is on immediate tasks, not future ones. Pause to ask: “What’s the difference between this week’s HW1 and the lift station in HW1B?”</a:t>
            </a:r>
          </a:p>
          <a:p/>
          <a:p>
            <a:r>
              <a:t>[FACILITATION]: Reinforce deadlines and scope to prevent confusion.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Hours are never points; nothing was hidden. Students are expected to know what they didn’t check, emphasizing accountability over blame. Pause to ask: “Why is it important to own what you didn’t verify?”</a:t>
            </a:r>
          </a:p>
          <a:p/>
          <a:p>
            <a:r>
              <a:t>[FACILITATION]: Use this to foster a culture of proactive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must complete HW1 and start the decision log for week 1. On Tuesday, the FOREMAN will summarize county specs and LLM lookup risks. Pause to ask: “What should students prioritize before Tuesday’s session?”</a:t>
            </a:r>
          </a:p>
          <a:p/>
          <a:p>
            <a:r>
              <a:t>[FACILITATION]: Remind them to align their preparation with the instructor’s agenda.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What the backup data shows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Two people, the same pin, twelve readings each</a:t>
            </a:r>
          </a:p>
        </p:txBody>
      </p:sp>
      <p:pic>
        <p:nvPicPr>
          <p:cNvPr id="5" name="Picture 4" descr="m02-pin-readers.png"/>
          <p:cNvPicPr>
            <a:picLocks noChangeAspect="1"/>
          </p:cNvPicPr>
          <p:nvPr/>
        </p:nvPicPr>
        <p:blipFill>
          <a:blip r:embed="rId2"/>
          <a:stretch>
            <a:fillRect/>
          </a:stretch>
        </p:blipFill>
        <p:spPr>
          <a:xfrm>
            <a:off x="2891913" y="1883664"/>
            <a:ext cx="6407868" cy="3108960"/>
          </a:xfrm>
          <a:prstGeom prst="rect">
            <a:avLst/>
          </a:prstGeom>
        </p:spPr>
      </p:pic>
      <p:sp>
        <p:nvSpPr>
          <p:cNvPr id="6" name="TextBox 5"/>
          <p:cNvSpPr txBox="1"/>
          <p:nvPr/>
        </p:nvSpPr>
        <p:spPr>
          <a:xfrm>
            <a:off x="658368" y="5175504"/>
            <a:ext cx="10881360" cy="640080"/>
          </a:xfrm>
          <a:prstGeom prst="rect">
            <a:avLst/>
          </a:prstGeom>
          <a:noFill/>
        </p:spPr>
        <p:txBody>
          <a:bodyPr wrap="square" anchor="t" lIns="0" rIns="0" tIns="0" bIns="0">
            <a:spAutoFit/>
          </a:bodyPr>
          <a:lstStyle/>
          <a:p>
            <a:pPr algn="l">
              <a:lnSpc>
                <a:spcPct val="118000"/>
              </a:lnSpc>
              <a:spcAft>
                <a:spcPts val="600"/>
              </a:spcAft>
            </a:pPr>
            <a:r>
              <a:rPr sz="1600" b="0" i="0">
                <a:solidFill>
                  <a:srgbClr val="6B7280"/>
                </a:solidFill>
                <a:latin typeface="Arial"/>
              </a:rPr>
              <a:t>Reader B is about 33 micrometres high on every single reading. Their own twelve readings agree with each other beautifully. Nothing inside B's data can reveal this — it only shows up when you compare with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One gauge at a time</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Specification KC-MB-12 §4.3: each gauge shall read within ±25 µε of zero under no load</a:t>
            </a:r>
          </a:p>
        </p:txBody>
      </p:sp>
      <p:graphicFrame>
        <p:nvGraphicFramePr>
          <p:cNvPr id="5" name="Table 4"/>
          <p:cNvGraphicFramePr>
            <a:graphicFrameLocks noGrp="1"/>
          </p:cNvGraphicFramePr>
          <p:nvPr/>
        </p:nvGraphicFramePr>
        <p:xfrm>
          <a:off x="1843887" y="1773936"/>
          <a:ext cx="8503920" cy="3621024"/>
        </p:xfrm>
        <a:graphic>
          <a:graphicData uri="http://schemas.openxmlformats.org/drawingml/2006/table">
            <a:tbl>
              <a:tblPr firstRow="1" bandRow="1">
                <a:tableStyleId>{5C22544A-7EE6-4342-B048-85BDC9FD1C3A}</a:tableStyleId>
              </a:tblPr>
              <a:tblGrid>
                <a:gridCol w="1554480"/>
                <a:gridCol w="2377440"/>
                <a:gridCol w="1828800"/>
                <a:gridCol w="2743200"/>
              </a:tblGrid>
              <a:tr h="402336">
                <a:tc>
                  <a:txBody>
                    <a:bodyPr wrap="square"/>
                    <a:lstStyle/>
                    <a:p>
                      <a:pPr algn="ctr"/>
                      <a:r>
                        <a:rPr sz="1500" b="1">
                          <a:solidFill>
                            <a:srgbClr val="FFFFFF"/>
                          </a:solidFill>
                          <a:latin typeface="Barlow Condensed"/>
                        </a:rPr>
                        <a:t>Gauge</a:t>
                      </a:r>
                    </a:p>
                  </a:txBody>
                  <a:tcPr marL="118872" marR="91440" marT="45720" marB="45720" anchor="ctr">
                    <a:solidFill>
                      <a:srgbClr val="1F3A5F"/>
                    </a:solidFill>
                  </a:tcPr>
                </a:tc>
                <a:tc>
                  <a:txBody>
                    <a:bodyPr wrap="square"/>
                    <a:lstStyle/>
                    <a:p>
                      <a:pPr algn="r"/>
                      <a:r>
                        <a:rPr sz="1500" b="1">
                          <a:solidFill>
                            <a:srgbClr val="FFFFFF"/>
                          </a:solidFill>
                          <a:latin typeface="Barlow Condensed"/>
                        </a:rPr>
                        <a:t>Mean (µε)</a:t>
                      </a:r>
                    </a:p>
                  </a:txBody>
                  <a:tcPr marL="118872" marR="91440" marT="45720" marB="45720" anchor="ctr">
                    <a:solidFill>
                      <a:srgbClr val="1F3A5F"/>
                    </a:solidFill>
                  </a:tcPr>
                </a:tc>
                <a:tc>
                  <a:txBody>
                    <a:bodyPr wrap="square"/>
                    <a:lstStyle/>
                    <a:p>
                      <a:pPr algn="ctr"/>
                      <a:r>
                        <a:rPr sz="1500" b="1">
                          <a:solidFill>
                            <a:srgbClr val="FFFFFF"/>
                          </a:solidFill>
                          <a:latin typeface="Barlow Condensed"/>
                        </a:rPr>
                        <a:t>Spread</a:t>
                      </a:r>
                    </a:p>
                  </a:txBody>
                  <a:tcPr marL="118872" marR="91440" marT="45720" marB="45720" anchor="ctr">
                    <a:solidFill>
                      <a:srgbClr val="1F3A5F"/>
                    </a:solidFill>
                  </a:tcPr>
                </a:tc>
                <a:tc>
                  <a:txBody>
                    <a:bodyPr wrap="square"/>
                    <a:lstStyle/>
                    <a:p>
                      <a:pPr algn="ctr"/>
                      <a:r>
                        <a:rPr sz="1500" b="1">
                          <a:solidFill>
                            <a:srgbClr val="FFFFFF"/>
                          </a:solidFill>
                          <a:latin typeface="Barlow Condensed"/>
                        </a:rPr>
                        <a:t>Within ±25 µε?</a:t>
                      </a:r>
                    </a:p>
                  </a:txBody>
                  <a:tcPr marL="118872" marR="91440" marT="45720" marB="45720" anchor="ctr">
                    <a:solidFill>
                      <a:srgbClr val="1F3A5F"/>
                    </a:solidFill>
                  </a:tcPr>
                </a:tc>
              </a:tr>
              <a:tr h="402336">
                <a:tc>
                  <a:txBody>
                    <a:bodyPr wrap="square"/>
                    <a:lstStyle/>
                    <a:p>
                      <a:pPr algn="ctr"/>
                      <a:r>
                        <a:rPr sz="1500" b="0">
                          <a:solidFill>
                            <a:srgbClr val="2B2F36"/>
                          </a:solidFill>
                          <a:latin typeface="Arial"/>
                        </a:rPr>
                        <a:t>G1</a:t>
                      </a:r>
                    </a:p>
                  </a:txBody>
                  <a:tcPr marL="118872" marR="91440" marT="45720" marB="45720" anchor="ctr">
                    <a:solidFill>
                      <a:srgbClr val="FFFFFF"/>
                    </a:solidFill>
                  </a:tcPr>
                </a:tc>
                <a:tc>
                  <a:txBody>
                    <a:bodyPr wrap="square"/>
                    <a:lstStyle/>
                    <a:p>
                      <a:pPr algn="r"/>
                      <a:r>
                        <a:rPr sz="1500" b="0">
                          <a:solidFill>
                            <a:srgbClr val="2B2F36"/>
                          </a:solidFill>
                          <a:latin typeface="Arial"/>
                        </a:rPr>
                        <a:t>0.08</a:t>
                      </a:r>
                    </a:p>
                  </a:txBody>
                  <a:tcPr marL="118872" marR="91440" marT="45720" marB="45720" anchor="ctr">
                    <a:solidFill>
                      <a:srgbClr val="FFFFFF"/>
                    </a:solidFill>
                  </a:tcPr>
                </a:tc>
                <a:tc>
                  <a:txBody>
                    <a:bodyPr wrap="square"/>
                    <a:lstStyle/>
                    <a:p>
                      <a:pPr algn="ctr"/>
                      <a:r>
                        <a:rPr sz="1500" b="0">
                          <a:solidFill>
                            <a:srgbClr val="2B2F36"/>
                          </a:solidFill>
                          <a:latin typeface="Arial"/>
                        </a:rPr>
                        <a:t>5</a:t>
                      </a:r>
                    </a:p>
                  </a:txBody>
                  <a:tcPr marL="118872" marR="91440" marT="45720" marB="45720" anchor="ctr">
                    <a:solidFill>
                      <a:srgbClr val="FFFFFF"/>
                    </a:solidFill>
                  </a:tcPr>
                </a:tc>
                <a:tc>
                  <a:txBody>
                    <a:bodyPr wrap="square"/>
                    <a:lstStyle/>
                    <a:p>
                      <a:pPr algn="ctr"/>
                      <a:r>
                        <a:rPr sz="1500" b="0">
                          <a:solidFill>
                            <a:srgbClr val="2B2F36"/>
                          </a:solidFill>
                          <a:latin typeface="Arial"/>
                        </a:rPr>
                        <a:t>yes</a:t>
                      </a:r>
                    </a:p>
                  </a:txBody>
                  <a:tcPr marL="118872" marR="91440" marT="45720" marB="45720" anchor="ctr">
                    <a:solidFill>
                      <a:srgbClr val="FFFFFF"/>
                    </a:solidFill>
                  </a:tcPr>
                </a:tc>
              </a:tr>
              <a:tr h="402336">
                <a:tc>
                  <a:txBody>
                    <a:bodyPr wrap="square"/>
                    <a:lstStyle/>
                    <a:p>
                      <a:pPr algn="ctr"/>
                      <a:r>
                        <a:rPr sz="1500" b="0">
                          <a:solidFill>
                            <a:srgbClr val="2B2F36"/>
                          </a:solidFill>
                          <a:latin typeface="Arial"/>
                        </a:rPr>
                        <a:t>G2</a:t>
                      </a:r>
                    </a:p>
                  </a:txBody>
                  <a:tcPr marL="118872" marR="91440" marT="45720" marB="45720" anchor="ctr">
                    <a:solidFill>
                      <a:srgbClr val="F4F6F8"/>
                    </a:solidFill>
                  </a:tcPr>
                </a:tc>
                <a:tc>
                  <a:txBody>
                    <a:bodyPr wrap="square"/>
                    <a:lstStyle/>
                    <a:p>
                      <a:pPr algn="r"/>
                      <a:r>
                        <a:rPr sz="1500" b="0">
                          <a:solidFill>
                            <a:srgbClr val="2B2F36"/>
                          </a:solidFill>
                          <a:latin typeface="Arial"/>
                        </a:rPr>
                        <a:t>-0.50</a:t>
                      </a:r>
                    </a:p>
                  </a:txBody>
                  <a:tcPr marL="118872" marR="91440" marT="45720" marB="45720" anchor="ctr">
                    <a:solidFill>
                      <a:srgbClr val="F4F6F8"/>
                    </a:solidFill>
                  </a:tcPr>
                </a:tc>
                <a:tc>
                  <a:txBody>
                    <a:bodyPr wrap="square"/>
                    <a:lstStyle/>
                    <a:p>
                      <a:pPr algn="ctr"/>
                      <a:r>
                        <a:rPr sz="1500" b="0">
                          <a:solidFill>
                            <a:srgbClr val="2B2F36"/>
                          </a:solidFill>
                          <a:latin typeface="Arial"/>
                        </a:rPr>
                        <a:t>8</a:t>
                      </a:r>
                    </a:p>
                  </a:txBody>
                  <a:tcPr marL="118872" marR="91440" marT="45720" marB="45720" anchor="ctr">
                    <a:solidFill>
                      <a:srgbClr val="F4F6F8"/>
                    </a:solidFill>
                  </a:tcPr>
                </a:tc>
                <a:tc>
                  <a:txBody>
                    <a:bodyPr wrap="square"/>
                    <a:lstStyle/>
                    <a:p>
                      <a:pPr algn="ctr"/>
                      <a:r>
                        <a:rPr sz="1500" b="0">
                          <a:solidFill>
                            <a:srgbClr val="2B2F36"/>
                          </a:solidFill>
                          <a:latin typeface="Arial"/>
                        </a:rPr>
                        <a:t>yes</a:t>
                      </a:r>
                    </a:p>
                  </a:txBody>
                  <a:tcPr marL="118872" marR="91440" marT="45720" marB="45720" anchor="ctr">
                    <a:solidFill>
                      <a:srgbClr val="F4F6F8"/>
                    </a:solidFill>
                  </a:tcPr>
                </a:tc>
              </a:tr>
              <a:tr h="402336">
                <a:tc>
                  <a:txBody>
                    <a:bodyPr wrap="square"/>
                    <a:lstStyle/>
                    <a:p>
                      <a:pPr algn="ctr"/>
                      <a:r>
                        <a:rPr sz="1500" b="0">
                          <a:solidFill>
                            <a:srgbClr val="2B2F36"/>
                          </a:solidFill>
                          <a:latin typeface="Arial"/>
                        </a:rPr>
                        <a:t>G3</a:t>
                      </a:r>
                    </a:p>
                  </a:txBody>
                  <a:tcPr marL="118872" marR="91440" marT="45720" marB="45720" anchor="ctr">
                    <a:solidFill>
                      <a:srgbClr val="FFFFFF"/>
                    </a:solidFill>
                  </a:tcPr>
                </a:tc>
                <a:tc>
                  <a:txBody>
                    <a:bodyPr wrap="square"/>
                    <a:lstStyle/>
                    <a:p>
                      <a:pPr algn="r"/>
                      <a:r>
                        <a:rPr sz="1500" b="0">
                          <a:solidFill>
                            <a:srgbClr val="2B2F36"/>
                          </a:solidFill>
                          <a:latin typeface="Arial"/>
                        </a:rPr>
                        <a:t>-0.75</a:t>
                      </a:r>
                    </a:p>
                  </a:txBody>
                  <a:tcPr marL="118872" marR="91440" marT="45720" marB="45720" anchor="ctr">
                    <a:solidFill>
                      <a:srgbClr val="FFFFFF"/>
                    </a:solidFill>
                  </a:tcPr>
                </a:tc>
                <a:tc>
                  <a:txBody>
                    <a:bodyPr wrap="square"/>
                    <a:lstStyle/>
                    <a:p>
                      <a:pPr algn="ctr"/>
                      <a:r>
                        <a:rPr sz="1500" b="0">
                          <a:solidFill>
                            <a:srgbClr val="2B2F36"/>
                          </a:solidFill>
                          <a:latin typeface="Arial"/>
                        </a:rPr>
                        <a:t>8</a:t>
                      </a:r>
                    </a:p>
                  </a:txBody>
                  <a:tcPr marL="118872" marR="91440" marT="45720" marB="45720" anchor="ctr">
                    <a:solidFill>
                      <a:srgbClr val="FFFFFF"/>
                    </a:solidFill>
                  </a:tcPr>
                </a:tc>
                <a:tc>
                  <a:txBody>
                    <a:bodyPr wrap="square"/>
                    <a:lstStyle/>
                    <a:p>
                      <a:pPr algn="ctr"/>
                      <a:r>
                        <a:rPr sz="1500" b="0">
                          <a:solidFill>
                            <a:srgbClr val="2B2F36"/>
                          </a:solidFill>
                          <a:latin typeface="Arial"/>
                        </a:rPr>
                        <a:t>yes</a:t>
                      </a:r>
                    </a:p>
                  </a:txBody>
                  <a:tcPr marL="118872" marR="91440" marT="45720" marB="45720" anchor="ctr">
                    <a:solidFill>
                      <a:srgbClr val="FFFFFF"/>
                    </a:solidFill>
                  </a:tcPr>
                </a:tc>
              </a:tr>
              <a:tr h="402336">
                <a:tc>
                  <a:txBody>
                    <a:bodyPr wrap="square"/>
                    <a:lstStyle/>
                    <a:p>
                      <a:pPr algn="ctr"/>
                      <a:r>
                        <a:rPr sz="1500" b="0">
                          <a:solidFill>
                            <a:srgbClr val="2B2F36"/>
                          </a:solidFill>
                          <a:latin typeface="Arial"/>
                        </a:rPr>
                        <a:t>G4</a:t>
                      </a:r>
                    </a:p>
                  </a:txBody>
                  <a:tcPr marL="118872" marR="91440" marT="45720" marB="45720" anchor="ctr">
                    <a:solidFill>
                      <a:srgbClr val="F4F6F8"/>
                    </a:solidFill>
                  </a:tcPr>
                </a:tc>
                <a:tc>
                  <a:txBody>
                    <a:bodyPr wrap="square"/>
                    <a:lstStyle/>
                    <a:p>
                      <a:pPr algn="r"/>
                      <a:r>
                        <a:rPr sz="1500" b="0">
                          <a:solidFill>
                            <a:srgbClr val="2B2F36"/>
                          </a:solidFill>
                          <a:latin typeface="Arial"/>
                        </a:rPr>
                        <a:t>-1.08</a:t>
                      </a:r>
                    </a:p>
                  </a:txBody>
                  <a:tcPr marL="118872" marR="91440" marT="45720" marB="45720" anchor="ctr">
                    <a:solidFill>
                      <a:srgbClr val="F4F6F8"/>
                    </a:solidFill>
                  </a:tcPr>
                </a:tc>
                <a:tc>
                  <a:txBody>
                    <a:bodyPr wrap="square"/>
                    <a:lstStyle/>
                    <a:p>
                      <a:pPr algn="ctr"/>
                      <a:r>
                        <a:rPr sz="1500" b="0">
                          <a:solidFill>
                            <a:srgbClr val="2B2F36"/>
                          </a:solidFill>
                          <a:latin typeface="Arial"/>
                        </a:rPr>
                        <a:t>7</a:t>
                      </a:r>
                    </a:p>
                  </a:txBody>
                  <a:tcPr marL="118872" marR="91440" marT="45720" marB="45720" anchor="ctr">
                    <a:solidFill>
                      <a:srgbClr val="F4F6F8"/>
                    </a:solidFill>
                  </a:tcPr>
                </a:tc>
                <a:tc>
                  <a:txBody>
                    <a:bodyPr wrap="square"/>
                    <a:lstStyle/>
                    <a:p>
                      <a:pPr algn="ctr"/>
                      <a:r>
                        <a:rPr sz="1500" b="0">
                          <a:solidFill>
                            <a:srgbClr val="2B2F36"/>
                          </a:solidFill>
                          <a:latin typeface="Arial"/>
                        </a:rPr>
                        <a:t>yes</a:t>
                      </a:r>
                    </a:p>
                  </a:txBody>
                  <a:tcPr marL="118872" marR="91440" marT="45720" marB="45720" anchor="ctr">
                    <a:solidFill>
                      <a:srgbClr val="F4F6F8"/>
                    </a:solidFill>
                  </a:tcPr>
                </a:tc>
              </a:tr>
              <a:tr h="402336">
                <a:tc>
                  <a:txBody>
                    <a:bodyPr wrap="square"/>
                    <a:lstStyle/>
                    <a:p>
                      <a:pPr algn="ctr"/>
                      <a:r>
                        <a:rPr sz="1500" b="0">
                          <a:solidFill>
                            <a:srgbClr val="2B2F36"/>
                          </a:solidFill>
                          <a:latin typeface="Arial"/>
                        </a:rPr>
                        <a:t>G5</a:t>
                      </a:r>
                    </a:p>
                  </a:txBody>
                  <a:tcPr marL="118872" marR="91440" marT="45720" marB="45720" anchor="ctr">
                    <a:solidFill>
                      <a:srgbClr val="FFFFFF"/>
                    </a:solidFill>
                  </a:tcPr>
                </a:tc>
                <a:tc>
                  <a:txBody>
                    <a:bodyPr wrap="square"/>
                    <a:lstStyle/>
                    <a:p>
                      <a:pPr algn="r"/>
                      <a:r>
                        <a:rPr sz="1500" b="0">
                          <a:solidFill>
                            <a:srgbClr val="2B2F36"/>
                          </a:solidFill>
                          <a:latin typeface="Arial"/>
                        </a:rPr>
                        <a:t>-0.25</a:t>
                      </a:r>
                    </a:p>
                  </a:txBody>
                  <a:tcPr marL="118872" marR="91440" marT="45720" marB="45720" anchor="ctr">
                    <a:solidFill>
                      <a:srgbClr val="FFFFFF"/>
                    </a:solidFill>
                  </a:tcPr>
                </a:tc>
                <a:tc>
                  <a:txBody>
                    <a:bodyPr wrap="square"/>
                    <a:lstStyle/>
                    <a:p>
                      <a:pPr algn="ctr"/>
                      <a:r>
                        <a:rPr sz="1500" b="0">
                          <a:solidFill>
                            <a:srgbClr val="2B2F36"/>
                          </a:solidFill>
                          <a:latin typeface="Arial"/>
                        </a:rPr>
                        <a:t>7</a:t>
                      </a:r>
                    </a:p>
                  </a:txBody>
                  <a:tcPr marL="118872" marR="91440" marT="45720" marB="45720" anchor="ctr">
                    <a:solidFill>
                      <a:srgbClr val="FFFFFF"/>
                    </a:solidFill>
                  </a:tcPr>
                </a:tc>
                <a:tc>
                  <a:txBody>
                    <a:bodyPr wrap="square"/>
                    <a:lstStyle/>
                    <a:p>
                      <a:pPr algn="ctr"/>
                      <a:r>
                        <a:rPr sz="1500" b="0">
                          <a:solidFill>
                            <a:srgbClr val="2B2F36"/>
                          </a:solidFill>
                          <a:latin typeface="Arial"/>
                        </a:rPr>
                        <a:t>yes</a:t>
                      </a:r>
                    </a:p>
                  </a:txBody>
                  <a:tcPr marL="118872" marR="91440" marT="45720" marB="45720" anchor="ctr">
                    <a:solidFill>
                      <a:srgbClr val="FFFFFF"/>
                    </a:solidFill>
                  </a:tcPr>
                </a:tc>
              </a:tr>
              <a:tr h="402336">
                <a:tc>
                  <a:txBody>
                    <a:bodyPr wrap="square"/>
                    <a:lstStyle/>
                    <a:p>
                      <a:pPr algn="ctr"/>
                      <a:r>
                        <a:rPr sz="1500" b="1">
                          <a:solidFill>
                            <a:srgbClr val="FFFFFF"/>
                          </a:solidFill>
                          <a:latin typeface="Arial"/>
                        </a:rPr>
                        <a:t>G6</a:t>
                      </a:r>
                    </a:p>
                  </a:txBody>
                  <a:tcPr marL="118872" marR="91440" marT="45720" marB="45720" anchor="ctr">
                    <a:solidFill>
                      <a:srgbClr val="C0263C"/>
                    </a:solidFill>
                  </a:tcPr>
                </a:tc>
                <a:tc>
                  <a:txBody>
                    <a:bodyPr wrap="square"/>
                    <a:lstStyle/>
                    <a:p>
                      <a:pPr algn="r"/>
                      <a:r>
                        <a:rPr sz="1500" b="1">
                          <a:solidFill>
                            <a:srgbClr val="FFFFFF"/>
                          </a:solidFill>
                          <a:latin typeface="Arial"/>
                        </a:rPr>
                        <a:t>187.50</a:t>
                      </a:r>
                    </a:p>
                  </a:txBody>
                  <a:tcPr marL="118872" marR="91440" marT="45720" marB="45720" anchor="ctr">
                    <a:solidFill>
                      <a:srgbClr val="C0263C"/>
                    </a:solidFill>
                  </a:tcPr>
                </a:tc>
                <a:tc>
                  <a:txBody>
                    <a:bodyPr wrap="square"/>
                    <a:lstStyle/>
                    <a:p>
                      <a:pPr algn="ctr"/>
                      <a:r>
                        <a:rPr sz="1500" b="1">
                          <a:solidFill>
                            <a:srgbClr val="FFFFFF"/>
                          </a:solidFill>
                          <a:latin typeface="Arial"/>
                        </a:rPr>
                        <a:t>8</a:t>
                      </a:r>
                    </a:p>
                  </a:txBody>
                  <a:tcPr marL="118872" marR="91440" marT="45720" marB="45720" anchor="ctr">
                    <a:solidFill>
                      <a:srgbClr val="C0263C"/>
                    </a:solidFill>
                  </a:tcPr>
                </a:tc>
                <a:tc>
                  <a:txBody>
                    <a:bodyPr wrap="square"/>
                    <a:lstStyle/>
                    <a:p>
                      <a:pPr algn="ctr"/>
                      <a:r>
                        <a:rPr sz="1500" b="1">
                          <a:solidFill>
                            <a:srgbClr val="FFFFFF"/>
                          </a:solidFill>
                          <a:latin typeface="Arial"/>
                        </a:rPr>
                        <a:t>NO</a:t>
                      </a:r>
                    </a:p>
                  </a:txBody>
                  <a:tcPr marL="118872" marR="91440" marT="45720" marB="45720" anchor="ctr">
                    <a:solidFill>
                      <a:srgbClr val="C0263C"/>
                    </a:solidFill>
                  </a:tcPr>
                </a:tc>
              </a:tr>
              <a:tr h="402336">
                <a:tc>
                  <a:txBody>
                    <a:bodyPr wrap="square"/>
                    <a:lstStyle/>
                    <a:p>
                      <a:pPr algn="ctr"/>
                      <a:r>
                        <a:rPr sz="1500" b="0">
                          <a:solidFill>
                            <a:srgbClr val="2B2F36"/>
                          </a:solidFill>
                          <a:latin typeface="Arial"/>
                        </a:rPr>
                        <a:t>G7</a:t>
                      </a:r>
                    </a:p>
                  </a:txBody>
                  <a:tcPr marL="118872" marR="91440" marT="45720" marB="45720" anchor="ctr">
                    <a:solidFill>
                      <a:srgbClr val="FFFFFF"/>
                    </a:solidFill>
                  </a:tcPr>
                </a:tc>
                <a:tc>
                  <a:txBody>
                    <a:bodyPr wrap="square"/>
                    <a:lstStyle/>
                    <a:p>
                      <a:pPr algn="r"/>
                      <a:r>
                        <a:rPr sz="1500" b="0">
                          <a:solidFill>
                            <a:srgbClr val="2B2F36"/>
                          </a:solidFill>
                          <a:latin typeface="Arial"/>
                        </a:rPr>
                        <a:t>-0.08</a:t>
                      </a:r>
                    </a:p>
                  </a:txBody>
                  <a:tcPr marL="118872" marR="91440" marT="45720" marB="45720" anchor="ctr">
                    <a:solidFill>
                      <a:srgbClr val="FFFFFF"/>
                    </a:solidFill>
                  </a:tcPr>
                </a:tc>
                <a:tc>
                  <a:txBody>
                    <a:bodyPr wrap="square"/>
                    <a:lstStyle/>
                    <a:p>
                      <a:pPr algn="ctr"/>
                      <a:r>
                        <a:rPr sz="1500" b="0">
                          <a:solidFill>
                            <a:srgbClr val="2B2F36"/>
                          </a:solidFill>
                          <a:latin typeface="Arial"/>
                        </a:rPr>
                        <a:t>12</a:t>
                      </a:r>
                    </a:p>
                  </a:txBody>
                  <a:tcPr marL="118872" marR="91440" marT="45720" marB="45720" anchor="ctr">
                    <a:solidFill>
                      <a:srgbClr val="FFFFFF"/>
                    </a:solidFill>
                  </a:tcPr>
                </a:tc>
                <a:tc>
                  <a:txBody>
                    <a:bodyPr wrap="square"/>
                    <a:lstStyle/>
                    <a:p>
                      <a:pPr algn="ctr"/>
                      <a:r>
                        <a:rPr sz="1500" b="0">
                          <a:solidFill>
                            <a:srgbClr val="2B2F36"/>
                          </a:solidFill>
                          <a:latin typeface="Arial"/>
                        </a:rPr>
                        <a:t>yes</a:t>
                      </a:r>
                    </a:p>
                  </a:txBody>
                  <a:tcPr marL="118872" marR="91440" marT="45720" marB="45720" anchor="ctr">
                    <a:solidFill>
                      <a:srgbClr val="FFFFFF"/>
                    </a:solidFill>
                  </a:tcPr>
                </a:tc>
              </a:tr>
              <a:tr h="402336">
                <a:tc>
                  <a:txBody>
                    <a:bodyPr wrap="square"/>
                    <a:lstStyle/>
                    <a:p>
                      <a:pPr algn="ctr"/>
                      <a:r>
                        <a:rPr sz="1500" b="0">
                          <a:solidFill>
                            <a:srgbClr val="2B2F36"/>
                          </a:solidFill>
                          <a:latin typeface="Arial"/>
                        </a:rPr>
                        <a:t>G8</a:t>
                      </a:r>
                    </a:p>
                  </a:txBody>
                  <a:tcPr marL="118872" marR="91440" marT="45720" marB="45720" anchor="ctr">
                    <a:solidFill>
                      <a:srgbClr val="F4F6F8"/>
                    </a:solidFill>
                  </a:tcPr>
                </a:tc>
                <a:tc>
                  <a:txBody>
                    <a:bodyPr wrap="square"/>
                    <a:lstStyle/>
                    <a:p>
                      <a:pPr algn="r"/>
                      <a:r>
                        <a:rPr sz="1500" b="0">
                          <a:solidFill>
                            <a:srgbClr val="2B2F36"/>
                          </a:solidFill>
                          <a:latin typeface="Arial"/>
                        </a:rPr>
                        <a:t>-0.42</a:t>
                      </a:r>
                    </a:p>
                  </a:txBody>
                  <a:tcPr marL="118872" marR="91440" marT="45720" marB="45720" anchor="ctr">
                    <a:solidFill>
                      <a:srgbClr val="F4F6F8"/>
                    </a:solidFill>
                  </a:tcPr>
                </a:tc>
                <a:tc>
                  <a:txBody>
                    <a:bodyPr wrap="square"/>
                    <a:lstStyle/>
                    <a:p>
                      <a:pPr algn="ctr"/>
                      <a:r>
                        <a:rPr sz="1500" b="0">
                          <a:solidFill>
                            <a:srgbClr val="2B2F36"/>
                          </a:solidFill>
                          <a:latin typeface="Arial"/>
                        </a:rPr>
                        <a:t>10</a:t>
                      </a:r>
                    </a:p>
                  </a:txBody>
                  <a:tcPr marL="118872" marR="91440" marT="45720" marB="45720" anchor="ctr">
                    <a:solidFill>
                      <a:srgbClr val="F4F6F8"/>
                    </a:solidFill>
                  </a:tcPr>
                </a:tc>
                <a:tc>
                  <a:txBody>
                    <a:bodyPr wrap="square"/>
                    <a:lstStyle/>
                    <a:p>
                      <a:pPr algn="ctr"/>
                      <a:r>
                        <a:rPr sz="1500" b="0">
                          <a:solidFill>
                            <a:srgbClr val="2B2F36"/>
                          </a:solidFill>
                          <a:latin typeface="Arial"/>
                        </a:rPr>
                        <a:t>yes</a:t>
                      </a:r>
                    </a:p>
                  </a:txBody>
                  <a:tcPr marL="118872" marR="91440" marT="45720" marB="45720" anchor="ctr">
                    <a:solidFill>
                      <a:srgbClr val="F4F6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G6</a:t>
            </a:r>
          </a:p>
        </p:txBody>
      </p:sp>
      <p:pic>
        <p:nvPicPr>
          <p:cNvPr id="4" name="Picture 3" descr="m02-gauges-full.png"/>
          <p:cNvPicPr>
            <a:picLocks noChangeAspect="1"/>
          </p:cNvPicPr>
          <p:nvPr/>
        </p:nvPicPr>
        <p:blipFill>
          <a:blip r:embed="rId2"/>
          <a:stretch>
            <a:fillRect/>
          </a:stretch>
        </p:blipFill>
        <p:spPr>
          <a:xfrm>
            <a:off x="2098695" y="1316736"/>
            <a:ext cx="7994304" cy="3931920"/>
          </a:xfrm>
          <a:prstGeom prst="rect">
            <a:avLst/>
          </a:prstGeom>
        </p:spPr>
      </p:pic>
      <p:sp>
        <p:nvSpPr>
          <p:cNvPr id="5" name="TextBox 4"/>
          <p:cNvSpPr txBox="1"/>
          <p:nvPr/>
        </p:nvSpPr>
        <p:spPr>
          <a:xfrm>
            <a:off x="658368" y="5431536"/>
            <a:ext cx="10881360" cy="640080"/>
          </a:xfrm>
          <a:prstGeom prst="rect">
            <a:avLst/>
          </a:prstGeom>
          <a:noFill/>
        </p:spPr>
        <p:txBody>
          <a:bodyPr wrap="square" anchor="t" lIns="0" rIns="0" tIns="0" bIns="0">
            <a:spAutoFit/>
          </a:bodyPr>
          <a:lstStyle/>
          <a:p>
            <a:pPr algn="l">
              <a:lnSpc>
                <a:spcPct val="118000"/>
              </a:lnSpc>
              <a:spcAft>
                <a:spcPts val="600"/>
              </a:spcAft>
            </a:pPr>
            <a:r>
              <a:rPr sz="1600" b="0" i="0">
                <a:solidFill>
                  <a:srgbClr val="6B7280"/>
                </a:solidFill>
                <a:latin typeface="Arial"/>
              </a:rPr>
              <a:t>Seven gauges sit within about one microstrain of zero. G6 reads 187.5 — seven times the limit. Its own twelve readings are as tight as everybody else's, so nothing inside G6 looks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So how did it pass?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FOREMAN's arithmetic is correct. Every digit of it.</a:t>
            </a:r>
          </a:p>
        </p:txBody>
      </p:sp>
      <p:sp>
        <p:nvSpPr>
          <p:cNvPr id="5" name="Rounded Rectangle 4"/>
          <p:cNvSpPr/>
          <p:nvPr/>
        </p:nvSpPr>
        <p:spPr>
          <a:xfrm>
            <a:off x="658368" y="2002536"/>
            <a:ext cx="10853928" cy="1572768"/>
          </a:xfrm>
          <a:prstGeom prst="roundRect">
            <a:avLst>
              <a:gd name="adj" fmla="val 6000"/>
            </a:avLst>
          </a:prstGeom>
          <a:solidFill>
            <a:srgbClr val="F4F6F8"/>
          </a:solidFill>
          <a:ln w="15875">
            <a:solidFill>
              <a:srgbClr val="E6E8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121408"/>
            <a:ext cx="10853928" cy="384048"/>
          </a:xfrm>
          <a:prstGeom prst="rect">
            <a:avLst/>
          </a:prstGeom>
          <a:noFill/>
        </p:spPr>
        <p:txBody>
          <a:bodyPr wrap="square" anchor="t" lIns="0" rIns="0" tIns="0" bIns="0">
            <a:spAutoFit/>
          </a:bodyPr>
          <a:lstStyle/>
          <a:p>
            <a:pPr algn="ctr">
              <a:lnSpc>
                <a:spcPct val="100000"/>
              </a:lnSpc>
              <a:spcAft>
                <a:spcPts val="600"/>
              </a:spcAft>
            </a:pPr>
            <a:r>
              <a:rPr sz="2200" b="1" i="0">
                <a:solidFill>
                  <a:srgbClr val="1F3A5F"/>
                </a:solidFill>
                <a:latin typeface="Courier New"/>
              </a:rPr>
              <a:t>G6 187.50   +   the other seven (−3.00)   =   184.50 µε</a:t>
            </a:r>
          </a:p>
        </p:txBody>
      </p:sp>
      <p:sp>
        <p:nvSpPr>
          <p:cNvPr id="7" name="TextBox 6"/>
          <p:cNvSpPr txBox="1"/>
          <p:nvPr/>
        </p:nvSpPr>
        <p:spPr>
          <a:xfrm>
            <a:off x="658368" y="2523744"/>
            <a:ext cx="10853928" cy="384048"/>
          </a:xfrm>
          <a:prstGeom prst="rect">
            <a:avLst/>
          </a:prstGeom>
          <a:noFill/>
        </p:spPr>
        <p:txBody>
          <a:bodyPr wrap="square" anchor="t" lIns="0" rIns="0" tIns="0" bIns="0">
            <a:spAutoFit/>
          </a:bodyPr>
          <a:lstStyle/>
          <a:p>
            <a:pPr algn="ctr">
              <a:lnSpc>
                <a:spcPct val="100000"/>
              </a:lnSpc>
              <a:spcAft>
                <a:spcPts val="600"/>
              </a:spcAft>
            </a:pPr>
            <a:r>
              <a:rPr sz="2600" b="1" i="0">
                <a:solidFill>
                  <a:srgbClr val="1F3A5F"/>
                </a:solidFill>
                <a:latin typeface="Courier New"/>
              </a:rPr>
              <a:t>184.50  ÷  8 gauges  =  23.06 µε</a:t>
            </a:r>
          </a:p>
        </p:txBody>
      </p:sp>
      <p:sp>
        <p:nvSpPr>
          <p:cNvPr id="8" name="TextBox 7"/>
          <p:cNvSpPr txBox="1"/>
          <p:nvPr/>
        </p:nvSpPr>
        <p:spPr>
          <a:xfrm>
            <a:off x="658368" y="2962656"/>
            <a:ext cx="10853928" cy="384048"/>
          </a:xfrm>
          <a:prstGeom prst="rect">
            <a:avLst/>
          </a:prstGeom>
          <a:noFill/>
        </p:spPr>
        <p:txBody>
          <a:bodyPr wrap="square" anchor="t" lIns="0" rIns="0" tIns="0" bIns="0">
            <a:spAutoFit/>
          </a:bodyPr>
          <a:lstStyle/>
          <a:p>
            <a:pPr algn="ctr">
              <a:lnSpc>
                <a:spcPct val="100000"/>
              </a:lnSpc>
              <a:spcAft>
                <a:spcPts val="600"/>
              </a:spcAft>
            </a:pPr>
            <a:r>
              <a:rPr sz="2200" b="1" i="0">
                <a:solidFill>
                  <a:srgbClr val="2E7D4F"/>
                </a:solidFill>
                <a:latin typeface="Courier New"/>
              </a:rPr>
              <a:t>23.06  &lt;  25       PASS</a:t>
            </a:r>
          </a:p>
        </p:txBody>
      </p:sp>
      <p:sp>
        <p:nvSpPr>
          <p:cNvPr id="9" name="TextBox 8"/>
          <p:cNvSpPr txBox="1"/>
          <p:nvPr/>
        </p:nvSpPr>
        <p:spPr>
          <a:xfrm>
            <a:off x="868680" y="3785616"/>
            <a:ext cx="10424160" cy="1188720"/>
          </a:xfrm>
          <a:prstGeom prst="rect">
            <a:avLst/>
          </a:prstGeom>
          <a:noFill/>
        </p:spPr>
        <p:txBody>
          <a:bodyPr wrap="square" anchor="t" lIns="0" rIns="0" tIns="0" bIns="0">
            <a:spAutoFit/>
          </a:bodyPr>
          <a:lstStyle/>
          <a:p>
            <a:pPr algn="l">
              <a:lnSpc>
                <a:spcPct val="130000"/>
              </a:lnSpc>
              <a:spcAft>
                <a:spcPts val="600"/>
              </a:spcAft>
            </a:pPr>
            <a:r>
              <a:rPr sz="1900" b="0" i="0">
                <a:solidFill>
                  <a:srgbClr val="2B2F36"/>
                </a:solidFill>
                <a:latin typeface="Arial"/>
              </a:rPr>
              <a:t>Averaging eight gauges divided one gauge's error by eight, and slid a failure of 162 µε under a limit it fails outright. </a:t>
            </a:r>
            <a:r>
              <a:rPr sz="1900" b="1" i="0">
                <a:solidFill>
                  <a:srgbClr val="C0263C"/>
                </a:solidFill>
                <a:latin typeface="Arial"/>
              </a:rPr>
              <a:t>The error is not in how FOREMAN computed. It is in what it chose to compute.</a:t>
            </a:r>
          </a:p>
        </p:txBody>
      </p:sp>
      <p:sp>
        <p:nvSpPr>
          <p:cNvPr id="10" name="Rounded Rectangle 9"/>
          <p:cNvSpPr/>
          <p:nvPr/>
        </p:nvSpPr>
        <p:spPr>
          <a:xfrm>
            <a:off x="658368" y="4974336"/>
            <a:ext cx="10853928" cy="1536192"/>
          </a:xfrm>
          <a:prstGeom prst="roundRect">
            <a:avLst>
              <a:gd name="adj" fmla="val 35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5193792"/>
            <a:ext cx="10305288"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2B2F36"/>
                </a:solidFill>
                <a:latin typeface="Barlow Condensed"/>
              </a:rPr>
              <a:t>AND THE SECOND ONE</a:t>
            </a:r>
          </a:p>
        </p:txBody>
      </p:sp>
      <p:sp>
        <p:nvSpPr>
          <p:cNvPr id="12" name="TextBox 11"/>
          <p:cNvSpPr txBox="1"/>
          <p:nvPr/>
        </p:nvSpPr>
        <p:spPr>
          <a:xfrm>
            <a:off x="932688" y="5632703"/>
            <a:ext cx="10305288" cy="621792"/>
          </a:xfrm>
          <a:prstGeom prst="rect">
            <a:avLst/>
          </a:prstGeom>
          <a:noFill/>
        </p:spPr>
        <p:txBody>
          <a:bodyPr wrap="square" anchor="t" lIns="0" rIns="0" tIns="0" bIns="0">
            <a:spAutoFit/>
          </a:bodyPr>
          <a:lstStyle/>
          <a:p>
            <a:pPr algn="l">
              <a:lnSpc>
                <a:spcPct val="118000"/>
              </a:lnSpc>
              <a:spcAft>
                <a:spcPts val="700"/>
              </a:spcAft>
            </a:pPr>
            <a:r>
              <a:rPr sz="1700" b="0" i="0">
                <a:solidFill>
                  <a:srgbClr val="2B2F36"/>
                </a:solidFill>
                <a:latin typeface="Arial"/>
              </a:rPr>
              <a:t>It reported 23.062500 µε — six decimal places, from an instrument whose installation record says it resolves 1 µε.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Somebody already knew</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Page 2 of the installation record, in the margin, in pen</a:t>
            </a:r>
          </a:p>
        </p:txBody>
      </p:sp>
      <p:sp>
        <p:nvSpPr>
          <p:cNvPr id="5" name="Rounded Rectangle 4"/>
          <p:cNvSpPr/>
          <p:nvPr/>
        </p:nvSpPr>
        <p:spPr>
          <a:xfrm>
            <a:off x="1463040" y="2139696"/>
            <a:ext cx="9235440" cy="1371600"/>
          </a:xfrm>
          <a:prstGeom prst="roundRect">
            <a:avLst>
              <a:gd name="adj" fmla="val 4000"/>
            </a:avLst>
          </a:prstGeom>
          <a:solidFill>
            <a:srgbClr val="FFF6E5"/>
          </a:solidFill>
          <a:ln w="15875">
            <a:solidFill>
              <a:srgbClr val="F2C2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432304"/>
            <a:ext cx="8503920" cy="822960"/>
          </a:xfrm>
          <a:prstGeom prst="rect">
            <a:avLst/>
          </a:prstGeom>
          <a:noFill/>
        </p:spPr>
        <p:txBody>
          <a:bodyPr wrap="square" anchor="t" lIns="0" rIns="0" tIns="0" bIns="0">
            <a:spAutoFit/>
          </a:bodyPr>
          <a:lstStyle/>
          <a:p>
            <a:pPr algn="l">
              <a:lnSpc>
                <a:spcPct val="115000"/>
              </a:lnSpc>
              <a:spcAft>
                <a:spcPts val="600"/>
              </a:spcAft>
            </a:pPr>
            <a:r>
              <a:rPr sz="2100" b="0" i="0">
                <a:solidFill>
                  <a:srgbClr val="1F3A5F"/>
                </a:solidFill>
                <a:latin typeface="Caveat"/>
              </a:rPr>
              <a:t>“Northline guy was in a hurry. I watched him re-glue G6 and didn't see him re-zero it. Said it was fine.”</a:t>
            </a:r>
          </a:p>
        </p:txBody>
      </p:sp>
      <p:sp>
        <p:nvSpPr>
          <p:cNvPr id="7" name="TextBox 6"/>
          <p:cNvSpPr txBox="1"/>
          <p:nvPr/>
        </p:nvSpPr>
        <p:spPr>
          <a:xfrm>
            <a:off x="1828800" y="3145536"/>
            <a:ext cx="8503920" cy="274320"/>
          </a:xfrm>
          <a:prstGeom prst="rect">
            <a:avLst/>
          </a:prstGeom>
          <a:noFill/>
        </p:spPr>
        <p:txBody>
          <a:bodyPr wrap="square" anchor="t" lIns="0" rIns="0" tIns="0" bIns="0">
            <a:spAutoFit/>
          </a:bodyPr>
          <a:lstStyle/>
          <a:p>
            <a:pPr algn="l">
              <a:lnSpc>
                <a:spcPct val="100000"/>
              </a:lnSpc>
              <a:spcAft>
                <a:spcPts val="600"/>
              </a:spcAft>
            </a:pPr>
            <a:r>
              <a:rPr sz="1400" b="0" i="1">
                <a:solidFill>
                  <a:srgbClr val="6B7280"/>
                </a:solidFill>
                <a:latin typeface="Arial"/>
              </a:rPr>
              <a:t>— W. Tanaka, EIT</a:t>
            </a:r>
          </a:p>
        </p:txBody>
      </p:sp>
      <p:sp>
        <p:nvSpPr>
          <p:cNvPr id="8" name="Oval 7"/>
          <p:cNvSpPr/>
          <p:nvPr/>
        </p:nvSpPr>
        <p:spPr>
          <a:xfrm>
            <a:off x="868680" y="3973068"/>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877056"/>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One hour </a:t>
            </a:r>
            <a:r>
              <a:rPr sz="1800" b="0" i="0">
                <a:solidFill>
                  <a:srgbClr val="2B2F36"/>
                </a:solidFill>
                <a:latin typeface="Arial"/>
              </a:rPr>
              <a:t>spent reading the installation record would have handed you the answer.</a:t>
            </a:r>
          </a:p>
        </p:txBody>
      </p:sp>
      <p:sp>
        <p:nvSpPr>
          <p:cNvPr id="10" name="Oval 9"/>
          <p:cNvSpPr/>
          <p:nvPr/>
        </p:nvSpPr>
        <p:spPr>
          <a:xfrm>
            <a:off x="868680" y="4686808"/>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4590796"/>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Two hours </a:t>
            </a:r>
            <a:r>
              <a:rPr sz="1800" b="0" i="0">
                <a:solidFill>
                  <a:srgbClr val="2B2F36"/>
                </a:solidFill>
                <a:latin typeface="Arial"/>
              </a:rPr>
              <a:t>spent recomputing the eight means would have found it the hard way, and taught you more.</a:t>
            </a:r>
          </a:p>
        </p:txBody>
      </p:sp>
      <p:sp>
        <p:nvSpPr>
          <p:cNvPr id="12" name="Oval 11"/>
          <p:cNvSpPr/>
          <p:nvPr/>
        </p:nvSpPr>
        <p:spPr>
          <a:xfrm>
            <a:off x="868680" y="5400548"/>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5304536"/>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Zero hours </a:t>
            </a:r>
            <a:r>
              <a:rPr sz="1800" b="0" i="0">
                <a:solidFill>
                  <a:srgbClr val="2B2F36"/>
                </a:solidFill>
                <a:latin typeface="Arial"/>
              </a:rPr>
              <a:t>carries G6 into the February study, into HW3, and into April.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2F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149840" cy="2560320"/>
          </a:xfrm>
          <a:prstGeom prst="rect">
            <a:avLst/>
          </a:prstGeom>
          <a:noFill/>
        </p:spPr>
        <p:txBody>
          <a:bodyPr wrap="square" anchor="ctr" lIns="0" rIns="0" tIns="0" bIns="0">
            <a:spAutoFit/>
          </a:bodyPr>
          <a:lstStyle/>
          <a:p>
            <a:pPr algn="l">
              <a:lnSpc>
                <a:spcPct val="106000"/>
              </a:lnSpc>
              <a:spcAft>
                <a:spcPts val="600"/>
              </a:spcAft>
            </a:pPr>
            <a:r>
              <a:rPr sz="4400" b="1" i="0">
                <a:solidFill>
                  <a:srgbClr val="F26B1D"/>
                </a:solidFill>
                <a:latin typeface="Barlow Condensed"/>
              </a:rPr>
              <a:t>This one comes back.</a:t>
            </a:r>
          </a:p>
        </p:txBody>
      </p:sp>
      <p:sp>
        <p:nvSpPr>
          <p:cNvPr id="4" name="TextBox 3"/>
          <p:cNvSpPr txBox="1"/>
          <p:nvPr/>
        </p:nvSpPr>
        <p:spPr>
          <a:xfrm>
            <a:off x="1005840" y="4800600"/>
            <a:ext cx="10149840" cy="457200"/>
          </a:xfrm>
          <a:prstGeom prst="rect">
            <a:avLst/>
          </a:prstGeom>
          <a:noFill/>
        </p:spPr>
        <p:txBody>
          <a:bodyPr wrap="square" anchor="t" lIns="0" rIns="0" tIns="0" bIns="0">
            <a:spAutoFit/>
          </a:bodyPr>
          <a:lstStyle/>
          <a:p>
            <a:pPr algn="l">
              <a:lnSpc>
                <a:spcPct val="100000"/>
              </a:lnSpc>
              <a:spcAft>
                <a:spcPts val="600"/>
              </a:spcAft>
            </a:pPr>
            <a:r>
              <a:rPr sz="1700" b="0" i="1">
                <a:solidFill>
                  <a:srgbClr val="6F8FAF"/>
                </a:solidFill>
                <a:latin typeface="Arial"/>
              </a:rPr>
              <a:t>In April a four-step workflow produces a number nobody can explain, and one of its inputs came from a February file with your name on it. Nobody will tell you which.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HW1, and your ten hours</a:t>
            </a:r>
          </a:p>
        </p:txBody>
      </p:sp>
      <p:sp>
        <p:nvSpPr>
          <p:cNvPr id="4" name="TextBox 3"/>
          <p:cNvSpPr txBox="1"/>
          <p:nvPr/>
        </p:nvSpPr>
        <p:spPr>
          <a:xfrm>
            <a:off x="658368" y="1207008"/>
            <a:ext cx="10881360" cy="457200"/>
          </a:xfrm>
          <a:prstGeom prst="rect">
            <a:avLst/>
          </a:prstGeom>
          <a:noFill/>
        </p:spPr>
        <p:txBody>
          <a:bodyPr wrap="square" anchor="t" lIns="0" rIns="0" tIns="0" bIns="0">
            <a:spAutoFit/>
          </a:bodyPr>
          <a:lstStyle/>
          <a:p>
            <a:pPr algn="l">
              <a:lnSpc>
                <a:spcPct val="115000"/>
              </a:lnSpc>
              <a:spcAft>
                <a:spcPts val="600"/>
              </a:spcAft>
            </a:pPr>
            <a:r>
              <a:rPr sz="1700" b="0" i="0">
                <a:solidFill>
                  <a:srgbClr val="6B7280"/>
                </a:solidFill>
                <a:latin typeface="Arial"/>
              </a:rPr>
              <a:t>Handout H2-04. Due Tuesday, one page.</a:t>
            </a:r>
          </a:p>
        </p:txBody>
      </p:sp>
      <p:graphicFrame>
        <p:nvGraphicFramePr>
          <p:cNvPr id="5" name="Table 4"/>
          <p:cNvGraphicFramePr>
            <a:graphicFrameLocks noGrp="1"/>
          </p:cNvGraphicFramePr>
          <p:nvPr/>
        </p:nvGraphicFramePr>
        <p:xfrm>
          <a:off x="838047" y="1911095"/>
          <a:ext cx="10515600" cy="2688336"/>
        </p:xfrm>
        <a:graphic>
          <a:graphicData uri="http://schemas.openxmlformats.org/drawingml/2006/table">
            <a:tbl>
              <a:tblPr firstRow="1" bandRow="1">
                <a:tableStyleId>{5C22544A-7EE6-4342-B048-85BDC9FD1C3A}</a:tableStyleId>
              </a:tblPr>
              <a:tblGrid>
                <a:gridCol w="4572000"/>
                <a:gridCol w="1005840"/>
                <a:gridCol w="4937760"/>
              </a:tblGrid>
              <a:tr h="384048">
                <a:tc>
                  <a:txBody>
                    <a:bodyPr/>
                    <a:lstStyle/>
                    <a:p>
                      <a:pPr algn="l"/>
                      <a:r>
                        <a:rPr sz="1500" b="1">
                          <a:solidFill>
                            <a:srgbClr val="FFFFFF"/>
                          </a:solidFill>
                          <a:latin typeface="Barlow Condensed"/>
                        </a:rPr>
                        <a:t>What you could do</a:t>
                      </a:r>
                    </a:p>
                  </a:txBody>
                  <a:tcPr marL="118872" marR="91440" anchor="ctr">
                    <a:solidFill>
                      <a:srgbClr val="1F3A5F"/>
                    </a:solidFill>
                  </a:tcPr>
                </a:tc>
                <a:tc>
                  <a:txBody>
                    <a:bodyPr/>
                    <a:lstStyle/>
                    <a:p>
                      <a:pPr algn="ctr"/>
                      <a:r>
                        <a:rPr sz="1500" b="1">
                          <a:solidFill>
                            <a:srgbClr val="FFFFFF"/>
                          </a:solidFill>
                          <a:latin typeface="Barlow Condensed"/>
                        </a:rPr>
                        <a:t>Hours</a:t>
                      </a:r>
                    </a:p>
                  </a:txBody>
                  <a:tcPr marL="118872" marR="91440" anchor="ctr">
                    <a:solidFill>
                      <a:srgbClr val="1F3A5F"/>
                    </a:solidFill>
                  </a:tcPr>
                </a:tc>
                <a:tc>
                  <a:txBody>
                    <a:bodyPr/>
                    <a:lstStyle/>
                    <a:p>
                      <a:pPr algn="l"/>
                      <a:r>
                        <a:rPr sz="1500" b="1">
                          <a:solidFill>
                            <a:srgbClr val="FFFFFF"/>
                          </a:solidFill>
                          <a:latin typeface="Barlow Condensed"/>
                        </a:rPr>
                        <a:t>What it buys</a:t>
                      </a:r>
                    </a:p>
                  </a:txBody>
                  <a:tcPr marL="118872" marR="91440" anchor="ctr">
                    <a:solidFill>
                      <a:srgbClr val="1F3A5F"/>
                    </a:solidFill>
                  </a:tcPr>
                </a:tc>
              </a:tr>
              <a:tr h="384048">
                <a:tc>
                  <a:txBody>
                    <a:bodyPr/>
                    <a:lstStyle/>
                    <a:p>
                      <a:pPr algn="l"/>
                      <a:r>
                        <a:rPr sz="1500" b="0">
                          <a:solidFill>
                            <a:srgbClr val="2B2F36"/>
                          </a:solidFill>
                          <a:latin typeface="Arial"/>
                        </a:rPr>
                        <a:t>Recompute all eight gauge means yourself</a:t>
                      </a:r>
                    </a:p>
                  </a:txBody>
                  <a:tcPr marL="118872" marR="91440" anchor="ctr">
                    <a:solidFill>
                      <a:srgbClr val="FFFFFF"/>
                    </a:solidFill>
                  </a:tcPr>
                </a:tc>
                <a:tc>
                  <a:txBody>
                    <a:bodyPr/>
                    <a:lstStyle/>
                    <a:p>
                      <a:pPr algn="ctr"/>
                      <a:r>
                        <a:rPr sz="1500" b="0">
                          <a:solidFill>
                            <a:srgbClr val="2B2F36"/>
                          </a:solidFill>
                          <a:latin typeface="Arial"/>
                        </a:rPr>
                        <a:t>2</a:t>
                      </a:r>
                    </a:p>
                  </a:txBody>
                  <a:tcPr marL="118872" marR="91440" anchor="ctr">
                    <a:solidFill>
                      <a:srgbClr val="FFFFFF"/>
                    </a:solidFill>
                  </a:tcPr>
                </a:tc>
                <a:tc>
                  <a:txBody>
                    <a:bodyPr/>
                    <a:lstStyle/>
                    <a:p>
                      <a:pPr algn="l"/>
                      <a:r>
                        <a:rPr sz="1500" b="0">
                          <a:solidFill>
                            <a:srgbClr val="2B2F36"/>
                          </a:solidFill>
                          <a:latin typeface="Arial"/>
                        </a:rPr>
                        <a:t>You know the numbers are real</a:t>
                      </a:r>
                    </a:p>
                  </a:txBody>
                  <a:tcPr marL="118872" marR="91440" anchor="ctr">
                    <a:solidFill>
                      <a:srgbClr val="FFFFFF"/>
                    </a:solidFill>
                  </a:tcPr>
                </a:tc>
              </a:tr>
              <a:tr h="384048">
                <a:tc>
                  <a:txBody>
                    <a:bodyPr/>
                    <a:lstStyle/>
                    <a:p>
                      <a:pPr algn="l"/>
                      <a:r>
                        <a:rPr sz="1500" b="0">
                          <a:solidFill>
                            <a:srgbClr val="2B2F36"/>
                          </a:solidFill>
                          <a:latin typeface="Arial"/>
                        </a:rPr>
                        <a:t>Spot-check one gauge</a:t>
                      </a:r>
                    </a:p>
                  </a:txBody>
                  <a:tcPr marL="118872" marR="91440" anchor="ctr">
                    <a:solidFill>
                      <a:srgbClr val="F4F6F8"/>
                    </a:solidFill>
                  </a:tcPr>
                </a:tc>
                <a:tc>
                  <a:txBody>
                    <a:bodyPr/>
                    <a:lstStyle/>
                    <a:p>
                      <a:pPr algn="ctr"/>
                      <a:r>
                        <a:rPr sz="1500" b="0">
                          <a:solidFill>
                            <a:srgbClr val="2B2F36"/>
                          </a:solidFill>
                          <a:latin typeface="Arial"/>
                        </a:rPr>
                        <a:t>1</a:t>
                      </a:r>
                    </a:p>
                  </a:txBody>
                  <a:tcPr marL="118872" marR="91440" anchor="ctr">
                    <a:solidFill>
                      <a:srgbClr val="F4F6F8"/>
                    </a:solidFill>
                  </a:tcPr>
                </a:tc>
                <a:tc>
                  <a:txBody>
                    <a:bodyPr/>
                    <a:lstStyle/>
                    <a:p>
                      <a:pPr algn="l"/>
                      <a:r>
                        <a:rPr sz="1500" b="0">
                          <a:solidFill>
                            <a:srgbClr val="2B2F36"/>
                          </a:solidFill>
                          <a:latin typeface="Arial"/>
                        </a:rPr>
                        <a:t>Your method works — not that the rest is right</a:t>
                      </a:r>
                    </a:p>
                  </a:txBody>
                  <a:tcPr marL="118872" marR="91440" anchor="ctr">
                    <a:solidFill>
                      <a:srgbClr val="F4F6F8"/>
                    </a:solidFill>
                  </a:tcPr>
                </a:tc>
              </a:tr>
              <a:tr h="384048">
                <a:tc>
                  <a:txBody>
                    <a:bodyPr/>
                    <a:lstStyle/>
                    <a:p>
                      <a:pPr algn="l"/>
                      <a:r>
                        <a:rPr sz="1500" b="0">
                          <a:solidFill>
                            <a:srgbClr val="2B2F36"/>
                          </a:solidFill>
                          <a:latin typeface="Arial"/>
                        </a:rPr>
                        <a:t>Read the installation record and field notes</a:t>
                      </a:r>
                    </a:p>
                  </a:txBody>
                  <a:tcPr marL="118872" marR="91440" anchor="ctr">
                    <a:solidFill>
                      <a:srgbClr val="FFFFFF"/>
                    </a:solidFill>
                  </a:tcPr>
                </a:tc>
                <a:tc>
                  <a:txBody>
                    <a:bodyPr/>
                    <a:lstStyle/>
                    <a:p>
                      <a:pPr algn="ctr"/>
                      <a:r>
                        <a:rPr sz="1500" b="0">
                          <a:solidFill>
                            <a:srgbClr val="2B2F36"/>
                          </a:solidFill>
                          <a:latin typeface="Arial"/>
                        </a:rPr>
                        <a:t>1</a:t>
                      </a:r>
                    </a:p>
                  </a:txBody>
                  <a:tcPr marL="118872" marR="91440" anchor="ctr">
                    <a:solidFill>
                      <a:srgbClr val="FFFFFF"/>
                    </a:solidFill>
                  </a:tcPr>
                </a:tc>
                <a:tc>
                  <a:txBody>
                    <a:bodyPr/>
                    <a:lstStyle/>
                    <a:p>
                      <a:pPr algn="l"/>
                      <a:r>
                        <a:rPr sz="1500" b="0">
                          <a:solidFill>
                            <a:srgbClr val="2B2F36"/>
                          </a:solidFill>
                          <a:latin typeface="Arial"/>
                        </a:rPr>
                        <a:t>Context FOREMAN did not have</a:t>
                      </a:r>
                    </a:p>
                  </a:txBody>
                  <a:tcPr marL="118872" marR="91440" anchor="ctr">
                    <a:solidFill>
                      <a:srgbClr val="FFFFFF"/>
                    </a:solidFill>
                  </a:tcPr>
                </a:tc>
              </a:tr>
              <a:tr h="384048">
                <a:tc>
                  <a:txBody>
                    <a:bodyPr/>
                    <a:lstStyle/>
                    <a:p>
                      <a:pPr algn="l"/>
                      <a:r>
                        <a:rPr sz="1500" b="0">
                          <a:solidFill>
                            <a:srgbClr val="2B2F36"/>
                          </a:solidFill>
                          <a:latin typeface="Arial"/>
                        </a:rPr>
                        <a:t>Call Northline about the install</a:t>
                      </a:r>
                    </a:p>
                  </a:txBody>
                  <a:tcPr marL="118872" marR="91440" anchor="ctr">
                    <a:solidFill>
                      <a:srgbClr val="F4F6F8"/>
                    </a:solidFill>
                  </a:tcPr>
                </a:tc>
                <a:tc>
                  <a:txBody>
                    <a:bodyPr/>
                    <a:lstStyle/>
                    <a:p>
                      <a:pPr algn="ctr"/>
                      <a:r>
                        <a:rPr sz="1500" b="0">
                          <a:solidFill>
                            <a:srgbClr val="2B2F36"/>
                          </a:solidFill>
                          <a:latin typeface="Arial"/>
                        </a:rPr>
                        <a:t>1</a:t>
                      </a:r>
                    </a:p>
                  </a:txBody>
                  <a:tcPr marL="118872" marR="91440" anchor="ctr">
                    <a:solidFill>
                      <a:srgbClr val="F4F6F8"/>
                    </a:solidFill>
                  </a:tcPr>
                </a:tc>
                <a:tc>
                  <a:txBody>
                    <a:bodyPr/>
                    <a:lstStyle/>
                    <a:p>
                      <a:pPr algn="l"/>
                      <a:r>
                        <a:rPr sz="1500" b="0">
                          <a:solidFill>
                            <a:srgbClr val="2B2F36"/>
                          </a:solidFill>
                          <a:latin typeface="Arial"/>
                        </a:rPr>
                        <a:t>An answer next meeting, not today</a:t>
                      </a:r>
                    </a:p>
                  </a:txBody>
                  <a:tcPr marL="118872" marR="91440" anchor="ctr">
                    <a:solidFill>
                      <a:srgbClr val="F4F6F8"/>
                    </a:solidFill>
                  </a:tcPr>
                </a:tc>
              </a:tr>
              <a:tr h="384048">
                <a:tc>
                  <a:txBody>
                    <a:bodyPr/>
                    <a:lstStyle/>
                    <a:p>
                      <a:pPr algn="l"/>
                      <a:r>
                        <a:rPr sz="1500" b="0">
                          <a:solidFill>
                            <a:srgbClr val="2B2F36"/>
                          </a:solidFill>
                          <a:latin typeface="Arial"/>
                        </a:rPr>
                        <a:t>Re-derive FOREMAN's array figure</a:t>
                      </a:r>
                    </a:p>
                  </a:txBody>
                  <a:tcPr marL="118872" marR="91440" anchor="ctr">
                    <a:solidFill>
                      <a:srgbClr val="FFFFFF"/>
                    </a:solidFill>
                  </a:tcPr>
                </a:tc>
                <a:tc>
                  <a:txBody>
                    <a:bodyPr/>
                    <a:lstStyle/>
                    <a:p>
                      <a:pPr algn="ctr"/>
                      <a:r>
                        <a:rPr sz="1500" b="0">
                          <a:solidFill>
                            <a:srgbClr val="2B2F36"/>
                          </a:solidFill>
                          <a:latin typeface="Arial"/>
                        </a:rPr>
                        <a:t>2</a:t>
                      </a:r>
                    </a:p>
                  </a:txBody>
                  <a:tcPr marL="118872" marR="91440" anchor="ctr">
                    <a:solidFill>
                      <a:srgbClr val="FFFFFF"/>
                    </a:solidFill>
                  </a:tcPr>
                </a:tc>
                <a:tc>
                  <a:txBody>
                    <a:bodyPr/>
                    <a:lstStyle/>
                    <a:p>
                      <a:pPr algn="l"/>
                      <a:r>
                        <a:rPr sz="1500" b="0">
                          <a:solidFill>
                            <a:srgbClr val="2B2F36"/>
                          </a:solidFill>
                          <a:latin typeface="Arial"/>
                        </a:rPr>
                        <a:t>You learn what it actually did</a:t>
                      </a:r>
                    </a:p>
                  </a:txBody>
                  <a:tcPr marL="118872" marR="91440" anchor="ctr">
                    <a:solidFill>
                      <a:srgbClr val="FFFFFF"/>
                    </a:solidFill>
                  </a:tcPr>
                </a:tc>
              </a:tr>
              <a:tr h="384048">
                <a:tc>
                  <a:txBody>
                    <a:bodyPr/>
                    <a:lstStyle/>
                    <a:p>
                      <a:pPr algn="l"/>
                      <a:r>
                        <a:rPr sz="1500" b="0">
                          <a:solidFill>
                            <a:srgbClr val="2B2F36"/>
                          </a:solidFill>
                          <a:latin typeface="Arial"/>
                        </a:rPr>
                        <a:t>Accept FOREMAN's result as delivered</a:t>
                      </a:r>
                    </a:p>
                  </a:txBody>
                  <a:tcPr marL="118872" marR="91440" anchor="ctr">
                    <a:solidFill>
                      <a:srgbClr val="F4F6F8"/>
                    </a:solidFill>
                  </a:tcPr>
                </a:tc>
                <a:tc>
                  <a:txBody>
                    <a:bodyPr/>
                    <a:lstStyle/>
                    <a:p>
                      <a:pPr algn="ctr"/>
                      <a:r>
                        <a:rPr sz="1500" b="0">
                          <a:solidFill>
                            <a:srgbClr val="2B2F36"/>
                          </a:solidFill>
                          <a:latin typeface="Arial"/>
                        </a:rPr>
                        <a:t>0</a:t>
                      </a:r>
                    </a:p>
                  </a:txBody>
                  <a:tcPr marL="118872" marR="91440" anchor="ctr">
                    <a:solidFill>
                      <a:srgbClr val="F4F6F8"/>
                    </a:solidFill>
                  </a:tcPr>
                </a:tc>
                <a:tc>
                  <a:txBody>
                    <a:bodyPr/>
                    <a:lstStyle/>
                    <a:p>
                      <a:pPr algn="l"/>
                      <a:r>
                        <a:rPr sz="1500" b="0">
                          <a:solidFill>
                            <a:srgbClr val="2B2F36"/>
                          </a:solidFill>
                          <a:latin typeface="Arial"/>
                        </a:rPr>
                        <a:t>Four hours saved, a number you cannot defend</a:t>
                      </a:r>
                    </a:p>
                  </a:txBody>
                  <a:tcPr marL="118872" marR="91440" anchor="ctr">
                    <a:solidFill>
                      <a:srgbClr val="F4F6F8"/>
                    </a:solidFill>
                  </a:tcPr>
                </a:tc>
              </a:tr>
            </a:tbl>
          </a:graphicData>
        </a:graphic>
      </p:graphicFrame>
      <p:sp>
        <p:nvSpPr>
          <p:cNvPr id="6" name="TextBox 5"/>
          <p:cNvSpPr txBox="1"/>
          <p:nvPr/>
        </p:nvSpPr>
        <p:spPr>
          <a:xfrm>
            <a:off x="658368" y="4919471"/>
            <a:ext cx="10881360" cy="731520"/>
          </a:xfrm>
          <a:prstGeom prst="rect">
            <a:avLst/>
          </a:prstGeom>
          <a:noFill/>
        </p:spPr>
        <p:txBody>
          <a:bodyPr wrap="square" anchor="t" lIns="0" rIns="0" tIns="0" bIns="0">
            <a:spAutoFit/>
          </a:bodyPr>
          <a:lstStyle/>
          <a:p>
            <a:pPr algn="l">
              <a:lnSpc>
                <a:spcPct val="120000"/>
              </a:lnSpc>
              <a:spcAft>
                <a:spcPts val="600"/>
              </a:spcAft>
            </a:pPr>
            <a:r>
              <a:rPr sz="1800" b="1" i="0">
                <a:solidFill>
                  <a:srgbClr val="2B2F36"/>
                </a:solidFill>
                <a:latin typeface="Arial"/>
              </a:rPr>
              <a:t>You have ten. You cannot do all of it — that is the assignment. </a:t>
            </a:r>
            <a:r>
              <a:rPr sz="1800" b="0" i="0">
                <a:solidFill>
                  <a:srgbClr val="2B2F36"/>
                </a:solidFill>
                <a:latin typeface="Arial"/>
              </a:rPr>
              <a:t>Write down what you chose not to check, on the decision log. You will want it in May.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10881360" cy="777240"/>
          </a:xfrm>
          <a:prstGeom prst="rect">
            <a:avLst/>
          </a:prstGeom>
          <a:noFill/>
        </p:spPr>
        <p:txBody>
          <a:bodyPr wrap="square" anchor="t" lIns="0" rIns="0" tIns="0" bIns="0">
            <a:spAutoFit/>
          </a:bodyPr>
          <a:lstStyle/>
          <a:p>
            <a:pPr algn="l">
              <a:lnSpc>
                <a:spcPct val="98000"/>
              </a:lnSpc>
              <a:spcAft>
                <a:spcPts val="600"/>
              </a:spcAft>
            </a:pPr>
            <a:r>
              <a:rPr sz="3800" b="1" i="0">
                <a:solidFill>
                  <a:srgbClr val="1F3A5F"/>
                </a:solidFill>
                <a:latin typeface="Barlow Condensed"/>
              </a:rPr>
              <a:t>Mask off — two minutes</a:t>
            </a:r>
          </a:p>
        </p:txBody>
      </p:sp>
      <p:sp>
        <p:nvSpPr>
          <p:cNvPr id="4" name="Oval 3"/>
          <p:cNvSpPr/>
          <p:nvPr/>
        </p:nvSpPr>
        <p:spPr>
          <a:xfrm>
            <a:off x="868680" y="1833372"/>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737360"/>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Hours are never points. </a:t>
            </a:r>
            <a:r>
              <a:rPr sz="1800" b="0" i="0">
                <a:solidFill>
                  <a:srgbClr val="2B2F36"/>
                </a:solidFill>
                <a:latin typeface="Arial"/>
              </a:rPr>
              <a:t>Running out of them costs you nothing. Spending them on the wrong thing costs you nothing.</a:t>
            </a:r>
          </a:p>
        </p:txBody>
      </p:sp>
      <p:sp>
        <p:nvSpPr>
          <p:cNvPr id="6" name="Oval 5"/>
          <p:cNvSpPr/>
          <p:nvPr/>
        </p:nvSpPr>
        <p:spPr>
          <a:xfrm>
            <a:off x="868680" y="2547112"/>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451100"/>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There was no trick. </a:t>
            </a:r>
            <a:r>
              <a:rPr sz="1800" b="0" i="0">
                <a:solidFill>
                  <a:srgbClr val="2B2F36"/>
                </a:solidFill>
                <a:latin typeface="Arial"/>
              </a:rPr>
              <a:t>The data was in the file, the warning was in the margin, and the arithmetic was correct. Nothing was hidden from you.</a:t>
            </a:r>
          </a:p>
        </p:txBody>
      </p:sp>
      <p:sp>
        <p:nvSpPr>
          <p:cNvPr id="8" name="Oval 7"/>
          <p:cNvSpPr/>
          <p:nvPr/>
        </p:nvSpPr>
        <p:spPr>
          <a:xfrm>
            <a:off x="868680" y="3260851"/>
            <a:ext cx="77724" cy="77724"/>
          </a:xfrm>
          <a:prstGeom prst="ellipse">
            <a:avLst/>
          </a:prstGeom>
          <a:solidFill>
            <a:srgbClr val="3A7D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164839"/>
            <a:ext cx="10186416" cy="274320"/>
          </a:xfrm>
          <a:prstGeom prst="rect">
            <a:avLst/>
          </a:prstGeom>
          <a:noFill/>
        </p:spPr>
        <p:txBody>
          <a:bodyPr wrap="square" anchor="t" lIns="0" rIns="0" tIns="0" bIns="0">
            <a:spAutoFit/>
          </a:bodyPr>
          <a:lstStyle/>
          <a:p>
            <a:pPr algn="l">
              <a:lnSpc>
                <a:spcPct val="112000"/>
              </a:lnSpc>
              <a:spcAft>
                <a:spcPts val="0"/>
              </a:spcAft>
            </a:pPr>
            <a:r>
              <a:rPr sz="1800" b="1" i="0">
                <a:solidFill>
                  <a:srgbClr val="2B2F36"/>
                </a:solidFill>
                <a:latin typeface="Arial"/>
              </a:rPr>
              <a:t>Nobody is expected to catch everything. </a:t>
            </a:r>
            <a:r>
              <a:rPr sz="1800" b="0" i="0">
                <a:solidFill>
                  <a:srgbClr val="2B2F36"/>
                </a:solidFill>
                <a:latin typeface="Arial"/>
              </a:rPr>
              <a:t>You are expected to know what you did not check, and to say so.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85800"/>
            <a:ext cx="10424160" cy="73152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Barlow Condensed"/>
              </a:rPr>
              <a:t>Before Tuesday</a:t>
            </a:r>
          </a:p>
        </p:txBody>
      </p:sp>
      <p:sp>
        <p:nvSpPr>
          <p:cNvPr id="4" name="TextBox 3"/>
          <p:cNvSpPr txBox="1"/>
          <p:nvPr/>
        </p:nvSpPr>
        <p:spPr>
          <a:xfrm>
            <a:off x="868680" y="173736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Do</a:t>
            </a:r>
          </a:p>
        </p:txBody>
      </p:sp>
      <p:sp>
        <p:nvSpPr>
          <p:cNvPr id="5" name="TextBox 4"/>
          <p:cNvSpPr txBox="1"/>
          <p:nvPr/>
        </p:nvSpPr>
        <p:spPr>
          <a:xfrm>
            <a:off x="3749039" y="170078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HW1, one page, due Tuesday. Start your decision log — week 1 line</a:t>
            </a:r>
          </a:p>
        </p:txBody>
      </p:sp>
      <p:sp>
        <p:nvSpPr>
          <p:cNvPr id="6" name="TextBox 5"/>
          <p:cNvSpPr txBox="1"/>
          <p:nvPr/>
        </p:nvSpPr>
        <p:spPr>
          <a:xfrm>
            <a:off x="868680" y="2606039"/>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Keep</a:t>
            </a:r>
          </a:p>
        </p:txBody>
      </p:sp>
      <p:sp>
        <p:nvSpPr>
          <p:cNvPr id="7" name="TextBox 6"/>
          <p:cNvSpPr txBox="1"/>
          <p:nvPr/>
        </p:nvSpPr>
        <p:spPr>
          <a:xfrm>
            <a:off x="3749039" y="2569463"/>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The decision log lives in your folder all semester. Two minutes a week</a:t>
            </a:r>
          </a:p>
        </p:txBody>
      </p:sp>
      <p:sp>
        <p:nvSpPr>
          <p:cNvPr id="8" name="TextBox 7"/>
          <p:cNvSpPr txBox="1"/>
          <p:nvPr/>
        </p:nvSpPr>
        <p:spPr>
          <a:xfrm>
            <a:off x="868680" y="3474720"/>
            <a:ext cx="2743200" cy="457200"/>
          </a:xfrm>
          <a:prstGeom prst="rect">
            <a:avLst/>
          </a:prstGeom>
          <a:noFill/>
        </p:spPr>
        <p:txBody>
          <a:bodyPr wrap="square" anchor="t" lIns="0" rIns="0" tIns="0" bIns="0">
            <a:spAutoFit/>
          </a:bodyPr>
          <a:lstStyle/>
          <a:p>
            <a:pPr algn="l">
              <a:lnSpc>
                <a:spcPct val="100000"/>
              </a:lnSpc>
              <a:spcAft>
                <a:spcPts val="600"/>
              </a:spcAft>
            </a:pPr>
            <a:r>
              <a:rPr sz="1900" b="1" i="0">
                <a:solidFill>
                  <a:srgbClr val="F26B1D"/>
                </a:solidFill>
                <a:latin typeface="Barlow Condensed"/>
              </a:rPr>
              <a:t>Tuesday</a:t>
            </a:r>
          </a:p>
        </p:txBody>
      </p:sp>
      <p:sp>
        <p:nvSpPr>
          <p:cNvPr id="9" name="TextBox 8"/>
          <p:cNvSpPr txBox="1"/>
          <p:nvPr/>
        </p:nvSpPr>
        <p:spPr>
          <a:xfrm>
            <a:off x="3749039" y="3438144"/>
            <a:ext cx="7589520" cy="822960"/>
          </a:xfrm>
          <a:prstGeom prst="rect">
            <a:avLst/>
          </a:prstGeom>
          <a:noFill/>
        </p:spPr>
        <p:txBody>
          <a:bodyPr wrap="square" anchor="t" lIns="0" rIns="0" tIns="0" bIns="0">
            <a:spAutoFit/>
          </a:bodyPr>
          <a:lstStyle/>
          <a:p>
            <a:pPr algn="l">
              <a:lnSpc>
                <a:spcPct val="115000"/>
              </a:lnSpc>
              <a:spcAft>
                <a:spcPts val="600"/>
              </a:spcAft>
            </a:pPr>
            <a:r>
              <a:rPr sz="1800" b="0" i="0">
                <a:solidFill>
                  <a:srgbClr val="FFFFFF"/>
                </a:solidFill>
                <a:latin typeface="Arial"/>
              </a:rPr>
              <a:t>FOREMAN summarizes the county specification, and we find out what happens when a language model looks something 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