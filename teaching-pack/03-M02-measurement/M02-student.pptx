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emphasize that measuring the same thing multiple times is not about finding a single “correct” answer but understanding how uncertainty shapes outcomes. Ask the room: What if your first reading was the only one you had? What would you conclude? Highlight that we’re not revealing the full picture of how averages can mislead yet—this is a puzzle to solve together.</a:t>
            </a:r>
          </a:p>
          <a:p/>
          <a:p>
            <a:r>
              <a:t>[FACILITATION]: Use the phrase “uncertainty is the story” to anchor their thinking early.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frame the decision as a test of whether human judgment can override a machine’s arithmetic. Ask: If the number is within the margin, does that mean we’re safe? Note that we’re not revealing yet whether the ±25 µε range includes the true value or how Diane’s human oversight might change the outcome.</a:t>
            </a:r>
          </a:p>
          <a:p/>
          <a:p>
            <a:r>
              <a:t>[FACILITATION]: Use the phrase “machine says yes, human says wait” to create tension.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stress that the goal is to let students experience firsthand how their own measurements vary. Ask: Why do your readings differ even when you’re measuring the same thing? Note that we’re not revealing yet how averaging might smooth this out or where the real problem lies.</a:t>
            </a:r>
          </a:p>
          <a:p/>
          <a:p>
            <a:r>
              <a:t>[FACILITATION]: Encourage students to write down their first three readings without discussing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define a measurement as a range of possible values, not a single number. Ask: If you measured something once, how confident would you be in that result? Note that we’re not revealing yet how uncertainty scales with repeated measurements or why multiple readings are necessary.</a:t>
            </a:r>
          </a:p>
          <a:p/>
          <a:p>
            <a:r>
              <a:t>[FACILITATION]: Use the phrase “a measurement is a story, not a number” to reframe their thinking.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explain that each reading is a snapshot, and the spread shows how much the true value might vary. Ask: If your five readings all cluster tightly, does that mean the true value is known? Note that we’re not revealing yet how resolution limits precision or how the true value might still be outside the range.</a:t>
            </a:r>
          </a:p>
          <a:p/>
          <a:p>
            <a:r>
              <a:t>[FACILITATION]: Have students sketch their own spread on paper before discussing.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contrast precision (tight clustering) with accuracy (closeness to the true value). Ask: Can your data be precise but not accurate? Note that we’re not revealing yet how systematic errors can hide in averages or how precision alone doesn’t guarantee correctness.</a:t>
            </a:r>
          </a:p>
          <a:p/>
          <a:p>
            <a:r>
              <a:t>[FACILITATION]: Use the phrase “precision is the mirror, accuracy is the target” to anchor the discussion.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explain that random errors average out, but systematic errors stay hidden. Ask: If you average ten readings, could you miss a flaw in the tool itself? Note that we’re not revealing yet how the invoice cost ties to undetected systematic errors or how Diane’s human check might catch them.</a:t>
            </a:r>
          </a:p>
          <a:p/>
          <a:p>
            <a:r>
              <a:t>[FACILITATION]: Use the phrase “averaging is a double-edged sword” to highlight the risk.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outline the lab steps: measure, pause, repeat, and calculate area with uncertainty. Ask: Why must you swap pins between readings? Note that we’re not revealing yet how the backup file connects to the gauges or how the lab’s design tests method accuracy.</a:t>
            </a:r>
          </a:p>
          <a:p/>
          <a:p>
            <a:r>
              <a:t>[FACILITATION]: Use the phrase “measure, pause, repeat” as a mantra for the lab.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explain that a 1% error in diameter leads to a 2% error in area. Ask: Why does the error double? Note that we’re not revealing yet how this connects to the gauges or how the backup example’s method might differ from the lab’s.</a:t>
            </a:r>
          </a:p>
          <a:p/>
          <a:p>
            <a:r>
              <a:t>[FACILITATION]: Use the phrase “error propagates like a chain” to visualize the math.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direct students to analyze the data but not jump to conclusions. Ask: Why are there eight gauges and twelve readings? Note that we’re not revealing yet how the install day’s conditions or the roadway closure relate to the data’s patterns.</a:t>
            </a:r>
          </a:p>
          <a:p/>
          <a:p>
            <a:r>
              <a:t>[FACILITATION]: Use the phrase “data is a map, not a destination” to guide their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ACMEJOB voice, contrast the machine’s speed with the class’s deliberate process. Ask: What if the machine’s answer is wrong? Note that we’re not revealing yet how the hunt will uncover the truth or how the class’s method might outperform the machine’s.</a:t>
            </a:r>
          </a:p>
          <a:p/>
          <a:p>
            <a:r>
              <a:t>[FACILITATION]: Use the phrase “hunt for the hidden” to frame the activity as a discovery 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mejob-mark-dark.png"/>
          <p:cNvPicPr>
            <a:picLocks noChangeAspect="1"/>
          </p:cNvPicPr>
          <p:nvPr/>
        </p:nvPicPr>
        <p:blipFill>
          <a:blip r:embed="rId2"/>
          <a:stretch>
            <a:fillRect/>
          </a:stretch>
        </p:blipFill>
        <p:spPr>
          <a:xfrm>
            <a:off x="868680" y="960120"/>
            <a:ext cx="1371600" cy="1371600"/>
          </a:xfrm>
          <a:prstGeom prst="rect">
            <a:avLst/>
          </a:prstGeom>
        </p:spPr>
      </p:pic>
      <p:sp>
        <p:nvSpPr>
          <p:cNvPr id="4" name="TextBox 3"/>
          <p:cNvSpPr txBox="1"/>
          <p:nvPr/>
        </p:nvSpPr>
        <p:spPr>
          <a:xfrm>
            <a:off x="868680" y="2606040"/>
            <a:ext cx="7863840" cy="384048"/>
          </a:xfrm>
          <a:prstGeom prst="rect">
            <a:avLst/>
          </a:prstGeom>
          <a:noFill/>
        </p:spPr>
        <p:txBody>
          <a:bodyPr wrap="square" anchor="t" lIns="0" rIns="0" tIns="0" bIns="0">
            <a:spAutoFit/>
          </a:bodyPr>
          <a:lstStyle/>
          <a:p>
            <a:pPr algn="l">
              <a:lnSpc>
                <a:spcPct val="100000"/>
              </a:lnSpc>
              <a:spcAft>
                <a:spcPts val="600"/>
              </a:spcAft>
            </a:pPr>
            <a:r>
              <a:rPr sz="1700" b="1" i="0">
                <a:solidFill>
                  <a:srgbClr val="F26B1D"/>
                </a:solidFill>
                <a:latin typeface="Barlow Condensed"/>
              </a:rPr>
              <a:t>MEETING 02  ·  UNIT 1: HIRED</a:t>
            </a:r>
          </a:p>
        </p:txBody>
      </p:sp>
      <p:sp>
        <p:nvSpPr>
          <p:cNvPr id="5" name="TextBox 4"/>
          <p:cNvSpPr txBox="1"/>
          <p:nvPr/>
        </p:nvSpPr>
        <p:spPr>
          <a:xfrm>
            <a:off x="868680" y="2971800"/>
            <a:ext cx="10424160" cy="1463040"/>
          </a:xfrm>
          <a:prstGeom prst="rect">
            <a:avLst/>
          </a:prstGeom>
          <a:noFill/>
        </p:spPr>
        <p:txBody>
          <a:bodyPr wrap="square" anchor="t" lIns="0" rIns="0" tIns="0" bIns="0">
            <a:spAutoFit/>
          </a:bodyPr>
          <a:lstStyle/>
          <a:p>
            <a:pPr algn="l">
              <a:lnSpc>
                <a:spcPct val="96000"/>
              </a:lnSpc>
              <a:spcAft>
                <a:spcPts val="600"/>
              </a:spcAft>
            </a:pPr>
            <a:r>
              <a:rPr sz="5800" b="1" i="0">
                <a:solidFill>
                  <a:srgbClr val="FFFFFF"/>
                </a:solidFill>
                <a:latin typeface="Barlow Condensed"/>
              </a:rPr>
              <a:t>Measure one thing,
five times</a:t>
            </a:r>
          </a:p>
        </p:txBody>
      </p:sp>
      <p:sp>
        <p:nvSpPr>
          <p:cNvPr id="6" name="TextBox 5"/>
          <p:cNvSpPr txBox="1"/>
          <p:nvPr/>
        </p:nvSpPr>
        <p:spPr>
          <a:xfrm>
            <a:off x="868680" y="4572000"/>
            <a:ext cx="9326880" cy="914400"/>
          </a:xfrm>
          <a:prstGeom prst="rect">
            <a:avLst/>
          </a:prstGeom>
          <a:noFill/>
        </p:spPr>
        <p:txBody>
          <a:bodyPr wrap="square" anchor="t" lIns="0" rIns="0" tIns="0" bIns="0">
            <a:spAutoFit/>
          </a:bodyPr>
          <a:lstStyle/>
          <a:p>
            <a:pPr algn="l">
              <a:lnSpc>
                <a:spcPct val="120000"/>
              </a:lnSpc>
              <a:spcAft>
                <a:spcPts val="600"/>
              </a:spcAft>
            </a:pPr>
            <a:r>
              <a:rPr sz="2200" b="0" i="0">
                <a:solidFill>
                  <a:srgbClr val="6F8FAF"/>
                </a:solidFill>
                <a:latin typeface="Arial"/>
              </a:rPr>
              <a:t>Why measurement is uncertain, and what averaging can and cannot fix</a:t>
            </a:r>
          </a:p>
        </p:txBody>
      </p:sp>
      <p:sp>
        <p:nvSpPr>
          <p:cNvPr id="7" name="TextBox 6"/>
          <p:cNvSpPr txBox="1"/>
          <p:nvPr/>
        </p:nvSpPr>
        <p:spPr>
          <a:xfrm>
            <a:off x="868680" y="5943600"/>
            <a:ext cx="9326880" cy="365760"/>
          </a:xfrm>
          <a:prstGeom prst="rect">
            <a:avLst/>
          </a:prstGeom>
          <a:noFill/>
        </p:spPr>
        <p:txBody>
          <a:bodyPr wrap="square" anchor="t" lIns="0" rIns="0" tIns="0" bIns="0">
            <a:spAutoFit/>
          </a:bodyPr>
          <a:lstStyle/>
          <a:p>
            <a:pPr algn="l">
              <a:lnSpc>
                <a:spcPct val="100000"/>
              </a:lnSpc>
              <a:spcAft>
                <a:spcPts val="600"/>
              </a:spcAft>
            </a:pPr>
            <a:r>
              <a:rPr sz="1400" b="0" i="0">
                <a:solidFill>
                  <a:srgbClr val="6B7280"/>
                </a:solidFill>
                <a:latin typeface="Barlow Condensed"/>
              </a:rPr>
              <a:t>Thursday, February 4, 2027  ·  SEIS 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FOREMAN cleared the gauge array at 06:02 this morning</a:t>
            </a:r>
          </a:p>
        </p:txBody>
      </p:sp>
      <p:sp>
        <p:nvSpPr>
          <p:cNvPr id="4" name="Rounded Rectangle 3"/>
          <p:cNvSpPr/>
          <p:nvPr/>
        </p:nvSpPr>
        <p:spPr>
          <a:xfrm>
            <a:off x="658368" y="1344168"/>
            <a:ext cx="10853928" cy="1874519"/>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6362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FOREMAN v4.2 — BASELINE ACCEPTANCE CHECK</a:t>
            </a:r>
          </a:p>
        </p:txBody>
      </p:sp>
      <p:sp>
        <p:nvSpPr>
          <p:cNvPr id="6" name="TextBox 5"/>
          <p:cNvSpPr txBox="1"/>
          <p:nvPr/>
        </p:nvSpPr>
        <p:spPr>
          <a:xfrm>
            <a:off x="932688" y="2002536"/>
            <a:ext cx="10305288" cy="960119"/>
          </a:xfrm>
          <a:prstGeom prst="rect">
            <a:avLst/>
          </a:prstGeom>
          <a:noFill/>
        </p:spPr>
        <p:txBody>
          <a:bodyPr wrap="square" anchor="t" lIns="0" rIns="0" tIns="0" bIns="0">
            <a:spAutoFit/>
          </a:bodyPr>
          <a:lstStyle/>
          <a:p>
            <a:pPr algn="l">
              <a:lnSpc>
                <a:spcPct val="118000"/>
              </a:lnSpc>
              <a:spcAft>
                <a:spcPts val="700"/>
              </a:spcAft>
            </a:pPr>
            <a:r>
              <a:rPr sz="1900" b="0" i="0">
                <a:solidFill>
                  <a:srgbClr val="2B2F36"/>
                </a:solidFill>
                <a:latin typeface="Arial"/>
              </a:rPr>
              <a:t>“PASS. Array baseline offset 23.062500 µε against a specification limit of ±25 µε. The array is within tolerance and cleared for service. Confidence 97%.”</a:t>
            </a:r>
          </a:p>
        </p:txBody>
      </p:sp>
      <p:sp>
        <p:nvSpPr>
          <p:cNvPr id="7" name="TextBox 6"/>
          <p:cNvSpPr txBox="1"/>
          <p:nvPr/>
        </p:nvSpPr>
        <p:spPr>
          <a:xfrm>
            <a:off x="658368" y="3447288"/>
            <a:ext cx="10881360" cy="1188720"/>
          </a:xfrm>
          <a:prstGeom prst="rect">
            <a:avLst/>
          </a:prstGeom>
          <a:noFill/>
        </p:spPr>
        <p:txBody>
          <a:bodyPr wrap="square" anchor="t" lIns="0" rIns="0" tIns="0" bIns="0">
            <a:spAutoFit/>
          </a:bodyPr>
          <a:lstStyle/>
          <a:p>
            <a:pPr algn="l">
              <a:lnSpc>
                <a:spcPct val="125000"/>
              </a:lnSpc>
              <a:spcAft>
                <a:spcPts val="600"/>
              </a:spcAft>
            </a:pPr>
            <a:r>
              <a:rPr sz="1900" b="0" i="0">
                <a:solidFill>
                  <a:srgbClr val="2B2F36"/>
                </a:solidFill>
                <a:latin typeface="Arial"/>
              </a:rPr>
              <a:t>Northline invoices us the moment we accept the array, and the February load response study runs off these eight gauges. </a:t>
            </a:r>
            <a:r>
              <a:rPr sz="1900" b="1" i="0">
                <a:solidFill>
                  <a:srgbClr val="1F3A5F"/>
                </a:solidFill>
                <a:latin typeface="Arial"/>
              </a:rPr>
              <a:t>Diane will not accept it until somebody has looked.</a:t>
            </a:r>
          </a:p>
        </p:txBody>
      </p:sp>
      <p:sp>
        <p:nvSpPr>
          <p:cNvPr id="8" name="Rounded Rectangle 7"/>
          <p:cNvSpPr/>
          <p:nvPr/>
        </p:nvSpPr>
        <p:spPr>
          <a:xfrm>
            <a:off x="658368" y="4453128"/>
            <a:ext cx="10853928" cy="132588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67258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THE QUESTION ON THE TABLE</a:t>
            </a:r>
          </a:p>
        </p:txBody>
      </p:sp>
      <p:sp>
        <p:nvSpPr>
          <p:cNvPr id="10" name="TextBox 9"/>
          <p:cNvSpPr txBox="1"/>
          <p:nvPr/>
        </p:nvSpPr>
        <p:spPr>
          <a:xfrm>
            <a:off x="932688" y="5111496"/>
            <a:ext cx="10305288" cy="411479"/>
          </a:xfrm>
          <a:prstGeom prst="rect">
            <a:avLst/>
          </a:prstGeom>
          <a:noFill/>
        </p:spPr>
        <p:txBody>
          <a:bodyPr wrap="square" anchor="t" lIns="0" rIns="0" tIns="0" bIns="0">
            <a:spAutoFit/>
          </a:bodyPr>
          <a:lstStyle/>
          <a:p>
            <a:pPr algn="l">
              <a:lnSpc>
                <a:spcPct val="118000"/>
              </a:lnSpc>
              <a:spcAft>
                <a:spcPts val="700"/>
              </a:spcAft>
            </a:pPr>
            <a:r>
              <a:rPr sz="2200" b="0" i="0">
                <a:solidFill>
                  <a:srgbClr val="2B2F36"/>
                </a:solidFill>
                <a:latin typeface="Arial"/>
              </a:rPr>
              <a:t>Do we accept the array?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49840" cy="2560320"/>
          </a:xfrm>
          <a:prstGeom prst="rect">
            <a:avLst/>
          </a:prstGeom>
          <a:noFill/>
        </p:spPr>
        <p:txBody>
          <a:bodyPr wrap="square" anchor="ctr" lIns="0" rIns="0" tIns="0" bIns="0">
            <a:spAutoFit/>
          </a:bodyPr>
          <a:lstStyle/>
          <a:p>
            <a:pPr algn="l">
              <a:lnSpc>
                <a:spcPct val="106000"/>
              </a:lnSpc>
              <a:spcAft>
                <a:spcPts val="600"/>
              </a:spcAft>
            </a:pPr>
            <a:r>
              <a:rPr sz="4400" b="1" i="0">
                <a:solidFill>
                  <a:srgbClr val="FFFFFF"/>
                </a:solidFill>
                <a:latin typeface="Barlow Condensed"/>
              </a:rPr>
              <a:t>We are not going to open
that file for forty minutes.</a:t>
            </a:r>
          </a:p>
        </p:txBody>
      </p:sp>
      <p:sp>
        <p:nvSpPr>
          <p:cNvPr id="4" name="TextBox 3"/>
          <p:cNvSpPr txBox="1"/>
          <p:nvPr/>
        </p:nvSpPr>
        <p:spPr>
          <a:xfrm>
            <a:off x="1005840" y="4800600"/>
            <a:ext cx="10149840" cy="457200"/>
          </a:xfrm>
          <a:prstGeom prst="rect">
            <a:avLst/>
          </a:prstGeom>
          <a:noFill/>
        </p:spPr>
        <p:txBody>
          <a:bodyPr wrap="square" anchor="t" lIns="0" rIns="0" tIns="0" bIns="0">
            <a:spAutoFit/>
          </a:bodyPr>
          <a:lstStyle/>
          <a:p>
            <a:pPr algn="l">
              <a:lnSpc>
                <a:spcPct val="100000"/>
              </a:lnSpc>
              <a:spcAft>
                <a:spcPts val="600"/>
              </a:spcAft>
            </a:pPr>
            <a:r>
              <a:rPr sz="1700" b="0" i="1">
                <a:solidFill>
                  <a:srgbClr val="6F8FAF"/>
                </a:solidFill>
                <a:latin typeface="Arial"/>
              </a:rPr>
              <a:t>You cannot judge somebody else's measurements until you have watched your own disagree with each other.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828800" cy="914400"/>
          </a:xfrm>
          <a:prstGeom prst="rect">
            <a:avLst/>
          </a:prstGeom>
          <a:noFill/>
        </p:spPr>
        <p:txBody>
          <a:bodyPr wrap="square" anchor="t" lIns="0" rIns="0" tIns="0" bIns="0">
            <a:spAutoFit/>
          </a:bodyPr>
          <a:lstStyle/>
          <a:p>
            <a:pPr algn="l">
              <a:lnSpc>
                <a:spcPct val="90000"/>
              </a:lnSpc>
              <a:spcAft>
                <a:spcPts val="600"/>
              </a:spcAft>
            </a:pPr>
            <a:r>
              <a:rPr sz="9000" b="1" i="0">
                <a:solidFill>
                  <a:srgbClr val="F26B1D"/>
                </a:solidFill>
                <a:latin typeface="Barlow Condensed"/>
              </a:rPr>
              <a:t>1</a:t>
            </a:r>
          </a:p>
        </p:txBody>
      </p:sp>
      <p:sp>
        <p:nvSpPr>
          <p:cNvPr id="4" name="TextBox 3"/>
          <p:cNvSpPr txBox="1"/>
          <p:nvPr/>
        </p:nvSpPr>
        <p:spPr>
          <a:xfrm>
            <a:off x="914400" y="3291840"/>
            <a:ext cx="10058400" cy="1280160"/>
          </a:xfrm>
          <a:prstGeom prst="rect">
            <a:avLst/>
          </a:prstGeom>
          <a:noFill/>
        </p:spPr>
        <p:txBody>
          <a:bodyPr wrap="square" anchor="t" lIns="0" rIns="0" tIns="0" bIns="0">
            <a:spAutoFit/>
          </a:bodyPr>
          <a:lstStyle/>
          <a:p>
            <a:pPr algn="l">
              <a:lnSpc>
                <a:spcPct val="100000"/>
              </a:lnSpc>
              <a:spcAft>
                <a:spcPts val="600"/>
              </a:spcAft>
            </a:pPr>
            <a:r>
              <a:rPr sz="4600" b="1" i="0">
                <a:solidFill>
                  <a:srgbClr val="FFFFFF"/>
                </a:solidFill>
                <a:latin typeface="Barlow Condensed"/>
              </a:rPr>
              <a:t>What a measurement is</a:t>
            </a:r>
          </a:p>
        </p:txBody>
      </p:sp>
      <p:sp>
        <p:nvSpPr>
          <p:cNvPr id="5" name="TextBox 4"/>
          <p:cNvSpPr txBox="1"/>
          <p:nvPr/>
        </p:nvSpPr>
        <p:spPr>
          <a:xfrm>
            <a:off x="914400" y="4572000"/>
            <a:ext cx="9144000" cy="731520"/>
          </a:xfrm>
          <a:prstGeom prst="rect">
            <a:avLst/>
          </a:prstGeom>
          <a:noFill/>
        </p:spPr>
        <p:txBody>
          <a:bodyPr wrap="square" anchor="t" lIns="0" rIns="0" tIns="0" bIns="0">
            <a:spAutoFit/>
          </a:bodyPr>
          <a:lstStyle/>
          <a:p>
            <a:pPr algn="l">
              <a:lnSpc>
                <a:spcPct val="120000"/>
              </a:lnSpc>
              <a:spcAft>
                <a:spcPts val="600"/>
              </a:spcAft>
            </a:pPr>
            <a:r>
              <a:rPr sz="1900" b="0" i="0">
                <a:solidFill>
                  <a:srgbClr val="6F8FAF"/>
                </a:solidFill>
                <a:latin typeface="Arial"/>
              </a:rPr>
              <a:t>Nobody measures anything once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Measure the same thing five times and you get five answers</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This is not carelessness. It is what measurement is.</a:t>
            </a:r>
          </a:p>
        </p:txBody>
      </p:sp>
      <p:sp>
        <p:nvSpPr>
          <p:cNvPr id="5" name="Oval 4"/>
          <p:cNvSpPr/>
          <p:nvPr/>
        </p:nvSpPr>
        <p:spPr>
          <a:xfrm>
            <a:off x="868680" y="2144268"/>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204825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The reading  </a:t>
            </a:r>
            <a:r>
              <a:rPr sz="1900" b="0" i="0">
                <a:solidFill>
                  <a:srgbClr val="2B2F36"/>
                </a:solidFill>
                <a:latin typeface="Arial"/>
              </a:rPr>
              <a:t>one number off the instrument. On its own it tells you almost nothing.</a:t>
            </a:r>
          </a:p>
        </p:txBody>
      </p:sp>
      <p:sp>
        <p:nvSpPr>
          <p:cNvPr id="7" name="Oval 6"/>
          <p:cNvSpPr/>
          <p:nvPr/>
        </p:nvSpPr>
        <p:spPr>
          <a:xfrm>
            <a:off x="868680" y="2858007"/>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276199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The spread  </a:t>
            </a:r>
            <a:r>
              <a:rPr sz="1900" b="0" i="0">
                <a:solidFill>
                  <a:srgbClr val="2B2F36"/>
                </a:solidFill>
                <a:latin typeface="Arial"/>
              </a:rPr>
              <a:t>how far apart your repeated readings are. This is the honest width of what you know.</a:t>
            </a:r>
          </a:p>
        </p:txBody>
      </p:sp>
      <p:sp>
        <p:nvSpPr>
          <p:cNvPr id="9" name="Oval 8"/>
          <p:cNvSpPr/>
          <p:nvPr/>
        </p:nvSpPr>
        <p:spPr>
          <a:xfrm>
            <a:off x="868680" y="3571747"/>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47573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The resolution  </a:t>
            </a:r>
            <a:r>
              <a:rPr sz="1900" b="0" i="0">
                <a:solidFill>
                  <a:srgbClr val="2B2F36"/>
                </a:solidFill>
                <a:latin typeface="Arial"/>
              </a:rPr>
              <a:t>the smallest division the instrument can actually show. You cannot know anything finer than this, no matter how many readings you take.</a:t>
            </a:r>
          </a:p>
        </p:txBody>
      </p:sp>
      <p:sp>
        <p:nvSpPr>
          <p:cNvPr id="11" name="Oval 10"/>
          <p:cNvSpPr/>
          <p:nvPr/>
        </p:nvSpPr>
        <p:spPr>
          <a:xfrm>
            <a:off x="868680" y="4559808"/>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446379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The true value  </a:t>
            </a:r>
            <a:r>
              <a:rPr sz="1900" b="0" i="0">
                <a:solidFill>
                  <a:srgbClr val="2B2F36"/>
                </a:solidFill>
                <a:latin typeface="Arial"/>
              </a:rPr>
              <a:t>what you are trying to find. You never see it. You only ever see readings.</a:t>
            </a:r>
          </a:p>
        </p:txBody>
      </p:sp>
      <p:sp>
        <p:nvSpPr>
          <p:cNvPr id="13" name="Rounded Rectangle 12"/>
          <p:cNvSpPr/>
          <p:nvPr/>
        </p:nvSpPr>
        <p:spPr>
          <a:xfrm>
            <a:off x="658368" y="5020056"/>
            <a:ext cx="10853928" cy="150876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239512"/>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WRITE THIS DOWN</a:t>
            </a:r>
          </a:p>
        </p:txBody>
      </p:sp>
      <p:sp>
        <p:nvSpPr>
          <p:cNvPr id="15" name="TextBox 14"/>
          <p:cNvSpPr txBox="1"/>
          <p:nvPr/>
        </p:nvSpPr>
        <p:spPr>
          <a:xfrm>
            <a:off x="932688" y="5678424"/>
            <a:ext cx="10305288" cy="594359"/>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A measurement is a range, not a number. Reporting it as a single number is a decision you made, and you should be able to say what you threw away.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Two ways to be wrong</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The crosshair is the true value. Each dot is one reading.</a:t>
            </a:r>
          </a:p>
        </p:txBody>
      </p:sp>
      <p:pic>
        <p:nvPicPr>
          <p:cNvPr id="5" name="Picture 4" descr="m02-accuracy-precision.png"/>
          <p:cNvPicPr>
            <a:picLocks noChangeAspect="1"/>
          </p:cNvPicPr>
          <p:nvPr/>
        </p:nvPicPr>
        <p:blipFill>
          <a:blip r:embed="rId2"/>
          <a:stretch>
            <a:fillRect/>
          </a:stretch>
        </p:blipFill>
        <p:spPr>
          <a:xfrm>
            <a:off x="792327" y="1883664"/>
            <a:ext cx="10607040" cy="3159770"/>
          </a:xfrm>
          <a:prstGeom prst="rect">
            <a:avLst/>
          </a:prstGeom>
        </p:spPr>
      </p:pic>
      <p:sp>
        <p:nvSpPr>
          <p:cNvPr id="6" name="TextBox 5"/>
          <p:cNvSpPr txBox="1"/>
          <p:nvPr/>
        </p:nvSpPr>
        <p:spPr>
          <a:xfrm>
            <a:off x="658368" y="5226314"/>
            <a:ext cx="10881360" cy="640080"/>
          </a:xfrm>
          <a:prstGeom prst="rect">
            <a:avLst/>
          </a:prstGeom>
          <a:noFill/>
        </p:spPr>
        <p:txBody>
          <a:bodyPr wrap="square" anchor="t" lIns="0" rIns="0" tIns="0" bIns="0">
            <a:spAutoFit/>
          </a:bodyPr>
          <a:lstStyle/>
          <a:p>
            <a:pPr algn="l">
              <a:lnSpc>
                <a:spcPct val="118000"/>
              </a:lnSpc>
              <a:spcAft>
                <a:spcPts val="600"/>
              </a:spcAft>
            </a:pPr>
            <a:r>
              <a:rPr sz="1600" b="0" i="0">
                <a:solidFill>
                  <a:srgbClr val="6B7280"/>
                </a:solidFill>
                <a:latin typeface="Arial"/>
              </a:rPr>
              <a:t>Precise means your readings agree with each other. Accurate means they agree with the truth. They are independent, and only one of them is visible from inside your own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This is the distinction that matters today</a:t>
            </a:r>
          </a:p>
        </p:txBody>
      </p:sp>
      <p:sp>
        <p:nvSpPr>
          <p:cNvPr id="4" name="Rounded Rectangle 3"/>
          <p:cNvSpPr/>
          <p:nvPr/>
        </p:nvSpPr>
        <p:spPr>
          <a:xfrm>
            <a:off x="658368" y="1389888"/>
            <a:ext cx="5394960" cy="32004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609344"/>
            <a:ext cx="484632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RANDOM ERROR</a:t>
            </a:r>
          </a:p>
        </p:txBody>
      </p:sp>
      <p:sp>
        <p:nvSpPr>
          <p:cNvPr id="6" name="TextBox 5"/>
          <p:cNvSpPr txBox="1"/>
          <p:nvPr/>
        </p:nvSpPr>
        <p:spPr>
          <a:xfrm>
            <a:off x="932688" y="2048256"/>
            <a:ext cx="4846320" cy="2286000"/>
          </a:xfrm>
          <a:prstGeom prst="rect">
            <a:avLst/>
          </a:prstGeom>
          <a:noFill/>
        </p:spPr>
        <p:txBody>
          <a:bodyPr wrap="square" anchor="t" lIns="0" rIns="0" tIns="0" bIns="0">
            <a:spAutoFit/>
          </a:bodyPr>
          <a:lstStyle/>
          <a:p>
            <a:pPr algn="l">
              <a:lnSpc>
                <a:spcPct val="118000"/>
              </a:lnSpc>
              <a:spcAft>
                <a:spcPts val="700"/>
              </a:spcAft>
            </a:pPr>
            <a:r>
              <a:rPr sz="1800" b="0" i="0">
                <a:solidFill>
                  <a:srgbClr val="2B2F36"/>
                </a:solidFill>
                <a:latin typeface="Arial"/>
              </a:rPr>
              <a:t>Pushes you up as often as down.</a:t>
            </a:r>
          </a:p>
          <a:p>
            <a:pPr algn="l">
              <a:lnSpc>
                <a:spcPct val="118000"/>
              </a:lnSpc>
              <a:spcAft>
                <a:spcPts val="700"/>
              </a:spcAft>
            </a:pPr>
            <a:r>
              <a:rPr sz="1800" b="0" i="0">
                <a:solidFill>
                  <a:srgbClr val="2B2F36"/>
                </a:solidFill>
                <a:latin typeface="Arial"/>
              </a:rPr>
              <a:t>Shows up as scatter in your own readings.</a:t>
            </a:r>
          </a:p>
          <a:p>
            <a:pPr algn="l">
              <a:lnSpc>
                <a:spcPct val="118000"/>
              </a:lnSpc>
              <a:spcAft>
                <a:spcPts val="700"/>
              </a:spcAft>
            </a:pPr>
            <a:r>
              <a:rPr sz="1800" b="0" i="0">
                <a:solidFill>
                  <a:srgbClr val="2B2F36"/>
                </a:solidFill>
                <a:latin typeface="Arial"/>
              </a:rPr>
              <a:t>More readings shrink it.</a:t>
            </a:r>
          </a:p>
          <a:p>
            <a:pPr algn="l">
              <a:lnSpc>
                <a:spcPct val="118000"/>
              </a:lnSpc>
              <a:spcAft>
                <a:spcPts val="700"/>
              </a:spcAft>
            </a:pPr>
            <a:r>
              <a:rPr sz="1800" b="0" i="0">
                <a:solidFill>
                  <a:srgbClr val="2B2F36"/>
                </a:solidFill>
                <a:latin typeface="Arial"/>
              </a:rPr>
              <a:t/>
            </a:r>
          </a:p>
          <a:p>
            <a:pPr algn="l">
              <a:lnSpc>
                <a:spcPct val="118000"/>
              </a:lnSpc>
              <a:spcAft>
                <a:spcPts val="700"/>
              </a:spcAft>
            </a:pPr>
            <a:r>
              <a:rPr sz="1800" b="0" i="0">
                <a:solidFill>
                  <a:srgbClr val="2B2F36"/>
                </a:solidFill>
                <a:latin typeface="Arial"/>
              </a:rPr>
              <a:t>Averaging works.</a:t>
            </a:r>
          </a:p>
        </p:txBody>
      </p:sp>
      <p:sp>
        <p:nvSpPr>
          <p:cNvPr id="7" name="Rounded Rectangle 6"/>
          <p:cNvSpPr/>
          <p:nvPr/>
        </p:nvSpPr>
        <p:spPr>
          <a:xfrm>
            <a:off x="6144768" y="1389888"/>
            <a:ext cx="5367528" cy="3200400"/>
          </a:xfrm>
          <a:prstGeom prst="roundRect">
            <a:avLst>
              <a:gd name="adj" fmla="val 3500"/>
            </a:avLst>
          </a:prstGeom>
          <a:solidFill>
            <a:srgbClr val="FAEAEC"/>
          </a:solidFill>
          <a:ln w="15875">
            <a:solidFill>
              <a:srgbClr val="C026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19088" y="1609344"/>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C0263C"/>
                </a:solidFill>
                <a:latin typeface="Barlow Condensed"/>
              </a:rPr>
              <a:t>SYSTEMATIC ERROR</a:t>
            </a:r>
          </a:p>
        </p:txBody>
      </p:sp>
      <p:sp>
        <p:nvSpPr>
          <p:cNvPr id="9" name="TextBox 8"/>
          <p:cNvSpPr txBox="1"/>
          <p:nvPr/>
        </p:nvSpPr>
        <p:spPr>
          <a:xfrm>
            <a:off x="6419088" y="2048256"/>
            <a:ext cx="4818888" cy="2286000"/>
          </a:xfrm>
          <a:prstGeom prst="rect">
            <a:avLst/>
          </a:prstGeom>
          <a:noFill/>
        </p:spPr>
        <p:txBody>
          <a:bodyPr wrap="square" anchor="t" lIns="0" rIns="0" tIns="0" bIns="0">
            <a:spAutoFit/>
          </a:bodyPr>
          <a:lstStyle/>
          <a:p>
            <a:pPr algn="l">
              <a:lnSpc>
                <a:spcPct val="118000"/>
              </a:lnSpc>
              <a:spcAft>
                <a:spcPts val="700"/>
              </a:spcAft>
            </a:pPr>
            <a:r>
              <a:rPr sz="1800" b="0" i="0">
                <a:solidFill>
                  <a:srgbClr val="2B2F36"/>
                </a:solidFill>
                <a:latin typeface="Arial"/>
              </a:rPr>
              <a:t>Pushes the same way every time.</a:t>
            </a:r>
          </a:p>
          <a:p>
            <a:pPr algn="l">
              <a:lnSpc>
                <a:spcPct val="118000"/>
              </a:lnSpc>
              <a:spcAft>
                <a:spcPts val="700"/>
              </a:spcAft>
            </a:pPr>
            <a:r>
              <a:rPr sz="1800" b="0" i="0">
                <a:solidFill>
                  <a:srgbClr val="2B2F36"/>
                </a:solidFill>
                <a:latin typeface="Arial"/>
              </a:rPr>
              <a:t>Invisible inside your own readings — they agree beautifully.</a:t>
            </a:r>
          </a:p>
          <a:p>
            <a:pPr algn="l">
              <a:lnSpc>
                <a:spcPct val="118000"/>
              </a:lnSpc>
              <a:spcAft>
                <a:spcPts val="700"/>
              </a:spcAft>
            </a:pPr>
            <a:r>
              <a:rPr sz="1800" b="0" i="0">
                <a:solidFill>
                  <a:srgbClr val="2B2F36"/>
                </a:solidFill>
                <a:latin typeface="Arial"/>
              </a:rPr>
              <a:t>More readings do nothing.</a:t>
            </a:r>
          </a:p>
          <a:p>
            <a:pPr algn="l">
              <a:lnSpc>
                <a:spcPct val="118000"/>
              </a:lnSpc>
              <a:spcAft>
                <a:spcPts val="700"/>
              </a:spcAft>
            </a:pPr>
            <a:r>
              <a:rPr sz="1800" b="0" i="0">
                <a:solidFill>
                  <a:srgbClr val="2B2F36"/>
                </a:solidFill>
                <a:latin typeface="Arial"/>
              </a:rPr>
              <a:t/>
            </a:r>
          </a:p>
          <a:p>
            <a:pPr algn="l">
              <a:lnSpc>
                <a:spcPct val="118000"/>
              </a:lnSpc>
              <a:spcAft>
                <a:spcPts val="700"/>
              </a:spcAft>
            </a:pPr>
            <a:r>
              <a:rPr sz="1800" b="0" i="0">
                <a:solidFill>
                  <a:srgbClr val="2B2F36"/>
                </a:solidFill>
                <a:latin typeface="Arial"/>
              </a:rPr>
              <a:t>Averaging hides it.</a:t>
            </a:r>
          </a:p>
        </p:txBody>
      </p:sp>
      <p:sp>
        <p:nvSpPr>
          <p:cNvPr id="10" name="TextBox 9"/>
          <p:cNvSpPr txBox="1"/>
          <p:nvPr/>
        </p:nvSpPr>
        <p:spPr>
          <a:xfrm>
            <a:off x="658368" y="4818888"/>
            <a:ext cx="10881360" cy="548640"/>
          </a:xfrm>
          <a:prstGeom prst="rect">
            <a:avLst/>
          </a:prstGeom>
          <a:noFill/>
        </p:spPr>
        <p:txBody>
          <a:bodyPr wrap="square" anchor="t" lIns="0" rIns="0" tIns="0" bIns="0">
            <a:spAutoFit/>
          </a:bodyPr>
          <a:lstStyle/>
          <a:p>
            <a:pPr algn="l">
              <a:lnSpc>
                <a:spcPct val="100000"/>
              </a:lnSpc>
              <a:spcAft>
                <a:spcPts val="600"/>
              </a:spcAft>
            </a:pPr>
            <a:r>
              <a:rPr sz="1800" b="1" i="0">
                <a:solidFill>
                  <a:srgbClr val="C0263C"/>
                </a:solidFill>
                <a:latin typeface="Arial"/>
              </a:rPr>
              <a:t>Hold on to that last line. </a:t>
            </a:r>
            <a:r>
              <a:rPr sz="1800" b="0" i="0">
                <a:solidFill>
                  <a:srgbClr val="2B2F36"/>
                </a:solidFill>
                <a:latin typeface="Arial"/>
              </a:rPr>
              <a:t>In forty minutes it is going to cost somebody an invoice.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508760"/>
          </a:xfrm>
          <a:prstGeom prst="rect">
            <a:avLst/>
          </a:prstGeom>
          <a:solidFill>
            <a:srgbClr val="F2C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8595360" cy="457200"/>
          </a:xfrm>
          <a:prstGeom prst="rect">
            <a:avLst/>
          </a:prstGeom>
          <a:noFill/>
        </p:spPr>
        <p:txBody>
          <a:bodyPr wrap="square" anchor="t" lIns="0" rIns="0" tIns="0" bIns="0">
            <a:spAutoFit/>
          </a:bodyPr>
          <a:lstStyle/>
          <a:p>
            <a:pPr algn="l">
              <a:lnSpc>
                <a:spcPct val="100000"/>
              </a:lnSpc>
              <a:spcAft>
                <a:spcPts val="600"/>
              </a:spcAft>
            </a:pPr>
            <a:r>
              <a:rPr sz="1500" b="1" i="0">
                <a:solidFill>
                  <a:srgbClr val="2B2F36"/>
                </a:solidFill>
                <a:latin typeface="Barlow Condensed"/>
              </a:rPr>
              <a:t>IN CLASS — DO THIS NOW</a:t>
            </a:r>
          </a:p>
        </p:txBody>
      </p:sp>
      <p:sp>
        <p:nvSpPr>
          <p:cNvPr id="5" name="TextBox 4"/>
          <p:cNvSpPr txBox="1"/>
          <p:nvPr/>
        </p:nvSpPr>
        <p:spPr>
          <a:xfrm>
            <a:off x="658368" y="713232"/>
            <a:ext cx="8595360" cy="640080"/>
          </a:xfrm>
          <a:prstGeom prst="rect">
            <a:avLst/>
          </a:prstGeom>
          <a:noFill/>
        </p:spPr>
        <p:txBody>
          <a:bodyPr wrap="square" anchor="t" lIns="0" rIns="0" tIns="0" bIns="0">
            <a:spAutoFit/>
          </a:bodyPr>
          <a:lstStyle/>
          <a:p>
            <a:pPr algn="l">
              <a:lnSpc>
                <a:spcPct val="100000"/>
              </a:lnSpc>
              <a:spcAft>
                <a:spcPts val="600"/>
              </a:spcAft>
            </a:pPr>
            <a:r>
              <a:rPr sz="3400" b="1" i="0">
                <a:solidFill>
                  <a:srgbClr val="2B2F36"/>
                </a:solidFill>
                <a:latin typeface="Barlow Condensed"/>
              </a:rPr>
              <a:t>The measurement lab — handout H2-01</a:t>
            </a:r>
          </a:p>
        </p:txBody>
      </p:sp>
      <p:sp>
        <p:nvSpPr>
          <p:cNvPr id="6" name="Rounded Rectangle 5"/>
          <p:cNvSpPr/>
          <p:nvPr/>
        </p:nvSpPr>
        <p:spPr>
          <a:xfrm>
            <a:off x="9966960" y="384048"/>
            <a:ext cx="1572768" cy="749808"/>
          </a:xfrm>
          <a:prstGeom prst="roundRect">
            <a:avLst>
              <a:gd name="adj" fmla="val 12000"/>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0" y="475488"/>
            <a:ext cx="1572768" cy="566928"/>
          </a:xfrm>
          <a:prstGeom prst="rect">
            <a:avLst/>
          </a:prstGeom>
          <a:noFill/>
        </p:spPr>
        <p:txBody>
          <a:bodyPr wrap="square" anchor="t" lIns="0" rIns="0" tIns="0" bIns="0">
            <a:spAutoFit/>
          </a:bodyPr>
          <a:lstStyle/>
          <a:p>
            <a:pPr algn="ctr">
              <a:lnSpc>
                <a:spcPct val="100000"/>
              </a:lnSpc>
              <a:spcAft>
                <a:spcPts val="600"/>
              </a:spcAft>
            </a:pPr>
            <a:r>
              <a:rPr sz="2600" b="1" i="0">
                <a:solidFill>
                  <a:srgbClr val="F2C230"/>
                </a:solidFill>
                <a:latin typeface="Barlow Condensed"/>
              </a:rPr>
              <a:t>25 min</a:t>
            </a:r>
          </a:p>
        </p:txBody>
      </p:sp>
      <p:sp>
        <p:nvSpPr>
          <p:cNvPr id="8" name="Rounded Rectangle 7"/>
          <p:cNvSpPr/>
          <p:nvPr/>
        </p:nvSpPr>
        <p:spPr>
          <a:xfrm>
            <a:off x="685800" y="1965960"/>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29967"/>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1</a:t>
            </a:r>
          </a:p>
        </p:txBody>
      </p:sp>
      <p:sp>
        <p:nvSpPr>
          <p:cNvPr id="10" name="TextBox 9"/>
          <p:cNvSpPr txBox="1"/>
          <p:nvPr/>
        </p:nvSpPr>
        <p:spPr>
          <a:xfrm>
            <a:off x="1298448" y="1984248"/>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Part A. Measure the pin five times. Put the instrument down between readings. Record every value, including the one you think is wrong.</a:t>
            </a:r>
          </a:p>
        </p:txBody>
      </p:sp>
      <p:sp>
        <p:nvSpPr>
          <p:cNvPr id="11" name="Rounded Rectangle 10"/>
          <p:cNvSpPr/>
          <p:nvPr/>
        </p:nvSpPr>
        <p:spPr>
          <a:xfrm>
            <a:off x="685800" y="2715768"/>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9775"/>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2</a:t>
            </a:r>
          </a:p>
        </p:txBody>
      </p:sp>
      <p:sp>
        <p:nvSpPr>
          <p:cNvPr id="13" name="TextBox 12"/>
          <p:cNvSpPr txBox="1"/>
          <p:nvPr/>
        </p:nvSpPr>
        <p:spPr>
          <a:xfrm>
            <a:off x="1298448" y="2734056"/>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Part B. Swap pins with the pair next to you and measure theirs. Compare their mean with yours, and compare that gap with your own spread.</a:t>
            </a:r>
          </a:p>
        </p:txBody>
      </p:sp>
      <p:sp>
        <p:nvSpPr>
          <p:cNvPr id="14" name="Rounded Rectangle 13"/>
          <p:cNvSpPr/>
          <p:nvPr/>
        </p:nvSpPr>
        <p:spPr>
          <a:xfrm>
            <a:off x="685800" y="3465576"/>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29584"/>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3</a:t>
            </a:r>
          </a:p>
        </p:txBody>
      </p:sp>
      <p:sp>
        <p:nvSpPr>
          <p:cNvPr id="16" name="TextBox 15"/>
          <p:cNvSpPr txBox="1"/>
          <p:nvPr/>
        </p:nvSpPr>
        <p:spPr>
          <a:xfrm>
            <a:off x="1298448" y="3483864"/>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Part C. Turn your diameter into a cross-sectional area, and carry the uncertainty with it.</a:t>
            </a:r>
          </a:p>
        </p:txBody>
      </p:sp>
      <p:sp>
        <p:nvSpPr>
          <p:cNvPr id="17" name="TextBox 16"/>
          <p:cNvSpPr txBox="1"/>
          <p:nvPr/>
        </p:nvSpPr>
        <p:spPr>
          <a:xfrm>
            <a:off x="685800" y="5897880"/>
            <a:ext cx="10789920" cy="548640"/>
          </a:xfrm>
          <a:prstGeom prst="rect">
            <a:avLst/>
          </a:prstGeom>
          <a:noFill/>
        </p:spPr>
        <p:txBody>
          <a:bodyPr wrap="square" anchor="t" lIns="0" rIns="0" tIns="0" bIns="0">
            <a:spAutoFit/>
          </a:bodyPr>
          <a:lstStyle/>
          <a:p>
            <a:pPr algn="l">
              <a:lnSpc>
                <a:spcPct val="115000"/>
              </a:lnSpc>
              <a:spcAft>
                <a:spcPts val="600"/>
              </a:spcAft>
            </a:pPr>
            <a:r>
              <a:rPr sz="1500" b="0" i="1">
                <a:solidFill>
                  <a:srgbClr val="6B7280"/>
                </a:solidFill>
                <a:latin typeface="Arial"/>
              </a:rPr>
              <a:t>No calipers on your table? A ruler works, and works better for Part A. No instrument at all? Use pin_measurements_backup.csv — 24 readings, two people.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Part C — uncertainty does not stay where you left it</a:t>
            </a:r>
          </a:p>
        </p:txBody>
      </p:sp>
      <p:sp>
        <p:nvSpPr>
          <p:cNvPr id="4" name="Rounded Rectangle 3"/>
          <p:cNvSpPr/>
          <p:nvPr/>
        </p:nvSpPr>
        <p:spPr>
          <a:xfrm>
            <a:off x="658368" y="1389888"/>
            <a:ext cx="10853928" cy="1188720"/>
          </a:xfrm>
          <a:prstGeom prst="roundRect">
            <a:avLst>
              <a:gd name="adj" fmla="val 60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64208"/>
            <a:ext cx="10853928" cy="731520"/>
          </a:xfrm>
          <a:prstGeom prst="rect">
            <a:avLst/>
          </a:prstGeom>
          <a:noFill/>
        </p:spPr>
        <p:txBody>
          <a:bodyPr wrap="square" anchor="t" lIns="0" rIns="0" tIns="0" bIns="0">
            <a:spAutoFit/>
          </a:bodyPr>
          <a:lstStyle/>
          <a:p>
            <a:pPr algn="ctr">
              <a:lnSpc>
                <a:spcPct val="100000"/>
              </a:lnSpc>
              <a:spcAft>
                <a:spcPts val="600"/>
              </a:spcAft>
            </a:pPr>
            <a:r>
              <a:rPr sz="4000" b="1" i="0">
                <a:solidFill>
                  <a:srgbClr val="1F3A5F"/>
                </a:solidFill>
                <a:latin typeface="Courier New"/>
              </a:rPr>
              <a:t>A  =  π d² / 4</a:t>
            </a:r>
          </a:p>
        </p:txBody>
      </p:sp>
      <p:sp>
        <p:nvSpPr>
          <p:cNvPr id="6" name="TextBox 5"/>
          <p:cNvSpPr txBox="1"/>
          <p:nvPr/>
        </p:nvSpPr>
        <p:spPr>
          <a:xfrm>
            <a:off x="868680" y="2852928"/>
            <a:ext cx="10424160" cy="1371600"/>
          </a:xfrm>
          <a:prstGeom prst="rect">
            <a:avLst/>
          </a:prstGeom>
          <a:noFill/>
        </p:spPr>
        <p:txBody>
          <a:bodyPr wrap="square" anchor="t" lIns="0" rIns="0" tIns="0" bIns="0">
            <a:spAutoFit/>
          </a:bodyPr>
          <a:lstStyle/>
          <a:p>
            <a:pPr algn="l">
              <a:lnSpc>
                <a:spcPct val="130000"/>
              </a:lnSpc>
              <a:spcAft>
                <a:spcPts val="600"/>
              </a:spcAft>
            </a:pPr>
            <a:r>
              <a:rPr sz="1900" b="0" i="0">
                <a:solidFill>
                  <a:srgbClr val="2B2F36"/>
                </a:solidFill>
                <a:latin typeface="Arial"/>
              </a:rPr>
              <a:t>Because the diameter is squared, a 1% error in </a:t>
            </a:r>
            <a:r>
              <a:rPr sz="1900" b="1" i="0">
                <a:solidFill>
                  <a:srgbClr val="2B2F36"/>
                </a:solidFill>
                <a:latin typeface="Arial"/>
              </a:rPr>
              <a:t>d</a:t>
            </a:r>
            <a:r>
              <a:rPr sz="1900" b="0" i="0">
                <a:solidFill>
                  <a:srgbClr val="2B2F36"/>
                </a:solidFill>
                <a:latin typeface="Arial"/>
              </a:rPr>
              <a:t> becomes a 2% error in </a:t>
            </a:r>
            <a:r>
              <a:rPr sz="1900" b="1" i="0">
                <a:solidFill>
                  <a:srgbClr val="2B2F36"/>
                </a:solidFill>
                <a:latin typeface="Arial"/>
              </a:rPr>
              <a:t>A</a:t>
            </a:r>
            <a:r>
              <a:rPr sz="1900" b="0" i="0">
                <a:solidFill>
                  <a:srgbClr val="2B2F36"/>
                </a:solidFill>
                <a:latin typeface="Arial"/>
              </a:rPr>
              <a:t>. Nobody cares about the diameter. They care about the area of steel, because that is what carries the load — and that is the number your uncertainty has to survive into.</a:t>
            </a:r>
          </a:p>
        </p:txBody>
      </p:sp>
      <p:sp>
        <p:nvSpPr>
          <p:cNvPr id="7" name="Rounded Rectangle 6"/>
          <p:cNvSpPr/>
          <p:nvPr/>
        </p:nvSpPr>
        <p:spPr>
          <a:xfrm>
            <a:off x="658368" y="4087368"/>
            <a:ext cx="10853928" cy="150876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430682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WITH THE BACKUP DATA</a:t>
            </a:r>
          </a:p>
        </p:txBody>
      </p:sp>
      <p:sp>
        <p:nvSpPr>
          <p:cNvPr id="9" name="TextBox 8"/>
          <p:cNvSpPr txBox="1"/>
          <p:nvPr/>
        </p:nvSpPr>
        <p:spPr>
          <a:xfrm>
            <a:off x="932688" y="4745736"/>
            <a:ext cx="10305288" cy="594359"/>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Mean diameter 38.110 mm, spread 0.0257 mm — about 0.067% of d. Area comes out 1141 mm², ± 0.135% — twice the percentage you started with.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49840" cy="2560320"/>
          </a:xfrm>
          <a:prstGeom prst="rect">
            <a:avLst/>
          </a:prstGeom>
          <a:noFill/>
        </p:spPr>
        <p:txBody>
          <a:bodyPr wrap="square" anchor="ctr" lIns="0" rIns="0" tIns="0" bIns="0">
            <a:spAutoFit/>
          </a:bodyPr>
          <a:lstStyle/>
          <a:p>
            <a:pPr algn="l">
              <a:lnSpc>
                <a:spcPct val="106000"/>
              </a:lnSpc>
              <a:spcAft>
                <a:spcPts val="600"/>
              </a:spcAft>
            </a:pPr>
            <a:r>
              <a:rPr sz="4400" b="1" i="0">
                <a:solidFill>
                  <a:srgbClr val="FFFFFF"/>
                </a:solidFill>
                <a:latin typeface="Barlow Condensed"/>
              </a:rPr>
              <a:t>Now open the gauge file.</a:t>
            </a:r>
          </a:p>
        </p:txBody>
      </p:sp>
      <p:sp>
        <p:nvSpPr>
          <p:cNvPr id="4" name="TextBox 3"/>
          <p:cNvSpPr txBox="1"/>
          <p:nvPr/>
        </p:nvSpPr>
        <p:spPr>
          <a:xfrm>
            <a:off x="1005840" y="4800600"/>
            <a:ext cx="10149840" cy="457200"/>
          </a:xfrm>
          <a:prstGeom prst="rect">
            <a:avLst/>
          </a:prstGeom>
          <a:noFill/>
        </p:spPr>
        <p:txBody>
          <a:bodyPr wrap="square" anchor="t" lIns="0" rIns="0" tIns="0" bIns="0">
            <a:spAutoFit/>
          </a:bodyPr>
          <a:lstStyle/>
          <a:p>
            <a:pPr algn="l">
              <a:lnSpc>
                <a:spcPct val="100000"/>
              </a:lnSpc>
              <a:spcAft>
                <a:spcPts val="600"/>
              </a:spcAft>
            </a:pPr>
            <a:r>
              <a:rPr sz="1700" b="0" i="1">
                <a:solidFill>
                  <a:srgbClr val="6F8FAF"/>
                </a:solidFill>
                <a:latin typeface="Arial"/>
              </a:rPr>
              <a:t>gauges_install.csv — eight gauges, twelve readings each, taken on install day with the roadway closed.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828800" cy="914400"/>
          </a:xfrm>
          <a:prstGeom prst="rect">
            <a:avLst/>
          </a:prstGeom>
          <a:noFill/>
        </p:spPr>
        <p:txBody>
          <a:bodyPr wrap="square" anchor="t" lIns="0" rIns="0" tIns="0" bIns="0">
            <a:spAutoFit/>
          </a:bodyPr>
          <a:lstStyle/>
          <a:p>
            <a:pPr algn="l">
              <a:lnSpc>
                <a:spcPct val="90000"/>
              </a:lnSpc>
              <a:spcAft>
                <a:spcPts val="600"/>
              </a:spcAft>
            </a:pPr>
            <a:r>
              <a:rPr sz="9000" b="1" i="0">
                <a:solidFill>
                  <a:srgbClr val="F26B1D"/>
                </a:solidFill>
                <a:latin typeface="Barlow Condensed"/>
              </a:rPr>
              <a:t>2</a:t>
            </a:r>
          </a:p>
        </p:txBody>
      </p:sp>
      <p:sp>
        <p:nvSpPr>
          <p:cNvPr id="4" name="TextBox 3"/>
          <p:cNvSpPr txBox="1"/>
          <p:nvPr/>
        </p:nvSpPr>
        <p:spPr>
          <a:xfrm>
            <a:off x="914400" y="3291840"/>
            <a:ext cx="10058400" cy="1280160"/>
          </a:xfrm>
          <a:prstGeom prst="rect">
            <a:avLst/>
          </a:prstGeom>
          <a:noFill/>
        </p:spPr>
        <p:txBody>
          <a:bodyPr wrap="square" anchor="t" lIns="0" rIns="0" tIns="0" bIns="0">
            <a:spAutoFit/>
          </a:bodyPr>
          <a:lstStyle/>
          <a:p>
            <a:pPr algn="l">
              <a:lnSpc>
                <a:spcPct val="100000"/>
              </a:lnSpc>
              <a:spcAft>
                <a:spcPts val="600"/>
              </a:spcAft>
            </a:pPr>
            <a:r>
              <a:rPr sz="4600" b="1" i="0">
                <a:solidFill>
                  <a:srgbClr val="FFFFFF"/>
                </a:solidFill>
                <a:latin typeface="Barlow Condensed"/>
              </a:rPr>
              <a:t>Eight gauges</a:t>
            </a:r>
          </a:p>
        </p:txBody>
      </p:sp>
      <p:sp>
        <p:nvSpPr>
          <p:cNvPr id="5" name="TextBox 4"/>
          <p:cNvSpPr txBox="1"/>
          <p:nvPr/>
        </p:nvSpPr>
        <p:spPr>
          <a:xfrm>
            <a:off x="914400" y="4572000"/>
            <a:ext cx="9144000" cy="731520"/>
          </a:xfrm>
          <a:prstGeom prst="rect">
            <a:avLst/>
          </a:prstGeom>
          <a:noFill/>
        </p:spPr>
        <p:txBody>
          <a:bodyPr wrap="square" anchor="t" lIns="0" rIns="0" tIns="0" bIns="0">
            <a:spAutoFit/>
          </a:bodyPr>
          <a:lstStyle/>
          <a:p>
            <a:pPr algn="l">
              <a:lnSpc>
                <a:spcPct val="120000"/>
              </a:lnSpc>
              <a:spcAft>
                <a:spcPts val="600"/>
              </a:spcAft>
            </a:pPr>
            <a:r>
              <a:rPr sz="1900" b="0" i="0">
                <a:solidFill>
                  <a:srgbClr val="6F8FAF"/>
                </a:solidFill>
                <a:latin typeface="Arial"/>
              </a:rPr>
              <a:t>FOREMAN read all 96 numbers in 0.4 seconds. We are going to read them one gauge at a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