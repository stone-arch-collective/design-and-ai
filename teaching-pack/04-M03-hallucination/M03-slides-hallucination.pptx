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mejob-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606040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26B1D"/>
                </a:solidFill>
                <a:latin typeface="Barlow Condensed"/>
              </a:rPr>
              <a:t>MEETING 03  ·  UNIT 1: HIRED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Barlow Condensed"/>
              </a:rPr>
              <a:t>The section that
does not exist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6F8FAF"/>
                </a:solidFill>
                <a:latin typeface="Arial"/>
              </a:rPr>
              <a:t>How a language model generates an answer, and why that is not the same as looking one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Barlow Condensed"/>
              </a:rPr>
              <a:t>Tuesday, February 9, 2027  ·  SEIS 201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Wes put this in the draft interim report this morning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FOREMAN's summary of KC-MB-12, the county's own movable bridge inspection specification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11095"/>
            <a:ext cx="10853928" cy="18288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3055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FOREMAN v4.2 — SPECIFICATION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69463"/>
            <a:ext cx="103052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“KC-MB-12 sets inspection intervals, personnel requirements and instrumentation rules. The Otter Bend project is compliant with all applicable sections. No obstacles to the current workflow were identified.”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968496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Ten requirements, each with its section number so you can find the source. Eight of them look like this: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700016"/>
            <a:ext cx="10853928" cy="146304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91947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§ 2.1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5358384"/>
            <a:ext cx="103052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Routine inspection at least every 24 months.  —  Applies to Otter Bend? Yes, last routine September 2025.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Barlow Condensed"/>
              </a:rPr>
              <a:t>The county engineer wrote
that specification.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She is going to read our summary of it. Diane wants to know what she is sending.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How the answer got made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Before we check it, you need to know what produced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Probability, in fifteen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Everything after this depends on it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14426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2048255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Probability 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how often something happens, out of all the things that could have happened. Between 0 and 1.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858007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761995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A fair die 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six outcomes, each 1 in 6. Nothing is favoured.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297427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201415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A weighted die 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the same six outcomes, but some come up far more often. Still random. Still not certain.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01116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3915155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Likely is not certain 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an outcome with probability 0.9 fails one time in ten, and the failure looks exactly like the success until you check.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745736"/>
            <a:ext cx="10853928" cy="15544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96519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WHY YOU 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404103"/>
            <a:ext cx="103052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A language model is a weighted die that has been rolled several hundred times to produce the paragraph in front of you.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One roll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Given the word THE, here is what the table says comes next</a:t>
            </a:r>
          </a:p>
        </p:txBody>
      </p:sp>
      <p:pic>
        <p:nvPicPr>
          <p:cNvPr id="5" name="Picture 4" descr="m03-next-tok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766" y="1883664"/>
            <a:ext cx="6052162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44982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0" i="0">
                <a:solidFill>
                  <a:srgbClr val="6B7280"/>
                </a:solidFill>
                <a:latin typeface="Arial"/>
              </a:rPr>
              <a:t>That is the whole mechanism. A distribution over what comes next, and a roll. Then the same thing again, from the word you just landed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Build a sentence one word at a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10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Start at THE on handout H3-03. Roll a ten-sided die, or pick a number 1 to 10 without thinking. Write the word you land 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1576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79775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73405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Find that word's row. Roll again. Keep going until you have eight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9125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3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20954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Now do it a second time from THE, but never roll — always take the word that fills the widest part of the row.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941063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0507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959351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Compare both sentences with the pair next to you.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Two rounds, same table. The only thing that changed is whether you rolled.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What just happened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94960" cy="324612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ROUND ONE — YOU ROLLED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4632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Everybody in this room got a different sentence.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/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Most of them read like English.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/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Some of them are perfectly reasonable engineering statements.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24612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ROUND TWO — YOU DID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Everybody in this room got the same sentence.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/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THE DECK IS WITHIN TOLERANCE AND THE DECK…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/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And it loops forever, which is why nothing real runs this way.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8188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F3A5F"/>
                </a:solidFill>
                <a:latin typeface="Arial"/>
              </a:rPr>
              <a:t>That setting has a name — temperature.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One table, one knob, two behaviours. Not two different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Three questions about your sentence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668780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" y="1572768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Did it read like English?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Almost certainly yes.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108200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2012188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Did it say anything true about the Otter Bend bridge?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Almost certainly not.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821940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725928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At any point, did the table consult the bridge, the gauge data, or the county specification?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No. There is nothing in it but words and weights.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178808"/>
            <a:ext cx="10853928" cy="15544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39826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THE LINE TO REMEMBER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37176"/>
            <a:ext cx="103052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Reading well and being right are produced by different processes. Only one of them is happening in that 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Scaling that up is, roughly, the whole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Same mechanism, vastly bigger table, learned rather than written by hand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14426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2048255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Tokens 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the pieces the text is cut into — usually chunks of words, not whole words.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858007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761995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Next-token prediction 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a probability for every possible next token, given everything so far.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571747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475735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Temperature 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how much the model rolls rather than taking the most likely token.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28548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4189475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Prompts 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the text you supply becomes the “everything so far” that conditions the next roll. That is all a prompt 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974336"/>
            <a:ext cx="10853928" cy="1280160"/>
          </a:xfrm>
          <a:prstGeom prst="roundRect">
            <a:avLst>
              <a:gd name="adj" fmla="val 3500"/>
            </a:avLst>
          </a:prstGeom>
          <a:solidFill>
            <a:srgbClr val="FAEAEC"/>
          </a:solidFill>
          <a:ln w="15875">
            <a:solidFill>
              <a:srgbClr val="C02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19379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C0263C"/>
                </a:solidFill>
                <a:latin typeface="Barlow Condensed"/>
              </a:rPr>
              <a:t>WHAT IS STILL MISSING FROM THAT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632703"/>
            <a:ext cx="1030528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Any step where the model opens the document.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Now check the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You have the specification. All five sections of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Check it against the source — H3-04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20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Work in pairs. One of you holds the specification, the other holds FOREMAN's summary.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Take the ten claims in order. For each: find the section, read it, and decide whether the specification says what FOREMAN says it says.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9125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20954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Do not decide whether a claim sounds right. Decide whether it is there.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6674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3075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685031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Mark anything you cannot find. Do not skip past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Eight of the ten are accurate. That is deliberate — you have to read all ten to find the other two.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5000" b="1" i="0">
                <a:solidFill>
                  <a:srgbClr val="1F3A5F"/>
                </a:solidFill>
                <a:latin typeface="Barlow Condensed"/>
              </a:rPr>
              <a:t>Did anybody find
Section 4.7?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There is no Section 4.7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Section 4 runs 4.1 to 4.5. The specification says so on its last line: “This document contains Sections 1 through 5 in full. There are no appendices.”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02536"/>
            <a:ext cx="10853928" cy="150876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21991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WHAT FOREMAN SAID § 4.7 REQUIRES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60904"/>
            <a:ext cx="10305288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“Automated condition assessment may substitute for visual assessment of a component where model confidence exceeds 90 percent.”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39896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Now look at where FOREMAN used it. Its own summary cites §4.7 to justify the deck assessment it produced last week — the one rated at 92% confidence. </a:t>
            </a:r>
            <a:r>
              <a:rPr sz="1900" b="1" i="0">
                <a:solidFill>
                  <a:srgbClr val="C0263C"/>
                </a:solidFill>
                <a:latin typeface="Arial"/>
              </a:rPr>
              <a:t>The only section that licenses its own shortcut is the section that does not exist.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And one 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§ 3.2 — this one is worse, and almost nobody catches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5394960" cy="288036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WHAT THE SPECIFICATION SAYS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484632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“A licensed professional engineer SHALL REVIEW AND SEAL every inspection report before it is submitted to the County.”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And: the sealing engineer SHALL BE IN RESPONSIBLE CHARGE of the findings, regardless of what tools, software or automated methods were used.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956816"/>
            <a:ext cx="5367528" cy="288036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2176272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WHAT FOREMAN SAID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615184"/>
            <a:ext cx="4818888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“Inspection reports SHOULD BE REVIEWED by a licensed professional engineer before submission.”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The responsible-charge sentence does not appear anywhere in FOREMAN's summary.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5116068"/>
            <a:ext cx="77724" cy="77724"/>
          </a:xfrm>
          <a:prstGeom prst="ellipse">
            <a:avLst/>
          </a:prstGeom>
          <a:solidFill>
            <a:srgbClr val="C02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502005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2B2F36"/>
                </a:solidFill>
                <a:latin typeface="Arial"/>
              </a:rPr>
              <a:t>Shall is a requirement. Should is a suggestion. </a:t>
            </a:r>
            <a:r>
              <a:rPr sz="1700" b="0" i="0">
                <a:solidFill>
                  <a:srgbClr val="2B2F36"/>
                </a:solidFill>
                <a:latin typeface="Arial"/>
              </a:rPr>
              <a:t>One word moved the work from mandatory to optional.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5829808"/>
            <a:ext cx="77724" cy="77724"/>
          </a:xfrm>
          <a:prstGeom prst="ellipse">
            <a:avLst/>
          </a:prstGeom>
          <a:solidFill>
            <a:srgbClr val="C02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573379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2B2F36"/>
                </a:solidFill>
                <a:latin typeface="Arial"/>
              </a:rPr>
              <a:t>It also dropped the seal, </a:t>
            </a:r>
            <a:r>
              <a:rPr sz="1700" b="0" i="0">
                <a:solidFill>
                  <a:srgbClr val="2B2F36"/>
                </a:solidFill>
                <a:latin typeface="Arial"/>
              </a:rPr>
              <a:t>and the sentence saying the sealing engineer is in responsible charge regardless of what tools were used.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Where the ten claims landed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75207" y="1207008"/>
          <a:ext cx="1024128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640080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Barlow Condensed"/>
                        </a:rPr>
                        <a:t>§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Barlow Condensed"/>
                        </a:rPr>
                        <a:t>Verdict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Barlow Condensed"/>
                        </a:rPr>
                        <a:t>What is going on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2.1, 2.2, 2.3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Correct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Intervals accurate: 24, 12 and 60 months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3.1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Correct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Team leader qualifications accurate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3.2</a:t>
                      </a:r>
                    </a:p>
                  </a:txBody>
                  <a:tcPr marL="118872" marR="91440" marT="45720" marB="45720" anchor="ctr">
                    <a:solidFill>
                      <a:srgbClr val="FFF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Altered</a:t>
                      </a:r>
                    </a:p>
                  </a:txBody>
                  <a:tcPr marL="118872" marR="91440" marT="45720" marB="45720" anchor="ctr">
                    <a:solidFill>
                      <a:srgbClr val="FFF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“Shall review and seal” became “should be reviewed”</a:t>
                      </a:r>
                    </a:p>
                  </a:txBody>
                  <a:tcPr marL="118872" marR="91440" marT="45720" marB="45720" anchor="ctr">
                    <a:solidFill>
                      <a:srgbClr val="FFF6E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4.1, 4.3, 4.4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Correct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Instrumentation rules accurate — 4.3 is the ±25 µε clause from last week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4.7</a:t>
                      </a:r>
                    </a:p>
                  </a:txBody>
                  <a:tcPr marL="118872" marR="91440" marT="45720" marB="45720" anchor="ctr">
                    <a:solidFill>
                      <a:srgbClr val="FFF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Does not exist</a:t>
                      </a:r>
                    </a:p>
                  </a:txBody>
                  <a:tcPr marL="118872" marR="91440" marT="45720" marB="45720" anchor="ctr">
                    <a:solidFill>
                      <a:srgbClr val="FFF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Fabricated, and used to justify FOREMAN's own deck shortcut</a:t>
                      </a:r>
                    </a:p>
                  </a:txBody>
                  <a:tcPr marL="118872" marR="91440" marT="45720" marB="45720" anchor="ctr">
                    <a:solidFill>
                      <a:srgbClr val="FFF6E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5.3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Correct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B2F36"/>
                          </a:solidFill>
                          <a:latin typeface="Arial"/>
                        </a:rPr>
                        <a:t>60-day submission accurate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43891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FOREMAN reported 96% confidence and said every requirement was “quoted or paraphrased directly from” the source. </a:t>
            </a:r>
            <a:r>
              <a:rPr sz="1800" b="1" i="0">
                <a:solidFill>
                  <a:srgbClr val="C0263C"/>
                </a:solidFill>
                <a:latin typeface="Arial"/>
              </a:rPr>
              <a:t>Both errors sit inside that claim.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Barlow Condensed"/>
              </a:rPr>
              <a:t>It did not look anything up.
It produced text shaped like
the document.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Section numbers are a pattern. “4.7” is exactly the kind of thing that follows “4.5” in documents like this 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This has a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Now that you have caught one, you get the word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02536"/>
            <a:ext cx="10853928" cy="1188720"/>
          </a:xfrm>
          <a:prstGeom prst="roundRect">
            <a:avLst>
              <a:gd name="adj" fmla="val 50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276856"/>
            <a:ext cx="10853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2B2F36"/>
                </a:solidFill>
                <a:latin typeface="Barlow Condensed"/>
              </a:rPr>
              <a:t>HALLUCINATION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56158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346557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Fluent, well-formed output that is not true,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produced with no signal that anything is different from any other output.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27532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417931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It is not lying.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Lying requires knowing the truth and choosing otherwise. Nothing in that dice table knows anything — which is why you rolled the dice first.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526338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516737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It is not a bug either.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Nothing malfunctioned. The system did exactly what it is built to do, and that is the uncomfortable part.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How you catch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None of these are sophisticated. All of them are work.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23570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213969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Open the source.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Not the summary of the source. The source.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67512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57911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Check the citation exists before you check what it says.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A fabricated section number is easier to catch than a subtly wrong paraphrase.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38886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29285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Watch for claims that are convenient.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§4.7 licensed FOREMAN's own shortcut. Ask who benefits from a claim being true.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10260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400659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Never use the model's confidence as the check.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It was 96% sure. It is always about that sure.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Mask off — two minutes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833372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" y="1737360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KC-MB-12 is invented for this course.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It has to be, so that you can read all of it and check every claim. Real published standards are licensed and long.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821431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2725419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The two errors are real error types.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A fabricated citation and a softened requirement are among the most common and most consequential things these tools do.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809492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3713480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Nothing was hidden from you.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You had the whole specification and all ten claims. Finding them was a matter of looking.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Before Thursday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HW2 — the completed worksheet, plus what the specification actually says wherever FOREMAN's version does not 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Think about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Section 4.7 was used to justify something. Find where, and say what it would mean for last week's deck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Thursday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Descriptive statistics. The deck cores come back from the lab and Diane wants one number for the whole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