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job, not the formulas. Students will receive the numerical problem before the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Diane's line without mocking it. She needs brevity; the lesson is what disciplined brevity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 a vote: ready to brief, not ready, or unsure. Do not validate a choice and do not disclose any omitted statistic.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that a correct calculation can still be an incomplete summary. Do not name which summary is incomplete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the six Week 2 concepts. Students need all three jobs—center, spread, scale—before opening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name one row and one quantitative variable from a familiar CSV before using the core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mean concrete: balance point and same units. Ask what information has vanished when 24 rows become one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variance has squared units and why SD returns to psi. Do not compute the M04 values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CV is dimensionless relative spread. Explicitly reject a universal CV pass/fail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 is complete as a file but incomplete as the deck. That distinction is the sample/population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the 22-minute hunt. Require each pair to have center, spread, count, and scope before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slide up while pairs prepare two numerically correct sentences. Do not switch decks until students articulate the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mejob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96012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606040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26B1D"/>
                </a:solidFill>
                <a:latin typeface="Barlow Condensed"/>
              </a:rPr>
              <a:t>MEETING 04  ·  UNIT 1: HIRED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718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600"/>
              </a:spcAft>
            </a:pPr>
            <a:r>
              <a:rPr sz="5800" b="1" i="0">
                <a:solidFill>
                  <a:srgbClr val="FFFFFF"/>
                </a:solidFill>
                <a:latin typeface="Barlow Condensed"/>
              </a:rPr>
              <a:t>One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i="0">
                <a:solidFill>
                  <a:srgbClr val="6F8FAF"/>
                </a:solidFill>
                <a:latin typeface="Arial"/>
              </a:rPr>
              <a:t>Descriptive statistics, and the information a center cannot 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Barlow Condensed"/>
              </a:rPr>
              <a:t>Thursday, February 11, 2027  ·  SEIS 201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The laboratory sent 24 deck-core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Diane has a county briefing and one line of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11095"/>
            <a:ext cx="10853928" cy="1874519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3055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DIANE HALVORSEN, 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69463"/>
            <a:ext cx="10305288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2400" b="0" i="0">
                <a:solidFill>
                  <a:srgbClr val="2B2F36"/>
                </a:solidFill>
                <a:latin typeface="Arial"/>
              </a:rPr>
              <a:t>“Give me one number for the deck. I can explain one number.”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059935"/>
            <a:ext cx="10853928" cy="14630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42793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718303"/>
            <a:ext cx="1030528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One number for center. One number for spread. A count below the 4,500 psi project comparison. Then three sentences she can repeat.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51575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B7280"/>
                </a:solidFill>
                <a:latin typeface="Arial"/>
              </a:rPr>
              <a:t>Six project hours. You choose which parts of the answer to verify.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FOREMAN already gave her the one number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44168"/>
            <a:ext cx="10853928" cy="2057400"/>
          </a:xfrm>
          <a:prstGeom prst="roundRect">
            <a:avLst>
              <a:gd name="adj" fmla="val 35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56362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26B1D"/>
                </a:solidFill>
                <a:latin typeface="Barlow Condensed"/>
              </a:rPr>
              <a:t>FOREMAN v4.2 — DECK CORE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002536"/>
            <a:ext cx="1030528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900" b="0" i="0">
                <a:solidFill>
                  <a:srgbClr val="2B2F36"/>
                </a:solidFill>
                <a:latin typeface="Arial"/>
              </a:rPr>
              <a:t>“ADEQUATE. Mean core strength is 5,004 psi, exceeding the 4,500 psi project value by 504 psi. No further statistical review is required. Confidence 94%.”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721608"/>
            <a:ext cx="10853928" cy="13716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410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YOUR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379976"/>
            <a:ext cx="10305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Is that a good summary of the file? Do not answer from the paragraph. Answer from the 24 rows.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Barlow Condensed"/>
              </a:rPr>
              <a:t>One number can be correct
and still be a bad summary.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F8FAF"/>
                </a:solidFill>
                <a:latin typeface="Arial"/>
              </a:rPr>
              <a:t>Today the hunt is to identify what the compression throws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9000" b="1" i="0">
                <a:solidFill>
                  <a:srgbClr val="F26B1D"/>
                </a:solidFill>
                <a:latin typeface="Barlow Condensed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Barlow Condensed"/>
              </a:rPr>
              <a:t>Build the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 i="0">
                <a:solidFill>
                  <a:srgbClr val="6F8FAF"/>
                </a:solidFill>
                <a:latin typeface="Arial"/>
              </a:rPr>
              <a:t>Center, spread, and scale — three different jobs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First: name what is in the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A dataset is not just a rectangle of numbers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442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482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Observational unit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thing represented by one row. Here, one tested core.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85800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276199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Variable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recorded feature that can change from row to row.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297427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20141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Quantitative variable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measured amount on which arithmetic is meaningful.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01116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91515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Categorical variable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a label such as side or drill zone; it groups observations.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24908"/>
            <a:ext cx="77724" cy="77724"/>
          </a:xfrm>
          <a:prstGeom prst="ellipse">
            <a:avLst/>
          </a:prstGeom>
          <a:solidFill>
            <a:srgbClr val="3A7D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2889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Dataset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the observations and variables together, plus enough context to interpret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385816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60527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BEFORE ANY FORMULA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6044184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400" b="0" i="0">
                <a:solidFill>
                  <a:srgbClr val="2B2F36"/>
                </a:solidFill>
                <a:latin typeface="Arial"/>
              </a:rPr>
              <a:t>Say what one row is and which variable you are summarizing.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Mean — where the values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Useful, reproducible, and blind to where individual values sit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02536"/>
            <a:ext cx="10853928" cy="1143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49424"/>
            <a:ext cx="10853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700" b="1" i="0">
                <a:solidFill>
                  <a:srgbClr val="1F3A5F"/>
                </a:solidFill>
                <a:latin typeface="Courier New"/>
              </a:rPr>
              <a:t>x̄  =  Σ xᵢ / n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65302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55701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It answers: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where is the center of these values?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9244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99643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It does not answer: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how far apart are they, how many are low, or where the sample came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8061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7101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900" b="1" i="0">
                <a:solidFill>
                  <a:srgbClr val="2B2F36"/>
                </a:solidFill>
                <a:latin typeface="Arial"/>
              </a:rPr>
              <a:t>Units stay the same: </a:t>
            </a:r>
            <a:r>
              <a:rPr sz="1900" b="0" i="0">
                <a:solidFill>
                  <a:srgbClr val="2B2F36"/>
                </a:solidFill>
                <a:latin typeface="Arial"/>
              </a:rPr>
              <a:t>psi in, psi out.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50408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698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SPREADSHEET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208776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400" b="0" i="0">
                <a:solidFill>
                  <a:srgbClr val="2B2F36"/>
                </a:solidFill>
                <a:latin typeface="Courier New"/>
              </a:rPr>
              <a:t>=AVERAGE(range)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Variance and standard deviation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How far the observations typically sit from the mean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292608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SAMPLE VARIANCE  ·  s²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Square each distance from the mean, add them, divide by n − 1.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Units are squared: psi².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=VAR.S(range)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292608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SAMPLE STANDARD DEVIATION  · 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Take the square root of variance.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Back in the original units: psi.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=STDEV.S(range)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02936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100" b="1" i="0">
                <a:solidFill>
                  <a:srgbClr val="1F3A5F"/>
                </a:solidFill>
                <a:latin typeface="Arial"/>
              </a:rPr>
              <a:t>Same mean + different standard deviation = different engineering 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Coefficient of variation puts spread on a relative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Useful when the size of the mean changes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02536"/>
            <a:ext cx="10853928" cy="1143000"/>
          </a:xfrm>
          <a:prstGeom prst="roundRect">
            <a:avLst>
              <a:gd name="adj" fmla="val 5000"/>
            </a:avLst>
          </a:prstGeom>
          <a:solidFill>
            <a:srgbClr val="FFF1E8"/>
          </a:solidFill>
          <a:ln w="15875">
            <a:solidFill>
              <a:srgbClr val="F26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31136"/>
            <a:ext cx="1085392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600" b="1" i="0">
                <a:solidFill>
                  <a:srgbClr val="F26B1D"/>
                </a:solidFill>
                <a:latin typeface="Courier New"/>
              </a:rPr>
              <a:t>CV  =  s / x̄  ×  100%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65302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55701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Standard deviation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keeps the engineering units. It says how many psi.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92447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996435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Coefficient of variation 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removes the units. It says how large the spread is relative to the mean.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806188"/>
            <a:ext cx="77724" cy="77724"/>
          </a:xfrm>
          <a:prstGeom prst="ellipse">
            <a:avLst/>
          </a:prstGeom>
          <a:solidFill>
            <a:srgbClr val="F26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710176"/>
            <a:ext cx="10186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B2F36"/>
                </a:solidFill>
                <a:latin typeface="Arial"/>
              </a:rPr>
              <a:t>Read it as a comparison, not a verdict. </a:t>
            </a:r>
            <a:r>
              <a:rPr sz="1800" b="0" i="0">
                <a:solidFill>
                  <a:srgbClr val="2B2F36"/>
                </a:solidFill>
                <a:latin typeface="Arial"/>
              </a:rPr>
              <a:t>CV has no universal pass/fail boundary.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50408"/>
            <a:ext cx="10853928" cy="118872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5769864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SPREADSHEET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6208776"/>
            <a:ext cx="10305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400" b="0" i="0">
                <a:solidFill>
                  <a:srgbClr val="2B2F36"/>
                </a:solidFill>
                <a:latin typeface="Courier New"/>
              </a:rPr>
              <a:t>=STDEV.S(range)/AVERAGE(range)  ·  format as percent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7200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600"/>
              </a:spcAft>
            </a:pPr>
            <a:r>
              <a:rPr sz="3800" b="1" i="0">
                <a:solidFill>
                  <a:srgbClr val="1F3A5F"/>
                </a:solidFill>
                <a:latin typeface="Barlow Condensed"/>
              </a:rPr>
              <a:t>Sample or population?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The formula is a claim about what your file represents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56816"/>
            <a:ext cx="5349240" cy="2971800"/>
          </a:xfrm>
          <a:prstGeom prst="roundRect">
            <a:avLst>
              <a:gd name="adj" fmla="val 3500"/>
            </a:avLst>
          </a:prstGeom>
          <a:solidFill>
            <a:srgbClr val="EEF3F8"/>
          </a:solidFill>
          <a:ln w="15875">
            <a:solidFill>
              <a:srgbClr val="3A7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76272"/>
            <a:ext cx="4800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SAMPLE  ·  USE .S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480060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The 24 cores are evidence about a larger physical deck.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Use STDEV.S and VAR.S.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The n − 1 denominator accounts for estimating spread from a sample.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44768" y="1956816"/>
            <a:ext cx="5367528" cy="2971800"/>
          </a:xfrm>
          <a:prstGeom prst="roundRect">
            <a:avLst>
              <a:gd name="adj" fmla="val 3500"/>
            </a:avLst>
          </a:prstGeom>
          <a:solidFill>
            <a:srgbClr val="F4F6F8"/>
          </a:solidFill>
          <a:ln w="15875">
            <a:solidFill>
              <a:srgbClr val="E6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76272"/>
            <a:ext cx="48188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Barlow Condensed"/>
              </a:rPr>
              <a:t>POPULATION  ·  USE .P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4818888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Use only when the file contains every member of the population you intend to describe.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/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700" b="0" i="0">
                <a:solidFill>
                  <a:srgbClr val="2B2F36"/>
                </a:solidFill>
                <a:latin typeface="Arial"/>
              </a:rPr>
              <a:t>STDEV.P answers a different question. It is not the “more exact” button.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202936"/>
            <a:ext cx="10853928" cy="1234440"/>
          </a:xfrm>
          <a:prstGeom prst="roundRect">
            <a:avLst>
              <a:gd name="adj" fmla="val 3500"/>
            </a:avLst>
          </a:prstGeom>
          <a:solidFill>
            <a:srgbClr val="FFF6E5"/>
          </a:solidFill>
          <a:ln w="15875">
            <a:solidFill>
              <a:srgbClr val="F2C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422392"/>
            <a:ext cx="103052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2B2F36"/>
                </a:solidFill>
                <a:latin typeface="Barlow Condensed"/>
              </a:rPr>
              <a:t>TODAY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5861303"/>
            <a:ext cx="103052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500" b="0" i="0">
                <a:solidFill>
                  <a:srgbClr val="2B2F36"/>
                </a:solidFill>
                <a:latin typeface="Arial"/>
              </a:rPr>
              <a:t>Twenty-four tested cores are the full file, but they are not the whole deck.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508760"/>
          </a:xfrm>
          <a:prstGeom prst="rect">
            <a:avLst/>
          </a:prstGeom>
          <a:solidFill>
            <a:srgbClr val="F2C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F36"/>
                </a:solidFill>
                <a:latin typeface="Barlow Condensed"/>
              </a:rPr>
              <a:t>IN CLASS — DO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1323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2B2F36"/>
                </a:solidFill>
                <a:latin typeface="Barlow Condensed"/>
              </a:rPr>
              <a:t>Hunt the story FOREMAN compressed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384048"/>
            <a:ext cx="1572768" cy="749808"/>
          </a:xfrm>
          <a:prstGeom prst="roundRect">
            <a:avLst>
              <a:gd name="adj" fmla="val 12000"/>
            </a:avLst>
          </a:prstGeom>
          <a:solidFill>
            <a:srgbClr val="2B2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0" y="475488"/>
            <a:ext cx="15727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2C230"/>
                </a:solidFill>
                <a:latin typeface="Barlow Condensed"/>
              </a:rPr>
              <a:t>22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29967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984248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Open cores_2027.csv. Name the observational unit, quantitative variable, and location variables.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1576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779775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2734056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Compute n, mean, sample variance, sample SD, CV, minimum, maximum, and the count below 4,500 psi.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65576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529584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8448" y="3483864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Write one sentence using only the mean. Then write one that adds spread and the low-result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153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79392"/>
            <a:ext cx="420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4233672"/>
            <a:ext cx="9966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800" b="0" i="0">
                <a:solidFill>
                  <a:srgbClr val="2B2F36"/>
                </a:solidFill>
                <a:latin typeface="Arial"/>
              </a:rPr>
              <a:t>Read the location columns. State what these 24 rows can and cannot say about the whole deck.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1">
                <a:solidFill>
                  <a:srgbClr val="6B7280"/>
                </a:solidFill>
                <a:latin typeface="Arial"/>
              </a:rPr>
              <a:t>Keep the result private until every pair has center, spread, and count. H4-02 carries the formulas.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1F3A5F"/>
                </a:solidFill>
                <a:latin typeface="Barlow Condensed"/>
              </a:rPr>
              <a:t>Find two sentences that are
both numerically correct.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4800600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1">
                <a:solidFill>
                  <a:srgbClr val="6B7280"/>
                </a:solidFill>
                <a:latin typeface="Arial"/>
              </a:rPr>
              <a:t>Then decide which one keeps the decision-relevant information.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