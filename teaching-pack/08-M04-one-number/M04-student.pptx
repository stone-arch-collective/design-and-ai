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STORY: The lab file has arrived: 24 Otter Bend deck cores, each with a location and a compressive strength. Open with the job, not the formulas.</a:t>
            </a:r>
          </a:p>
          <a:p/>
          <a:p>
            <a:r>
              <a:t>[SAY] “The lab sent back 24 cores. Diane and Wes need to turn that file into something a county audience can use. Today you own the first pass.”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STORY: Diane asks for one number because the briefing has one line of space. Treat that as a real communication constraint, not a joke.</a:t>
            </a:r>
          </a:p>
          <a:p/>
          <a:p>
            <a:r>
              <a:t>[SAY] “Diane wants one number. Give her one—but first decide what job that number has to do. A short answer still has to survive the data behind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STORY: FOREMAN returns only the mean and calls the concrete adequate. This is the inbox tension; the class has not yet earned a verdict.</a:t>
            </a:r>
          </a:p>
          <a:p/>
          <a:p>
            <a:r>
              <a:t>[SAY] “FOREMAN filled Diane’s line with the mean. Ready to brief, not ready, or unsure? Vote from the paragraph for now. In a few minutes you will vote from the file.”</a:t>
            </a:r>
          </a:p>
          <a:p/>
          <a:p>
            <a:r>
              <a:t>[SPOILER GUARD] Do not name an omitted statistic, low result, or sampling limitation.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STORY: The hunt is not for a broken formula. It is for information lost when many observations become one number.</a:t>
            </a:r>
          </a:p>
          <a:p/>
          <a:p>
            <a:r>
              <a:t>[SAY] “One number can be calculated correctly and still be the wrong compression. Your job is to find out what survived—and what disappeared.”</a:t>
            </a:r>
          </a:p>
          <a:p/>
          <a:p>
            <a:r>
              <a:t>[SPOILER GUARD] Do not say which summary is incomplete.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Frame the six Week 2 ideas as tools students need before opening cores_2027.csv.</a:t>
            </a:r>
          </a:p>
          <a:p/>
          <a:p>
            <a:r>
              <a:t>[SAY] “We need three jobs covered: describe the data, locate its center, and describe its spread on a scale we can compare. Then we have to say what this sample represents.”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Establish row, variable, and context before arithmetic.</a:t>
            </a:r>
          </a:p>
          <a:p/>
          <a:p>
            <a:r>
              <a:t>[SAY] “One row is one tested core. Strength is quantitative; side, station, and drill zone carry location context. If we strip off those columns, we may also strip off the limits of the claim.”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Keep mean concrete as a balance point in the original units.</a:t>
            </a:r>
          </a:p>
          <a:p/>
          <a:p>
            <a:r>
              <a:t>[SAY] “The mean answers where these values balance. It does not show you the path each observation took to get there. Twenty-four values can share a mean and tell very different stories.”</a:t>
            </a:r>
          </a:p>
          <a:p/>
          <a:p>
            <a:r>
              <a:t>[SPOILER GUARD] Use no computed M04 spread or count.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Connect variance to squared distances and standard deviation back to engineering units.</a:t>
            </a:r>
          </a:p>
          <a:p/>
          <a:p>
            <a:r>
              <a:t>[SAY] “Variance does the bookkeeping in squared units. Standard deviation takes the square root and brings the spread back to psi—the same language as the measurements.”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Present CV as normalized spread, not a pass/fail rule.</a:t>
            </a:r>
          </a:p>
          <a:p/>
          <a:p>
            <a:r>
              <a:t>[SAY] “Standard deviation tells us how many psi of spread. CV asks how large that spread is relative to the mean. It lets us compare variability across scales; it does not hand us a universal adequacy cutoff.”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Make sample versus population a claim, not a spreadsheet preference.</a:t>
            </a:r>
          </a:p>
          <a:p/>
          <a:p>
            <a:r>
              <a:t>[SAY] “This CSV may contain every result the lab returned. That does not make it the whole deck. Choosing .S or .P says what you believe these rows represent.”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Start the hunt in groups with cores_2027.csv and H4-02. Students compute mean, sample SD, CV, range, low-result count, and inspect location fields.</a:t>
            </a:r>
          </a:p>
          <a:p/>
          <a:p>
            <a:r>
              <a:t>[SAY] “Analyze the file, then choose the single number you would put beside Diane’s requested center—and the single number you would use to summarize spread. Be ready to explain why both jobs matter.”</a:t>
            </a:r>
          </a:p>
          <a:p/>
          <a:p>
            <a:r>
              <a:t>[SPOILER GUARD] Require center, spread, count, and scope before discussion; confirm formulas, not results.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TO REVEAL: Keep this slide visible while groups prepare two numerically correct statements.</a:t>
            </a:r>
          </a:p>
          <a:p/>
          <a:p>
            <a:r>
              <a:t>[SAY] “Write one sentence that uses the one number FOREMAN chose. Write a second that adds your evidence about variation. Which would you let Diane repeat, and what would you refuse to claim?”</a:t>
            </a:r>
          </a:p>
          <a:p/>
          <a:p>
            <a:r>
              <a:t>[SPOILER GUARD] Do not open the reveal deck until students articulate the contrast themselves.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cmejob-mark-dark.png"/>
          <p:cNvPicPr>
            <a:picLocks noChangeAspect="1"/>
          </p:cNvPicPr>
          <p:nvPr/>
        </p:nvPicPr>
        <p:blipFill>
          <a:blip r:embed="rId2"/>
          <a:stretch>
            <a:fillRect/>
          </a:stretch>
        </p:blipFill>
        <p:spPr>
          <a:xfrm>
            <a:off x="868680" y="960120"/>
            <a:ext cx="1371600" cy="1371600"/>
          </a:xfrm>
          <a:prstGeom prst="rect">
            <a:avLst/>
          </a:prstGeom>
        </p:spPr>
      </p:pic>
      <p:sp>
        <p:nvSpPr>
          <p:cNvPr id="4" name="TextBox 3"/>
          <p:cNvSpPr txBox="1"/>
          <p:nvPr/>
        </p:nvSpPr>
        <p:spPr>
          <a:xfrm>
            <a:off x="868680" y="2606040"/>
            <a:ext cx="7863840" cy="384048"/>
          </a:xfrm>
          <a:prstGeom prst="rect">
            <a:avLst/>
          </a:prstGeom>
          <a:noFill/>
        </p:spPr>
        <p:txBody>
          <a:bodyPr wrap="square" anchor="t" lIns="0" rIns="0" tIns="0" bIns="0">
            <a:spAutoFit/>
          </a:bodyPr>
          <a:lstStyle/>
          <a:p>
            <a:pPr algn="l">
              <a:lnSpc>
                <a:spcPct val="100000"/>
              </a:lnSpc>
              <a:spcAft>
                <a:spcPts val="600"/>
              </a:spcAft>
            </a:pPr>
            <a:r>
              <a:rPr sz="1700" b="1" i="0">
                <a:solidFill>
                  <a:srgbClr val="F26B1D"/>
                </a:solidFill>
                <a:latin typeface="Barlow Condensed"/>
              </a:rPr>
              <a:t>MEETING 04  ·  UNIT 1: HIRED</a:t>
            </a:r>
          </a:p>
        </p:txBody>
      </p:sp>
      <p:sp>
        <p:nvSpPr>
          <p:cNvPr id="5" name="TextBox 4"/>
          <p:cNvSpPr txBox="1"/>
          <p:nvPr/>
        </p:nvSpPr>
        <p:spPr>
          <a:xfrm>
            <a:off x="868680" y="2971800"/>
            <a:ext cx="10424160" cy="1463040"/>
          </a:xfrm>
          <a:prstGeom prst="rect">
            <a:avLst/>
          </a:prstGeom>
          <a:noFill/>
        </p:spPr>
        <p:txBody>
          <a:bodyPr wrap="square" anchor="t" lIns="0" rIns="0" tIns="0" bIns="0">
            <a:spAutoFit/>
          </a:bodyPr>
          <a:lstStyle/>
          <a:p>
            <a:pPr algn="l">
              <a:lnSpc>
                <a:spcPct val="96000"/>
              </a:lnSpc>
              <a:spcAft>
                <a:spcPts val="600"/>
              </a:spcAft>
            </a:pPr>
            <a:r>
              <a:rPr sz="5800" b="1" i="0">
                <a:solidFill>
                  <a:srgbClr val="FFFFFF"/>
                </a:solidFill>
                <a:latin typeface="Barlow Condensed"/>
              </a:rPr>
              <a:t>One number.</a:t>
            </a:r>
          </a:p>
        </p:txBody>
      </p:sp>
      <p:sp>
        <p:nvSpPr>
          <p:cNvPr id="6" name="TextBox 5"/>
          <p:cNvSpPr txBox="1"/>
          <p:nvPr/>
        </p:nvSpPr>
        <p:spPr>
          <a:xfrm>
            <a:off x="868680" y="4572000"/>
            <a:ext cx="9326880" cy="914400"/>
          </a:xfrm>
          <a:prstGeom prst="rect">
            <a:avLst/>
          </a:prstGeom>
          <a:noFill/>
        </p:spPr>
        <p:txBody>
          <a:bodyPr wrap="square" anchor="t" lIns="0" rIns="0" tIns="0" bIns="0">
            <a:spAutoFit/>
          </a:bodyPr>
          <a:lstStyle/>
          <a:p>
            <a:pPr algn="l">
              <a:lnSpc>
                <a:spcPct val="120000"/>
              </a:lnSpc>
              <a:spcAft>
                <a:spcPts val="600"/>
              </a:spcAft>
            </a:pPr>
            <a:r>
              <a:rPr sz="2200" b="0" i="0">
                <a:solidFill>
                  <a:srgbClr val="6F8FAF"/>
                </a:solidFill>
                <a:latin typeface="Arial"/>
              </a:rPr>
              <a:t>Descriptive statistics, and the information a center cannot carry</a:t>
            </a:r>
          </a:p>
        </p:txBody>
      </p:sp>
      <p:sp>
        <p:nvSpPr>
          <p:cNvPr id="7" name="TextBox 6"/>
          <p:cNvSpPr txBox="1"/>
          <p:nvPr/>
        </p:nvSpPr>
        <p:spPr>
          <a:xfrm>
            <a:off x="868680" y="5943600"/>
            <a:ext cx="9326880" cy="365760"/>
          </a:xfrm>
          <a:prstGeom prst="rect">
            <a:avLst/>
          </a:prstGeom>
          <a:noFill/>
        </p:spPr>
        <p:txBody>
          <a:bodyPr wrap="square" anchor="t" lIns="0" rIns="0" tIns="0" bIns="0">
            <a:spAutoFit/>
          </a:bodyPr>
          <a:lstStyle/>
          <a:p>
            <a:pPr algn="l">
              <a:lnSpc>
                <a:spcPct val="100000"/>
              </a:lnSpc>
              <a:spcAft>
                <a:spcPts val="600"/>
              </a:spcAft>
            </a:pPr>
            <a:r>
              <a:rPr sz="1400" b="0" i="0">
                <a:solidFill>
                  <a:srgbClr val="6B7280"/>
                </a:solidFill>
                <a:latin typeface="Barlow Condensed"/>
              </a:rPr>
              <a:t>Thursday, February 11, 2027  ·  SEIS 201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The laboratory sent 24 deck-core results</a:t>
            </a:r>
          </a:p>
        </p:txBody>
      </p:sp>
      <p:sp>
        <p:nvSpPr>
          <p:cNvPr id="4" name="TextBox 3"/>
          <p:cNvSpPr txBox="1"/>
          <p:nvPr/>
        </p:nvSpPr>
        <p:spPr>
          <a:xfrm>
            <a:off x="658368" y="1207008"/>
            <a:ext cx="10881360" cy="457200"/>
          </a:xfrm>
          <a:prstGeom prst="rect">
            <a:avLst/>
          </a:prstGeom>
          <a:noFill/>
        </p:spPr>
        <p:txBody>
          <a:bodyPr wrap="square" anchor="t" lIns="0" rIns="0" tIns="0" bIns="0">
            <a:spAutoFit/>
          </a:bodyPr>
          <a:lstStyle/>
          <a:p>
            <a:pPr algn="l">
              <a:lnSpc>
                <a:spcPct val="115000"/>
              </a:lnSpc>
              <a:spcAft>
                <a:spcPts val="600"/>
              </a:spcAft>
            </a:pPr>
            <a:r>
              <a:rPr sz="1700" b="0" i="0">
                <a:solidFill>
                  <a:srgbClr val="6B7280"/>
                </a:solidFill>
                <a:latin typeface="Arial"/>
              </a:rPr>
              <a:t>Diane has a county briefing and one line of space</a:t>
            </a:r>
          </a:p>
        </p:txBody>
      </p:sp>
      <p:sp>
        <p:nvSpPr>
          <p:cNvPr id="5" name="Rounded Rectangle 4"/>
          <p:cNvSpPr/>
          <p:nvPr/>
        </p:nvSpPr>
        <p:spPr>
          <a:xfrm>
            <a:off x="658368" y="1911095"/>
            <a:ext cx="10853928" cy="1874519"/>
          </a:xfrm>
          <a:prstGeom prst="roundRect">
            <a:avLst>
              <a:gd name="adj" fmla="val 3500"/>
            </a:avLst>
          </a:prstGeom>
          <a:solidFill>
            <a:srgbClr val="EEF3F8"/>
          </a:solidFill>
          <a:ln w="15875">
            <a:solidFill>
              <a:srgbClr val="3A7D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30552"/>
            <a:ext cx="103052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1F3A5F"/>
                </a:solidFill>
                <a:latin typeface="Barlow Condensed"/>
              </a:rPr>
              <a:t>DIANE HALVORSEN, PE</a:t>
            </a:r>
          </a:p>
        </p:txBody>
      </p:sp>
      <p:sp>
        <p:nvSpPr>
          <p:cNvPr id="7" name="TextBox 6"/>
          <p:cNvSpPr txBox="1"/>
          <p:nvPr/>
        </p:nvSpPr>
        <p:spPr>
          <a:xfrm>
            <a:off x="932688" y="2569463"/>
            <a:ext cx="10305288" cy="960119"/>
          </a:xfrm>
          <a:prstGeom prst="rect">
            <a:avLst/>
          </a:prstGeom>
          <a:noFill/>
        </p:spPr>
        <p:txBody>
          <a:bodyPr wrap="square" anchor="t" lIns="0" rIns="0" tIns="0" bIns="0">
            <a:spAutoFit/>
          </a:bodyPr>
          <a:lstStyle/>
          <a:p>
            <a:pPr algn="l">
              <a:lnSpc>
                <a:spcPct val="118000"/>
              </a:lnSpc>
              <a:spcAft>
                <a:spcPts val="700"/>
              </a:spcAft>
            </a:pPr>
            <a:r>
              <a:rPr sz="2400" b="0" i="0">
                <a:solidFill>
                  <a:srgbClr val="2B2F36"/>
                </a:solidFill>
                <a:latin typeface="Arial"/>
              </a:rPr>
              <a:t>“Give me one number for the deck. I can explain one number.”</a:t>
            </a:r>
          </a:p>
        </p:txBody>
      </p:sp>
      <p:sp>
        <p:nvSpPr>
          <p:cNvPr id="8" name="Rounded Rectangle 7"/>
          <p:cNvSpPr/>
          <p:nvPr/>
        </p:nvSpPr>
        <p:spPr>
          <a:xfrm>
            <a:off x="658368" y="4059935"/>
            <a:ext cx="10853928" cy="1463040"/>
          </a:xfrm>
          <a:prstGeom prst="roundRect">
            <a:avLst>
              <a:gd name="adj" fmla="val 3500"/>
            </a:avLst>
          </a:prstGeom>
          <a:solidFill>
            <a:srgbClr val="FFF6E5"/>
          </a:solidFill>
          <a:ln w="15875">
            <a:solidFill>
              <a:srgbClr val="F2C2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4279392"/>
            <a:ext cx="103052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2B2F36"/>
                </a:solidFill>
                <a:latin typeface="Barlow Condensed"/>
              </a:rPr>
              <a:t>THE ASK</a:t>
            </a:r>
          </a:p>
        </p:txBody>
      </p:sp>
      <p:sp>
        <p:nvSpPr>
          <p:cNvPr id="10" name="TextBox 9"/>
          <p:cNvSpPr txBox="1"/>
          <p:nvPr/>
        </p:nvSpPr>
        <p:spPr>
          <a:xfrm>
            <a:off x="932688" y="4718303"/>
            <a:ext cx="10305288" cy="548640"/>
          </a:xfrm>
          <a:prstGeom prst="rect">
            <a:avLst/>
          </a:prstGeom>
          <a:noFill/>
        </p:spPr>
        <p:txBody>
          <a:bodyPr wrap="square" anchor="t" lIns="0" rIns="0" tIns="0" bIns="0">
            <a:spAutoFit/>
          </a:bodyPr>
          <a:lstStyle/>
          <a:p>
            <a:pPr algn="l">
              <a:lnSpc>
                <a:spcPct val="118000"/>
              </a:lnSpc>
              <a:spcAft>
                <a:spcPts val="700"/>
              </a:spcAft>
            </a:pPr>
            <a:r>
              <a:rPr sz="1700" b="0" i="0">
                <a:solidFill>
                  <a:srgbClr val="2B2F36"/>
                </a:solidFill>
                <a:latin typeface="Arial"/>
              </a:rPr>
              <a:t>One number for center. One number for spread. A count below the 4,500 psi project comparison. Then three sentences she can repeat.</a:t>
            </a:r>
          </a:p>
        </p:txBody>
      </p:sp>
      <p:sp>
        <p:nvSpPr>
          <p:cNvPr id="11" name="TextBox 10"/>
          <p:cNvSpPr txBox="1"/>
          <p:nvPr/>
        </p:nvSpPr>
        <p:spPr>
          <a:xfrm>
            <a:off x="658368" y="5751575"/>
            <a:ext cx="10881360" cy="502920"/>
          </a:xfrm>
          <a:prstGeom prst="rect">
            <a:avLst/>
          </a:prstGeom>
          <a:noFill/>
        </p:spPr>
        <p:txBody>
          <a:bodyPr wrap="square" anchor="t" lIns="0" rIns="0" tIns="0" bIns="0">
            <a:spAutoFit/>
          </a:bodyPr>
          <a:lstStyle/>
          <a:p>
            <a:pPr algn="l">
              <a:lnSpc>
                <a:spcPct val="100000"/>
              </a:lnSpc>
              <a:spcAft>
                <a:spcPts val="600"/>
              </a:spcAft>
            </a:pPr>
            <a:r>
              <a:rPr sz="1700" b="0" i="1">
                <a:solidFill>
                  <a:srgbClr val="6B7280"/>
                </a:solidFill>
                <a:latin typeface="Arial"/>
              </a:rPr>
              <a:t>Six project hours. You choose which parts of the answer to verify.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FOREMAN already gave her the one number</a:t>
            </a:r>
          </a:p>
        </p:txBody>
      </p:sp>
      <p:sp>
        <p:nvSpPr>
          <p:cNvPr id="4" name="Rounded Rectangle 3"/>
          <p:cNvSpPr/>
          <p:nvPr/>
        </p:nvSpPr>
        <p:spPr>
          <a:xfrm>
            <a:off x="658368" y="1344168"/>
            <a:ext cx="10853928" cy="2057400"/>
          </a:xfrm>
          <a:prstGeom prst="roundRect">
            <a:avLst>
              <a:gd name="adj" fmla="val 3500"/>
            </a:avLst>
          </a:prstGeom>
          <a:solidFill>
            <a:srgbClr val="FFF1E8"/>
          </a:solidFill>
          <a:ln w="15875">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32688" y="1563624"/>
            <a:ext cx="103052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26B1D"/>
                </a:solidFill>
                <a:latin typeface="Barlow Condensed"/>
              </a:rPr>
              <a:t>FOREMAN v4.2 — DECK CORE EXECUTIVE SUMMARY</a:t>
            </a:r>
          </a:p>
        </p:txBody>
      </p:sp>
      <p:sp>
        <p:nvSpPr>
          <p:cNvPr id="6" name="TextBox 5"/>
          <p:cNvSpPr txBox="1"/>
          <p:nvPr/>
        </p:nvSpPr>
        <p:spPr>
          <a:xfrm>
            <a:off x="932688" y="2002536"/>
            <a:ext cx="10305288" cy="1143000"/>
          </a:xfrm>
          <a:prstGeom prst="rect">
            <a:avLst/>
          </a:prstGeom>
          <a:noFill/>
        </p:spPr>
        <p:txBody>
          <a:bodyPr wrap="square" anchor="t" lIns="0" rIns="0" tIns="0" bIns="0">
            <a:spAutoFit/>
          </a:bodyPr>
          <a:lstStyle/>
          <a:p>
            <a:pPr algn="l">
              <a:lnSpc>
                <a:spcPct val="118000"/>
              </a:lnSpc>
              <a:spcAft>
                <a:spcPts val="700"/>
              </a:spcAft>
            </a:pPr>
            <a:r>
              <a:rPr sz="1900" b="0" i="0">
                <a:solidFill>
                  <a:srgbClr val="2B2F36"/>
                </a:solidFill>
                <a:latin typeface="Arial"/>
              </a:rPr>
              <a:t>“ADEQUATE. Mean core strength is 5,004 psi, exceeding the 4,500 psi project value by 504 psi. No further statistical review is required. Confidence 94%.”</a:t>
            </a:r>
          </a:p>
        </p:txBody>
      </p:sp>
      <p:sp>
        <p:nvSpPr>
          <p:cNvPr id="7" name="Rounded Rectangle 6"/>
          <p:cNvSpPr/>
          <p:nvPr/>
        </p:nvSpPr>
        <p:spPr>
          <a:xfrm>
            <a:off x="658368" y="3721608"/>
            <a:ext cx="10853928" cy="1371600"/>
          </a:xfrm>
          <a:prstGeom prst="roundRect">
            <a:avLst>
              <a:gd name="adj" fmla="val 3500"/>
            </a:avLst>
          </a:prstGeom>
          <a:solidFill>
            <a:srgbClr val="F4F6F8"/>
          </a:solidFill>
          <a:ln w="15875">
            <a:solidFill>
              <a:srgbClr val="E6E8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3941064"/>
            <a:ext cx="103052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1F3A5F"/>
                </a:solidFill>
                <a:latin typeface="Barlow Condensed"/>
              </a:rPr>
              <a:t>YOUR QUESTION</a:t>
            </a:r>
          </a:p>
        </p:txBody>
      </p:sp>
      <p:sp>
        <p:nvSpPr>
          <p:cNvPr id="9" name="TextBox 8"/>
          <p:cNvSpPr txBox="1"/>
          <p:nvPr/>
        </p:nvSpPr>
        <p:spPr>
          <a:xfrm>
            <a:off x="932688" y="4379976"/>
            <a:ext cx="10305288" cy="457200"/>
          </a:xfrm>
          <a:prstGeom prst="rect">
            <a:avLst/>
          </a:prstGeom>
          <a:noFill/>
        </p:spPr>
        <p:txBody>
          <a:bodyPr wrap="square" anchor="t" lIns="0" rIns="0" tIns="0" bIns="0">
            <a:spAutoFit/>
          </a:bodyPr>
          <a:lstStyle/>
          <a:p>
            <a:pPr algn="l">
              <a:lnSpc>
                <a:spcPct val="118000"/>
              </a:lnSpc>
              <a:spcAft>
                <a:spcPts val="700"/>
              </a:spcAft>
            </a:pPr>
            <a:r>
              <a:rPr sz="1700" b="0" i="0">
                <a:solidFill>
                  <a:srgbClr val="2B2F36"/>
                </a:solidFill>
                <a:latin typeface="Arial"/>
              </a:rPr>
              <a:t>Is that a good summary of the file? Do not answer from the paragraph. Answer from the 24 rows.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03120"/>
            <a:ext cx="10149840" cy="2560320"/>
          </a:xfrm>
          <a:prstGeom prst="rect">
            <a:avLst/>
          </a:prstGeom>
          <a:noFill/>
        </p:spPr>
        <p:txBody>
          <a:bodyPr wrap="square" anchor="ctr" lIns="0" rIns="0" tIns="0" bIns="0">
            <a:spAutoFit/>
          </a:bodyPr>
          <a:lstStyle/>
          <a:p>
            <a:pPr algn="l">
              <a:lnSpc>
                <a:spcPct val="106000"/>
              </a:lnSpc>
              <a:spcAft>
                <a:spcPts val="600"/>
              </a:spcAft>
            </a:pPr>
            <a:r>
              <a:rPr sz="4400" b="1" i="0">
                <a:solidFill>
                  <a:srgbClr val="FFFFFF"/>
                </a:solidFill>
                <a:latin typeface="Barlow Condensed"/>
              </a:rPr>
              <a:t>One number can be correct
and still be a bad summary.</a:t>
            </a:r>
          </a:p>
        </p:txBody>
      </p:sp>
      <p:sp>
        <p:nvSpPr>
          <p:cNvPr id="4" name="TextBox 3"/>
          <p:cNvSpPr txBox="1"/>
          <p:nvPr/>
        </p:nvSpPr>
        <p:spPr>
          <a:xfrm>
            <a:off x="1005840" y="4800600"/>
            <a:ext cx="10149840" cy="457200"/>
          </a:xfrm>
          <a:prstGeom prst="rect">
            <a:avLst/>
          </a:prstGeom>
          <a:noFill/>
        </p:spPr>
        <p:txBody>
          <a:bodyPr wrap="square" anchor="t" lIns="0" rIns="0" tIns="0" bIns="0">
            <a:spAutoFit/>
          </a:bodyPr>
          <a:lstStyle/>
          <a:p>
            <a:pPr algn="l">
              <a:lnSpc>
                <a:spcPct val="100000"/>
              </a:lnSpc>
              <a:spcAft>
                <a:spcPts val="600"/>
              </a:spcAft>
            </a:pPr>
            <a:r>
              <a:rPr sz="1700" b="0" i="1">
                <a:solidFill>
                  <a:srgbClr val="6F8FAF"/>
                </a:solidFill>
                <a:latin typeface="Arial"/>
              </a:rPr>
              <a:t>Today the hunt is to identify what the compression throws away.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828800" cy="914400"/>
          </a:xfrm>
          <a:prstGeom prst="rect">
            <a:avLst/>
          </a:prstGeom>
          <a:noFill/>
        </p:spPr>
        <p:txBody>
          <a:bodyPr wrap="square" anchor="t" lIns="0" rIns="0" tIns="0" bIns="0">
            <a:spAutoFit/>
          </a:bodyPr>
          <a:lstStyle/>
          <a:p>
            <a:pPr algn="l">
              <a:lnSpc>
                <a:spcPct val="90000"/>
              </a:lnSpc>
              <a:spcAft>
                <a:spcPts val="600"/>
              </a:spcAft>
            </a:pPr>
            <a:r>
              <a:rPr sz="9000" b="1" i="0">
                <a:solidFill>
                  <a:srgbClr val="F26B1D"/>
                </a:solidFill>
                <a:latin typeface="Barlow Condensed"/>
              </a:rPr>
              <a:t>1</a:t>
            </a:r>
          </a:p>
        </p:txBody>
      </p:sp>
      <p:sp>
        <p:nvSpPr>
          <p:cNvPr id="4" name="TextBox 3"/>
          <p:cNvSpPr txBox="1"/>
          <p:nvPr/>
        </p:nvSpPr>
        <p:spPr>
          <a:xfrm>
            <a:off x="914400" y="3291840"/>
            <a:ext cx="10058400" cy="1280160"/>
          </a:xfrm>
          <a:prstGeom prst="rect">
            <a:avLst/>
          </a:prstGeom>
          <a:noFill/>
        </p:spPr>
        <p:txBody>
          <a:bodyPr wrap="square" anchor="t" lIns="0" rIns="0" tIns="0" bIns="0">
            <a:spAutoFit/>
          </a:bodyPr>
          <a:lstStyle/>
          <a:p>
            <a:pPr algn="l">
              <a:lnSpc>
                <a:spcPct val="100000"/>
              </a:lnSpc>
              <a:spcAft>
                <a:spcPts val="600"/>
              </a:spcAft>
            </a:pPr>
            <a:r>
              <a:rPr sz="4600" b="1" i="0">
                <a:solidFill>
                  <a:srgbClr val="FFFFFF"/>
                </a:solidFill>
                <a:latin typeface="Barlow Condensed"/>
              </a:rPr>
              <a:t>Build the summaries</a:t>
            </a:r>
          </a:p>
        </p:txBody>
      </p:sp>
      <p:sp>
        <p:nvSpPr>
          <p:cNvPr id="5" name="TextBox 4"/>
          <p:cNvSpPr txBox="1"/>
          <p:nvPr/>
        </p:nvSpPr>
        <p:spPr>
          <a:xfrm>
            <a:off x="914400" y="4572000"/>
            <a:ext cx="9144000" cy="731520"/>
          </a:xfrm>
          <a:prstGeom prst="rect">
            <a:avLst/>
          </a:prstGeom>
          <a:noFill/>
        </p:spPr>
        <p:txBody>
          <a:bodyPr wrap="square" anchor="t" lIns="0" rIns="0" tIns="0" bIns="0">
            <a:spAutoFit/>
          </a:bodyPr>
          <a:lstStyle/>
          <a:p>
            <a:pPr algn="l">
              <a:lnSpc>
                <a:spcPct val="120000"/>
              </a:lnSpc>
              <a:spcAft>
                <a:spcPts val="600"/>
              </a:spcAft>
            </a:pPr>
            <a:r>
              <a:rPr sz="1900" b="0" i="0">
                <a:solidFill>
                  <a:srgbClr val="6F8FAF"/>
                </a:solidFill>
                <a:latin typeface="Arial"/>
              </a:rPr>
              <a:t>Center, spread, and scale — three different jobs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First: name what is in the file</a:t>
            </a:r>
          </a:p>
        </p:txBody>
      </p:sp>
      <p:sp>
        <p:nvSpPr>
          <p:cNvPr id="4" name="TextBox 3"/>
          <p:cNvSpPr txBox="1"/>
          <p:nvPr/>
        </p:nvSpPr>
        <p:spPr>
          <a:xfrm>
            <a:off x="658368" y="1207008"/>
            <a:ext cx="10881360" cy="457200"/>
          </a:xfrm>
          <a:prstGeom prst="rect">
            <a:avLst/>
          </a:prstGeom>
          <a:noFill/>
        </p:spPr>
        <p:txBody>
          <a:bodyPr wrap="square" anchor="t" lIns="0" rIns="0" tIns="0" bIns="0">
            <a:spAutoFit/>
          </a:bodyPr>
          <a:lstStyle/>
          <a:p>
            <a:pPr algn="l">
              <a:lnSpc>
                <a:spcPct val="115000"/>
              </a:lnSpc>
              <a:spcAft>
                <a:spcPts val="600"/>
              </a:spcAft>
            </a:pPr>
            <a:r>
              <a:rPr sz="1700" b="0" i="0">
                <a:solidFill>
                  <a:srgbClr val="6B7280"/>
                </a:solidFill>
                <a:latin typeface="Arial"/>
              </a:rPr>
              <a:t>A dataset is not just a rectangle of numbers</a:t>
            </a:r>
          </a:p>
        </p:txBody>
      </p:sp>
      <p:sp>
        <p:nvSpPr>
          <p:cNvPr id="5" name="Oval 4"/>
          <p:cNvSpPr/>
          <p:nvPr/>
        </p:nvSpPr>
        <p:spPr>
          <a:xfrm>
            <a:off x="868680" y="2144268"/>
            <a:ext cx="77724" cy="77724"/>
          </a:xfrm>
          <a:prstGeom prst="ellipse">
            <a:avLst/>
          </a:prstGeom>
          <a:solidFill>
            <a:srgbClr val="3A7D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06424" y="2048255"/>
            <a:ext cx="10186416" cy="274320"/>
          </a:xfrm>
          <a:prstGeom prst="rect">
            <a:avLst/>
          </a:prstGeom>
          <a:noFill/>
        </p:spPr>
        <p:txBody>
          <a:bodyPr wrap="square" anchor="t" lIns="0" rIns="0" tIns="0" bIns="0">
            <a:spAutoFit/>
          </a:bodyPr>
          <a:lstStyle/>
          <a:p>
            <a:pPr algn="l">
              <a:lnSpc>
                <a:spcPct val="112000"/>
              </a:lnSpc>
              <a:spcAft>
                <a:spcPts val="0"/>
              </a:spcAft>
            </a:pPr>
            <a:r>
              <a:rPr sz="1800" b="1" i="0">
                <a:solidFill>
                  <a:srgbClr val="2B2F36"/>
                </a:solidFill>
                <a:latin typeface="Arial"/>
              </a:rPr>
              <a:t>Observational unit  </a:t>
            </a:r>
            <a:r>
              <a:rPr sz="1800" b="0" i="0">
                <a:solidFill>
                  <a:srgbClr val="2B2F36"/>
                </a:solidFill>
                <a:latin typeface="Arial"/>
              </a:rPr>
              <a:t>the thing represented by one row. Here, one tested core.</a:t>
            </a:r>
          </a:p>
        </p:txBody>
      </p:sp>
      <p:sp>
        <p:nvSpPr>
          <p:cNvPr id="7" name="Oval 6"/>
          <p:cNvSpPr/>
          <p:nvPr/>
        </p:nvSpPr>
        <p:spPr>
          <a:xfrm>
            <a:off x="868680" y="2858007"/>
            <a:ext cx="77724" cy="77724"/>
          </a:xfrm>
          <a:prstGeom prst="ellipse">
            <a:avLst/>
          </a:prstGeom>
          <a:solidFill>
            <a:srgbClr val="3A7D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6424" y="2761995"/>
            <a:ext cx="10186416" cy="274320"/>
          </a:xfrm>
          <a:prstGeom prst="rect">
            <a:avLst/>
          </a:prstGeom>
          <a:noFill/>
        </p:spPr>
        <p:txBody>
          <a:bodyPr wrap="square" anchor="t" lIns="0" rIns="0" tIns="0" bIns="0">
            <a:spAutoFit/>
          </a:bodyPr>
          <a:lstStyle/>
          <a:p>
            <a:pPr algn="l">
              <a:lnSpc>
                <a:spcPct val="112000"/>
              </a:lnSpc>
              <a:spcAft>
                <a:spcPts val="0"/>
              </a:spcAft>
            </a:pPr>
            <a:r>
              <a:rPr sz="1800" b="1" i="0">
                <a:solidFill>
                  <a:srgbClr val="2B2F36"/>
                </a:solidFill>
                <a:latin typeface="Arial"/>
              </a:rPr>
              <a:t>Variable  </a:t>
            </a:r>
            <a:r>
              <a:rPr sz="1800" b="0" i="0">
                <a:solidFill>
                  <a:srgbClr val="2B2F36"/>
                </a:solidFill>
                <a:latin typeface="Arial"/>
              </a:rPr>
              <a:t>a recorded feature that can change from row to row.</a:t>
            </a:r>
          </a:p>
        </p:txBody>
      </p:sp>
      <p:sp>
        <p:nvSpPr>
          <p:cNvPr id="9" name="Oval 8"/>
          <p:cNvSpPr/>
          <p:nvPr/>
        </p:nvSpPr>
        <p:spPr>
          <a:xfrm>
            <a:off x="868680" y="3297427"/>
            <a:ext cx="77724" cy="77724"/>
          </a:xfrm>
          <a:prstGeom prst="ellipse">
            <a:avLst/>
          </a:prstGeom>
          <a:solidFill>
            <a:srgbClr val="3A7D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6424" y="3201415"/>
            <a:ext cx="10186416" cy="274320"/>
          </a:xfrm>
          <a:prstGeom prst="rect">
            <a:avLst/>
          </a:prstGeom>
          <a:noFill/>
        </p:spPr>
        <p:txBody>
          <a:bodyPr wrap="square" anchor="t" lIns="0" rIns="0" tIns="0" bIns="0">
            <a:spAutoFit/>
          </a:bodyPr>
          <a:lstStyle/>
          <a:p>
            <a:pPr algn="l">
              <a:lnSpc>
                <a:spcPct val="112000"/>
              </a:lnSpc>
              <a:spcAft>
                <a:spcPts val="0"/>
              </a:spcAft>
            </a:pPr>
            <a:r>
              <a:rPr sz="1800" b="1" i="0">
                <a:solidFill>
                  <a:srgbClr val="2B2F36"/>
                </a:solidFill>
                <a:latin typeface="Arial"/>
              </a:rPr>
              <a:t>Quantitative variable  </a:t>
            </a:r>
            <a:r>
              <a:rPr sz="1800" b="0" i="0">
                <a:solidFill>
                  <a:srgbClr val="2B2F36"/>
                </a:solidFill>
                <a:latin typeface="Arial"/>
              </a:rPr>
              <a:t>a measured amount on which arithmetic is meaningful.</a:t>
            </a:r>
          </a:p>
        </p:txBody>
      </p:sp>
      <p:sp>
        <p:nvSpPr>
          <p:cNvPr id="11" name="Oval 10"/>
          <p:cNvSpPr/>
          <p:nvPr/>
        </p:nvSpPr>
        <p:spPr>
          <a:xfrm>
            <a:off x="868680" y="4011168"/>
            <a:ext cx="77724" cy="77724"/>
          </a:xfrm>
          <a:prstGeom prst="ellipse">
            <a:avLst/>
          </a:prstGeom>
          <a:solidFill>
            <a:srgbClr val="3A7D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6424" y="3915155"/>
            <a:ext cx="10186416" cy="274320"/>
          </a:xfrm>
          <a:prstGeom prst="rect">
            <a:avLst/>
          </a:prstGeom>
          <a:noFill/>
        </p:spPr>
        <p:txBody>
          <a:bodyPr wrap="square" anchor="t" lIns="0" rIns="0" tIns="0" bIns="0">
            <a:spAutoFit/>
          </a:bodyPr>
          <a:lstStyle/>
          <a:p>
            <a:pPr algn="l">
              <a:lnSpc>
                <a:spcPct val="112000"/>
              </a:lnSpc>
              <a:spcAft>
                <a:spcPts val="0"/>
              </a:spcAft>
            </a:pPr>
            <a:r>
              <a:rPr sz="1800" b="1" i="0">
                <a:solidFill>
                  <a:srgbClr val="2B2F36"/>
                </a:solidFill>
                <a:latin typeface="Arial"/>
              </a:rPr>
              <a:t>Categorical variable  </a:t>
            </a:r>
            <a:r>
              <a:rPr sz="1800" b="0" i="0">
                <a:solidFill>
                  <a:srgbClr val="2B2F36"/>
                </a:solidFill>
                <a:latin typeface="Arial"/>
              </a:rPr>
              <a:t>a label such as side or drill zone; it groups observations.</a:t>
            </a:r>
          </a:p>
        </p:txBody>
      </p:sp>
      <p:sp>
        <p:nvSpPr>
          <p:cNvPr id="13" name="Oval 12"/>
          <p:cNvSpPr/>
          <p:nvPr/>
        </p:nvSpPr>
        <p:spPr>
          <a:xfrm>
            <a:off x="868680" y="4724908"/>
            <a:ext cx="77724" cy="77724"/>
          </a:xfrm>
          <a:prstGeom prst="ellipse">
            <a:avLst/>
          </a:prstGeom>
          <a:solidFill>
            <a:srgbClr val="3A7D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06424" y="4628896"/>
            <a:ext cx="10186416" cy="274320"/>
          </a:xfrm>
          <a:prstGeom prst="rect">
            <a:avLst/>
          </a:prstGeom>
          <a:noFill/>
        </p:spPr>
        <p:txBody>
          <a:bodyPr wrap="square" anchor="t" lIns="0" rIns="0" tIns="0" bIns="0">
            <a:spAutoFit/>
          </a:bodyPr>
          <a:lstStyle/>
          <a:p>
            <a:pPr algn="l">
              <a:lnSpc>
                <a:spcPct val="112000"/>
              </a:lnSpc>
              <a:spcAft>
                <a:spcPts val="0"/>
              </a:spcAft>
            </a:pPr>
            <a:r>
              <a:rPr sz="1800" b="1" i="0">
                <a:solidFill>
                  <a:srgbClr val="2B2F36"/>
                </a:solidFill>
                <a:latin typeface="Arial"/>
              </a:rPr>
              <a:t>Dataset  </a:t>
            </a:r>
            <a:r>
              <a:rPr sz="1800" b="0" i="0">
                <a:solidFill>
                  <a:srgbClr val="2B2F36"/>
                </a:solidFill>
                <a:latin typeface="Arial"/>
              </a:rPr>
              <a:t>the observations and variables together, plus enough context to interpret them.</a:t>
            </a:r>
          </a:p>
        </p:txBody>
      </p:sp>
      <p:sp>
        <p:nvSpPr>
          <p:cNvPr id="15" name="Rounded Rectangle 14"/>
          <p:cNvSpPr/>
          <p:nvPr/>
        </p:nvSpPr>
        <p:spPr>
          <a:xfrm>
            <a:off x="658368" y="5385816"/>
            <a:ext cx="10853928" cy="1234440"/>
          </a:xfrm>
          <a:prstGeom prst="roundRect">
            <a:avLst>
              <a:gd name="adj" fmla="val 3500"/>
            </a:avLst>
          </a:prstGeom>
          <a:solidFill>
            <a:srgbClr val="FFF6E5"/>
          </a:solidFill>
          <a:ln w="15875">
            <a:solidFill>
              <a:srgbClr val="F2C2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5605272"/>
            <a:ext cx="103052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2B2F36"/>
                </a:solidFill>
                <a:latin typeface="Barlow Condensed"/>
              </a:rPr>
              <a:t>BEFORE ANY FORMULA</a:t>
            </a:r>
          </a:p>
        </p:txBody>
      </p:sp>
      <p:sp>
        <p:nvSpPr>
          <p:cNvPr id="17" name="TextBox 16"/>
          <p:cNvSpPr txBox="1"/>
          <p:nvPr/>
        </p:nvSpPr>
        <p:spPr>
          <a:xfrm>
            <a:off x="932688" y="6044184"/>
            <a:ext cx="10305288" cy="320040"/>
          </a:xfrm>
          <a:prstGeom prst="rect">
            <a:avLst/>
          </a:prstGeom>
          <a:noFill/>
        </p:spPr>
        <p:txBody>
          <a:bodyPr wrap="square" anchor="t" lIns="0" rIns="0" tIns="0" bIns="0">
            <a:spAutoFit/>
          </a:bodyPr>
          <a:lstStyle/>
          <a:p>
            <a:pPr algn="l">
              <a:lnSpc>
                <a:spcPct val="118000"/>
              </a:lnSpc>
              <a:spcAft>
                <a:spcPts val="700"/>
              </a:spcAft>
            </a:pPr>
            <a:r>
              <a:rPr sz="1400" b="0" i="0">
                <a:solidFill>
                  <a:srgbClr val="2B2F36"/>
                </a:solidFill>
                <a:latin typeface="Arial"/>
              </a:rPr>
              <a:t>Say what one row is and which variable you are summarizing.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Mean — where the values balance</a:t>
            </a:r>
          </a:p>
        </p:txBody>
      </p:sp>
      <p:sp>
        <p:nvSpPr>
          <p:cNvPr id="4" name="TextBox 3"/>
          <p:cNvSpPr txBox="1"/>
          <p:nvPr/>
        </p:nvSpPr>
        <p:spPr>
          <a:xfrm>
            <a:off x="658368" y="1207008"/>
            <a:ext cx="10881360" cy="457200"/>
          </a:xfrm>
          <a:prstGeom prst="rect">
            <a:avLst/>
          </a:prstGeom>
          <a:noFill/>
        </p:spPr>
        <p:txBody>
          <a:bodyPr wrap="square" anchor="t" lIns="0" rIns="0" tIns="0" bIns="0">
            <a:spAutoFit/>
          </a:bodyPr>
          <a:lstStyle/>
          <a:p>
            <a:pPr algn="l">
              <a:lnSpc>
                <a:spcPct val="115000"/>
              </a:lnSpc>
              <a:spcAft>
                <a:spcPts val="600"/>
              </a:spcAft>
            </a:pPr>
            <a:r>
              <a:rPr sz="1700" b="0" i="0">
                <a:solidFill>
                  <a:srgbClr val="6B7280"/>
                </a:solidFill>
                <a:latin typeface="Arial"/>
              </a:rPr>
              <a:t>Useful, reproducible, and blind to where individual values sit</a:t>
            </a:r>
          </a:p>
        </p:txBody>
      </p:sp>
      <p:sp>
        <p:nvSpPr>
          <p:cNvPr id="5" name="Rounded Rectangle 4"/>
          <p:cNvSpPr/>
          <p:nvPr/>
        </p:nvSpPr>
        <p:spPr>
          <a:xfrm>
            <a:off x="658368" y="2002536"/>
            <a:ext cx="10853928" cy="1143000"/>
          </a:xfrm>
          <a:prstGeom prst="roundRect">
            <a:avLst>
              <a:gd name="adj" fmla="val 5000"/>
            </a:avLst>
          </a:prstGeom>
          <a:solidFill>
            <a:srgbClr val="F4F6F8"/>
          </a:solidFill>
          <a:ln w="15875">
            <a:solidFill>
              <a:srgbClr val="E6E8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249424"/>
            <a:ext cx="10853928" cy="640080"/>
          </a:xfrm>
          <a:prstGeom prst="rect">
            <a:avLst/>
          </a:prstGeom>
          <a:noFill/>
        </p:spPr>
        <p:txBody>
          <a:bodyPr wrap="square" anchor="t" lIns="0" rIns="0" tIns="0" bIns="0">
            <a:spAutoFit/>
          </a:bodyPr>
          <a:lstStyle/>
          <a:p>
            <a:pPr algn="ctr">
              <a:lnSpc>
                <a:spcPct val="100000"/>
              </a:lnSpc>
              <a:spcAft>
                <a:spcPts val="600"/>
              </a:spcAft>
            </a:pPr>
            <a:r>
              <a:rPr sz="3700" b="1" i="0">
                <a:solidFill>
                  <a:srgbClr val="1F3A5F"/>
                </a:solidFill>
                <a:latin typeface="Courier New"/>
              </a:rPr>
              <a:t>x̄  =  Σ xᵢ / n</a:t>
            </a:r>
          </a:p>
        </p:txBody>
      </p:sp>
      <p:sp>
        <p:nvSpPr>
          <p:cNvPr id="7" name="Oval 6"/>
          <p:cNvSpPr/>
          <p:nvPr/>
        </p:nvSpPr>
        <p:spPr>
          <a:xfrm>
            <a:off x="868680" y="3653027"/>
            <a:ext cx="77724" cy="77724"/>
          </a:xfrm>
          <a:prstGeom prst="ellipse">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6424" y="3557015"/>
            <a:ext cx="10186416" cy="274320"/>
          </a:xfrm>
          <a:prstGeom prst="rect">
            <a:avLst/>
          </a:prstGeom>
          <a:noFill/>
        </p:spPr>
        <p:txBody>
          <a:bodyPr wrap="square" anchor="t" lIns="0" rIns="0" tIns="0" bIns="0">
            <a:spAutoFit/>
          </a:bodyPr>
          <a:lstStyle/>
          <a:p>
            <a:pPr algn="l">
              <a:lnSpc>
                <a:spcPct val="112000"/>
              </a:lnSpc>
              <a:spcAft>
                <a:spcPts val="0"/>
              </a:spcAft>
            </a:pPr>
            <a:r>
              <a:rPr sz="1900" b="1" i="0">
                <a:solidFill>
                  <a:srgbClr val="2B2F36"/>
                </a:solidFill>
                <a:latin typeface="Arial"/>
              </a:rPr>
              <a:t>It answers: </a:t>
            </a:r>
            <a:r>
              <a:rPr sz="1900" b="0" i="0">
                <a:solidFill>
                  <a:srgbClr val="2B2F36"/>
                </a:solidFill>
                <a:latin typeface="Arial"/>
              </a:rPr>
              <a:t>where is the center of these values?</a:t>
            </a:r>
          </a:p>
        </p:txBody>
      </p:sp>
      <p:sp>
        <p:nvSpPr>
          <p:cNvPr id="9" name="Oval 8"/>
          <p:cNvSpPr/>
          <p:nvPr/>
        </p:nvSpPr>
        <p:spPr>
          <a:xfrm>
            <a:off x="868680" y="4092447"/>
            <a:ext cx="77724" cy="77724"/>
          </a:xfrm>
          <a:prstGeom prst="ellipse">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6424" y="3996435"/>
            <a:ext cx="10186416" cy="274320"/>
          </a:xfrm>
          <a:prstGeom prst="rect">
            <a:avLst/>
          </a:prstGeom>
          <a:noFill/>
        </p:spPr>
        <p:txBody>
          <a:bodyPr wrap="square" anchor="t" lIns="0" rIns="0" tIns="0" bIns="0">
            <a:spAutoFit/>
          </a:bodyPr>
          <a:lstStyle/>
          <a:p>
            <a:pPr algn="l">
              <a:lnSpc>
                <a:spcPct val="112000"/>
              </a:lnSpc>
              <a:spcAft>
                <a:spcPts val="0"/>
              </a:spcAft>
            </a:pPr>
            <a:r>
              <a:rPr sz="1900" b="1" i="0">
                <a:solidFill>
                  <a:srgbClr val="2B2F36"/>
                </a:solidFill>
                <a:latin typeface="Arial"/>
              </a:rPr>
              <a:t>It does not answer: </a:t>
            </a:r>
            <a:r>
              <a:rPr sz="1900" b="0" i="0">
                <a:solidFill>
                  <a:srgbClr val="2B2F36"/>
                </a:solidFill>
                <a:latin typeface="Arial"/>
              </a:rPr>
              <a:t>how far apart are they, how many are low, or where the sample came from.</a:t>
            </a:r>
          </a:p>
        </p:txBody>
      </p:sp>
      <p:sp>
        <p:nvSpPr>
          <p:cNvPr id="11" name="Oval 10"/>
          <p:cNvSpPr/>
          <p:nvPr/>
        </p:nvSpPr>
        <p:spPr>
          <a:xfrm>
            <a:off x="868680" y="4806188"/>
            <a:ext cx="77724" cy="77724"/>
          </a:xfrm>
          <a:prstGeom prst="ellipse">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6424" y="4710176"/>
            <a:ext cx="10186416" cy="274320"/>
          </a:xfrm>
          <a:prstGeom prst="rect">
            <a:avLst/>
          </a:prstGeom>
          <a:noFill/>
        </p:spPr>
        <p:txBody>
          <a:bodyPr wrap="square" anchor="t" lIns="0" rIns="0" tIns="0" bIns="0">
            <a:spAutoFit/>
          </a:bodyPr>
          <a:lstStyle/>
          <a:p>
            <a:pPr algn="l">
              <a:lnSpc>
                <a:spcPct val="112000"/>
              </a:lnSpc>
              <a:spcAft>
                <a:spcPts val="0"/>
              </a:spcAft>
            </a:pPr>
            <a:r>
              <a:rPr sz="1900" b="1" i="0">
                <a:solidFill>
                  <a:srgbClr val="2B2F36"/>
                </a:solidFill>
                <a:latin typeface="Arial"/>
              </a:rPr>
              <a:t>Units stay the same: </a:t>
            </a:r>
            <a:r>
              <a:rPr sz="1900" b="0" i="0">
                <a:solidFill>
                  <a:srgbClr val="2B2F36"/>
                </a:solidFill>
                <a:latin typeface="Arial"/>
              </a:rPr>
              <a:t>psi in, psi out.</a:t>
            </a:r>
          </a:p>
        </p:txBody>
      </p:sp>
      <p:sp>
        <p:nvSpPr>
          <p:cNvPr id="13" name="Rounded Rectangle 12"/>
          <p:cNvSpPr/>
          <p:nvPr/>
        </p:nvSpPr>
        <p:spPr>
          <a:xfrm>
            <a:off x="658368" y="5550408"/>
            <a:ext cx="10853928" cy="1188720"/>
          </a:xfrm>
          <a:prstGeom prst="roundRect">
            <a:avLst>
              <a:gd name="adj" fmla="val 3500"/>
            </a:avLst>
          </a:prstGeom>
          <a:solidFill>
            <a:srgbClr val="F4F6F8"/>
          </a:solidFill>
          <a:ln w="15875">
            <a:solidFill>
              <a:srgbClr val="E6E8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5769864"/>
            <a:ext cx="103052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1F3A5F"/>
                </a:solidFill>
                <a:latin typeface="Barlow Condensed"/>
              </a:rPr>
              <a:t>SPREADSHEET</a:t>
            </a:r>
          </a:p>
        </p:txBody>
      </p:sp>
      <p:sp>
        <p:nvSpPr>
          <p:cNvPr id="15" name="TextBox 14"/>
          <p:cNvSpPr txBox="1"/>
          <p:nvPr/>
        </p:nvSpPr>
        <p:spPr>
          <a:xfrm>
            <a:off x="932688" y="6208776"/>
            <a:ext cx="10305288" cy="274320"/>
          </a:xfrm>
          <a:prstGeom prst="rect">
            <a:avLst/>
          </a:prstGeom>
          <a:noFill/>
        </p:spPr>
        <p:txBody>
          <a:bodyPr wrap="square" anchor="t" lIns="0" rIns="0" tIns="0" bIns="0">
            <a:spAutoFit/>
          </a:bodyPr>
          <a:lstStyle/>
          <a:p>
            <a:pPr algn="l">
              <a:lnSpc>
                <a:spcPct val="118000"/>
              </a:lnSpc>
              <a:spcAft>
                <a:spcPts val="700"/>
              </a:spcAft>
            </a:pPr>
            <a:r>
              <a:rPr sz="1400" b="0" i="0">
                <a:solidFill>
                  <a:srgbClr val="2B2F36"/>
                </a:solidFill>
                <a:latin typeface="Courier New"/>
              </a:rPr>
              <a:t>=AVERAGE(range)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Variance and standard deviation</a:t>
            </a:r>
          </a:p>
        </p:txBody>
      </p:sp>
      <p:sp>
        <p:nvSpPr>
          <p:cNvPr id="4" name="TextBox 3"/>
          <p:cNvSpPr txBox="1"/>
          <p:nvPr/>
        </p:nvSpPr>
        <p:spPr>
          <a:xfrm>
            <a:off x="658368" y="1207008"/>
            <a:ext cx="10881360" cy="457200"/>
          </a:xfrm>
          <a:prstGeom prst="rect">
            <a:avLst/>
          </a:prstGeom>
          <a:noFill/>
        </p:spPr>
        <p:txBody>
          <a:bodyPr wrap="square" anchor="t" lIns="0" rIns="0" tIns="0" bIns="0">
            <a:spAutoFit/>
          </a:bodyPr>
          <a:lstStyle/>
          <a:p>
            <a:pPr algn="l">
              <a:lnSpc>
                <a:spcPct val="115000"/>
              </a:lnSpc>
              <a:spcAft>
                <a:spcPts val="600"/>
              </a:spcAft>
            </a:pPr>
            <a:r>
              <a:rPr sz="1700" b="0" i="0">
                <a:solidFill>
                  <a:srgbClr val="6B7280"/>
                </a:solidFill>
                <a:latin typeface="Arial"/>
              </a:rPr>
              <a:t>How far the observations typically sit from the mean</a:t>
            </a:r>
          </a:p>
        </p:txBody>
      </p:sp>
      <p:sp>
        <p:nvSpPr>
          <p:cNvPr id="5" name="Rounded Rectangle 4"/>
          <p:cNvSpPr/>
          <p:nvPr/>
        </p:nvSpPr>
        <p:spPr>
          <a:xfrm>
            <a:off x="658368" y="1956816"/>
            <a:ext cx="5349240" cy="2926080"/>
          </a:xfrm>
          <a:prstGeom prst="roundRect">
            <a:avLst>
              <a:gd name="adj" fmla="val 3500"/>
            </a:avLst>
          </a:prstGeom>
          <a:solidFill>
            <a:srgbClr val="F4F6F8"/>
          </a:solidFill>
          <a:ln w="15875">
            <a:solidFill>
              <a:srgbClr val="E6E8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76272"/>
            <a:ext cx="4800600"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1F3A5F"/>
                </a:solidFill>
                <a:latin typeface="Barlow Condensed"/>
              </a:rPr>
              <a:t>SAMPLE VARIANCE  ·  s²</a:t>
            </a:r>
          </a:p>
        </p:txBody>
      </p:sp>
      <p:sp>
        <p:nvSpPr>
          <p:cNvPr id="7" name="TextBox 6"/>
          <p:cNvSpPr txBox="1"/>
          <p:nvPr/>
        </p:nvSpPr>
        <p:spPr>
          <a:xfrm>
            <a:off x="932688" y="2615184"/>
            <a:ext cx="4800600" cy="2011680"/>
          </a:xfrm>
          <a:prstGeom prst="rect">
            <a:avLst/>
          </a:prstGeom>
          <a:noFill/>
        </p:spPr>
        <p:txBody>
          <a:bodyPr wrap="square" anchor="t" lIns="0" rIns="0" tIns="0" bIns="0">
            <a:spAutoFit/>
          </a:bodyPr>
          <a:lstStyle/>
          <a:p>
            <a:pPr algn="l">
              <a:lnSpc>
                <a:spcPct val="118000"/>
              </a:lnSpc>
              <a:spcAft>
                <a:spcPts val="700"/>
              </a:spcAft>
            </a:pPr>
            <a:r>
              <a:rPr sz="1700" b="0" i="0">
                <a:solidFill>
                  <a:srgbClr val="2B2F36"/>
                </a:solidFill>
                <a:latin typeface="Arial"/>
              </a:rPr>
              <a:t>Square each distance from the mean, add them, divide by n − 1.</a:t>
            </a:r>
          </a:p>
          <a:p>
            <a:pPr algn="l">
              <a:lnSpc>
                <a:spcPct val="118000"/>
              </a:lnSpc>
              <a:spcAft>
                <a:spcPts val="700"/>
              </a:spcAft>
            </a:pPr>
            <a:r>
              <a:rPr sz="1700" b="0" i="0">
                <a:solidFill>
                  <a:srgbClr val="2B2F36"/>
                </a:solidFill>
                <a:latin typeface="Arial"/>
              </a:rPr>
              <a:t/>
            </a:r>
          </a:p>
          <a:p>
            <a:pPr algn="l">
              <a:lnSpc>
                <a:spcPct val="118000"/>
              </a:lnSpc>
              <a:spcAft>
                <a:spcPts val="700"/>
              </a:spcAft>
            </a:pPr>
            <a:r>
              <a:rPr sz="1700" b="0" i="0">
                <a:solidFill>
                  <a:srgbClr val="2B2F36"/>
                </a:solidFill>
                <a:latin typeface="Arial"/>
              </a:rPr>
              <a:t>Units are squared: psi².</a:t>
            </a:r>
          </a:p>
          <a:p>
            <a:pPr algn="l">
              <a:lnSpc>
                <a:spcPct val="118000"/>
              </a:lnSpc>
              <a:spcAft>
                <a:spcPts val="700"/>
              </a:spcAft>
            </a:pPr>
            <a:r>
              <a:rPr sz="1700" b="0" i="0">
                <a:solidFill>
                  <a:srgbClr val="2B2F36"/>
                </a:solidFill>
                <a:latin typeface="Arial"/>
              </a:rPr>
              <a:t/>
            </a:r>
          </a:p>
          <a:p>
            <a:pPr algn="l">
              <a:lnSpc>
                <a:spcPct val="118000"/>
              </a:lnSpc>
              <a:spcAft>
                <a:spcPts val="700"/>
              </a:spcAft>
            </a:pPr>
            <a:r>
              <a:rPr sz="1700" b="0" i="0">
                <a:solidFill>
                  <a:srgbClr val="2B2F36"/>
                </a:solidFill>
                <a:latin typeface="Arial"/>
              </a:rPr>
              <a:t>=VAR.S(range)</a:t>
            </a:r>
          </a:p>
        </p:txBody>
      </p:sp>
      <p:sp>
        <p:nvSpPr>
          <p:cNvPr id="8" name="Rounded Rectangle 7"/>
          <p:cNvSpPr/>
          <p:nvPr/>
        </p:nvSpPr>
        <p:spPr>
          <a:xfrm>
            <a:off x="6144768" y="1956816"/>
            <a:ext cx="5367528" cy="2926080"/>
          </a:xfrm>
          <a:prstGeom prst="roundRect">
            <a:avLst>
              <a:gd name="adj" fmla="val 3500"/>
            </a:avLst>
          </a:prstGeom>
          <a:solidFill>
            <a:srgbClr val="FFF6E5"/>
          </a:solidFill>
          <a:ln w="15875">
            <a:solidFill>
              <a:srgbClr val="F2C2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2176272"/>
            <a:ext cx="48188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2B2F36"/>
                </a:solidFill>
                <a:latin typeface="Barlow Condensed"/>
              </a:rPr>
              <a:t>SAMPLE STANDARD DEVIATION  ·  s</a:t>
            </a:r>
          </a:p>
        </p:txBody>
      </p:sp>
      <p:sp>
        <p:nvSpPr>
          <p:cNvPr id="10" name="TextBox 9"/>
          <p:cNvSpPr txBox="1"/>
          <p:nvPr/>
        </p:nvSpPr>
        <p:spPr>
          <a:xfrm>
            <a:off x="6419088" y="2615184"/>
            <a:ext cx="4818888" cy="2011680"/>
          </a:xfrm>
          <a:prstGeom prst="rect">
            <a:avLst/>
          </a:prstGeom>
          <a:noFill/>
        </p:spPr>
        <p:txBody>
          <a:bodyPr wrap="square" anchor="t" lIns="0" rIns="0" tIns="0" bIns="0">
            <a:spAutoFit/>
          </a:bodyPr>
          <a:lstStyle/>
          <a:p>
            <a:pPr algn="l">
              <a:lnSpc>
                <a:spcPct val="118000"/>
              </a:lnSpc>
              <a:spcAft>
                <a:spcPts val="700"/>
              </a:spcAft>
            </a:pPr>
            <a:r>
              <a:rPr sz="1700" b="0" i="0">
                <a:solidFill>
                  <a:srgbClr val="2B2F36"/>
                </a:solidFill>
                <a:latin typeface="Arial"/>
              </a:rPr>
              <a:t>Take the square root of variance.</a:t>
            </a:r>
          </a:p>
          <a:p>
            <a:pPr algn="l">
              <a:lnSpc>
                <a:spcPct val="118000"/>
              </a:lnSpc>
              <a:spcAft>
                <a:spcPts val="700"/>
              </a:spcAft>
            </a:pPr>
            <a:r>
              <a:rPr sz="1700" b="0" i="0">
                <a:solidFill>
                  <a:srgbClr val="2B2F36"/>
                </a:solidFill>
                <a:latin typeface="Arial"/>
              </a:rPr>
              <a:t/>
            </a:r>
          </a:p>
          <a:p>
            <a:pPr algn="l">
              <a:lnSpc>
                <a:spcPct val="118000"/>
              </a:lnSpc>
              <a:spcAft>
                <a:spcPts val="700"/>
              </a:spcAft>
            </a:pPr>
            <a:r>
              <a:rPr sz="1700" b="0" i="0">
                <a:solidFill>
                  <a:srgbClr val="2B2F36"/>
                </a:solidFill>
                <a:latin typeface="Arial"/>
              </a:rPr>
              <a:t>Back in the original units: psi.</a:t>
            </a:r>
          </a:p>
          <a:p>
            <a:pPr algn="l">
              <a:lnSpc>
                <a:spcPct val="118000"/>
              </a:lnSpc>
              <a:spcAft>
                <a:spcPts val="700"/>
              </a:spcAft>
            </a:pPr>
            <a:r>
              <a:rPr sz="1700" b="0" i="0">
                <a:solidFill>
                  <a:srgbClr val="2B2F36"/>
                </a:solidFill>
                <a:latin typeface="Arial"/>
              </a:rPr>
              <a:t/>
            </a:r>
          </a:p>
          <a:p>
            <a:pPr algn="l">
              <a:lnSpc>
                <a:spcPct val="118000"/>
              </a:lnSpc>
              <a:spcAft>
                <a:spcPts val="700"/>
              </a:spcAft>
            </a:pPr>
            <a:r>
              <a:rPr sz="1700" b="0" i="0">
                <a:solidFill>
                  <a:srgbClr val="2B2F36"/>
                </a:solidFill>
                <a:latin typeface="Arial"/>
              </a:rPr>
              <a:t>=STDEV.S(range)</a:t>
            </a:r>
          </a:p>
        </p:txBody>
      </p:sp>
      <p:sp>
        <p:nvSpPr>
          <p:cNvPr id="11" name="TextBox 10"/>
          <p:cNvSpPr txBox="1"/>
          <p:nvPr/>
        </p:nvSpPr>
        <p:spPr>
          <a:xfrm>
            <a:off x="868680" y="5202936"/>
            <a:ext cx="10424160" cy="914400"/>
          </a:xfrm>
          <a:prstGeom prst="rect">
            <a:avLst/>
          </a:prstGeom>
          <a:noFill/>
        </p:spPr>
        <p:txBody>
          <a:bodyPr wrap="square" anchor="t" lIns="0" rIns="0" tIns="0" bIns="0">
            <a:spAutoFit/>
          </a:bodyPr>
          <a:lstStyle/>
          <a:p>
            <a:pPr algn="ctr">
              <a:lnSpc>
                <a:spcPct val="100000"/>
              </a:lnSpc>
              <a:spcAft>
                <a:spcPts val="600"/>
              </a:spcAft>
            </a:pPr>
            <a:r>
              <a:rPr sz="2100" b="1" i="0">
                <a:solidFill>
                  <a:srgbClr val="1F3A5F"/>
                </a:solidFill>
                <a:latin typeface="Arial"/>
              </a:rPr>
              <a:t>Same mean + different standard deviation = different engineering story.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Coefficient of variation puts spread on a relative scale</a:t>
            </a:r>
          </a:p>
        </p:txBody>
      </p:sp>
      <p:sp>
        <p:nvSpPr>
          <p:cNvPr id="4" name="TextBox 3"/>
          <p:cNvSpPr txBox="1"/>
          <p:nvPr/>
        </p:nvSpPr>
        <p:spPr>
          <a:xfrm>
            <a:off x="658368" y="1207008"/>
            <a:ext cx="10881360" cy="457200"/>
          </a:xfrm>
          <a:prstGeom prst="rect">
            <a:avLst/>
          </a:prstGeom>
          <a:noFill/>
        </p:spPr>
        <p:txBody>
          <a:bodyPr wrap="square" anchor="t" lIns="0" rIns="0" tIns="0" bIns="0">
            <a:spAutoFit/>
          </a:bodyPr>
          <a:lstStyle/>
          <a:p>
            <a:pPr algn="l">
              <a:lnSpc>
                <a:spcPct val="115000"/>
              </a:lnSpc>
              <a:spcAft>
                <a:spcPts val="600"/>
              </a:spcAft>
            </a:pPr>
            <a:r>
              <a:rPr sz="1700" b="0" i="0">
                <a:solidFill>
                  <a:srgbClr val="6B7280"/>
                </a:solidFill>
                <a:latin typeface="Arial"/>
              </a:rPr>
              <a:t>Useful when the size of the mean changes</a:t>
            </a:r>
          </a:p>
        </p:txBody>
      </p:sp>
      <p:sp>
        <p:nvSpPr>
          <p:cNvPr id="5" name="Rounded Rectangle 4"/>
          <p:cNvSpPr/>
          <p:nvPr/>
        </p:nvSpPr>
        <p:spPr>
          <a:xfrm>
            <a:off x="658368" y="2002536"/>
            <a:ext cx="10853928" cy="1143000"/>
          </a:xfrm>
          <a:prstGeom prst="roundRect">
            <a:avLst>
              <a:gd name="adj" fmla="val 5000"/>
            </a:avLst>
          </a:prstGeom>
          <a:solidFill>
            <a:srgbClr val="FFF1E8"/>
          </a:solidFill>
          <a:ln w="15875">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231136"/>
            <a:ext cx="10853928" cy="658368"/>
          </a:xfrm>
          <a:prstGeom prst="rect">
            <a:avLst/>
          </a:prstGeom>
          <a:noFill/>
        </p:spPr>
        <p:txBody>
          <a:bodyPr wrap="square" anchor="t" lIns="0" rIns="0" tIns="0" bIns="0">
            <a:spAutoFit/>
          </a:bodyPr>
          <a:lstStyle/>
          <a:p>
            <a:pPr algn="ctr">
              <a:lnSpc>
                <a:spcPct val="100000"/>
              </a:lnSpc>
              <a:spcAft>
                <a:spcPts val="600"/>
              </a:spcAft>
            </a:pPr>
            <a:r>
              <a:rPr sz="3600" b="1" i="0">
                <a:solidFill>
                  <a:srgbClr val="F26B1D"/>
                </a:solidFill>
                <a:latin typeface="Courier New"/>
              </a:rPr>
              <a:t>CV  =  s / x̄  ×  100%</a:t>
            </a:r>
          </a:p>
        </p:txBody>
      </p:sp>
      <p:sp>
        <p:nvSpPr>
          <p:cNvPr id="7" name="Oval 6"/>
          <p:cNvSpPr/>
          <p:nvPr/>
        </p:nvSpPr>
        <p:spPr>
          <a:xfrm>
            <a:off x="868680" y="3653027"/>
            <a:ext cx="77724" cy="77724"/>
          </a:xfrm>
          <a:prstGeom prst="ellipse">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06424" y="3557015"/>
            <a:ext cx="10186416" cy="274320"/>
          </a:xfrm>
          <a:prstGeom prst="rect">
            <a:avLst/>
          </a:prstGeom>
          <a:noFill/>
        </p:spPr>
        <p:txBody>
          <a:bodyPr wrap="square" anchor="t" lIns="0" rIns="0" tIns="0" bIns="0">
            <a:spAutoFit/>
          </a:bodyPr>
          <a:lstStyle/>
          <a:p>
            <a:pPr algn="l">
              <a:lnSpc>
                <a:spcPct val="112000"/>
              </a:lnSpc>
              <a:spcAft>
                <a:spcPts val="0"/>
              </a:spcAft>
            </a:pPr>
            <a:r>
              <a:rPr sz="1800" b="1" i="0">
                <a:solidFill>
                  <a:srgbClr val="2B2F36"/>
                </a:solidFill>
                <a:latin typeface="Arial"/>
              </a:rPr>
              <a:t>Standard deviation  </a:t>
            </a:r>
            <a:r>
              <a:rPr sz="1800" b="0" i="0">
                <a:solidFill>
                  <a:srgbClr val="2B2F36"/>
                </a:solidFill>
                <a:latin typeface="Arial"/>
              </a:rPr>
              <a:t>keeps the engineering units. It says how many psi.</a:t>
            </a:r>
          </a:p>
        </p:txBody>
      </p:sp>
      <p:sp>
        <p:nvSpPr>
          <p:cNvPr id="9" name="Oval 8"/>
          <p:cNvSpPr/>
          <p:nvPr/>
        </p:nvSpPr>
        <p:spPr>
          <a:xfrm>
            <a:off x="868680" y="4092447"/>
            <a:ext cx="77724" cy="77724"/>
          </a:xfrm>
          <a:prstGeom prst="ellipse">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6424" y="3996435"/>
            <a:ext cx="10186416" cy="274320"/>
          </a:xfrm>
          <a:prstGeom prst="rect">
            <a:avLst/>
          </a:prstGeom>
          <a:noFill/>
        </p:spPr>
        <p:txBody>
          <a:bodyPr wrap="square" anchor="t" lIns="0" rIns="0" tIns="0" bIns="0">
            <a:spAutoFit/>
          </a:bodyPr>
          <a:lstStyle/>
          <a:p>
            <a:pPr algn="l">
              <a:lnSpc>
                <a:spcPct val="112000"/>
              </a:lnSpc>
              <a:spcAft>
                <a:spcPts val="0"/>
              </a:spcAft>
            </a:pPr>
            <a:r>
              <a:rPr sz="1800" b="1" i="0">
                <a:solidFill>
                  <a:srgbClr val="2B2F36"/>
                </a:solidFill>
                <a:latin typeface="Arial"/>
              </a:rPr>
              <a:t>Coefficient of variation  </a:t>
            </a:r>
            <a:r>
              <a:rPr sz="1800" b="0" i="0">
                <a:solidFill>
                  <a:srgbClr val="2B2F36"/>
                </a:solidFill>
                <a:latin typeface="Arial"/>
              </a:rPr>
              <a:t>removes the units. It says how large the spread is relative to the mean.</a:t>
            </a:r>
          </a:p>
        </p:txBody>
      </p:sp>
      <p:sp>
        <p:nvSpPr>
          <p:cNvPr id="11" name="Oval 10"/>
          <p:cNvSpPr/>
          <p:nvPr/>
        </p:nvSpPr>
        <p:spPr>
          <a:xfrm>
            <a:off x="868680" y="4806188"/>
            <a:ext cx="77724" cy="77724"/>
          </a:xfrm>
          <a:prstGeom prst="ellipse">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6424" y="4710176"/>
            <a:ext cx="10186416" cy="274320"/>
          </a:xfrm>
          <a:prstGeom prst="rect">
            <a:avLst/>
          </a:prstGeom>
          <a:noFill/>
        </p:spPr>
        <p:txBody>
          <a:bodyPr wrap="square" anchor="t" lIns="0" rIns="0" tIns="0" bIns="0">
            <a:spAutoFit/>
          </a:bodyPr>
          <a:lstStyle/>
          <a:p>
            <a:pPr algn="l">
              <a:lnSpc>
                <a:spcPct val="112000"/>
              </a:lnSpc>
              <a:spcAft>
                <a:spcPts val="0"/>
              </a:spcAft>
            </a:pPr>
            <a:r>
              <a:rPr sz="1800" b="1" i="0">
                <a:solidFill>
                  <a:srgbClr val="2B2F36"/>
                </a:solidFill>
                <a:latin typeface="Arial"/>
              </a:rPr>
              <a:t>Read it as a comparison, not a verdict. </a:t>
            </a:r>
            <a:r>
              <a:rPr sz="1800" b="0" i="0">
                <a:solidFill>
                  <a:srgbClr val="2B2F36"/>
                </a:solidFill>
                <a:latin typeface="Arial"/>
              </a:rPr>
              <a:t>CV has no universal pass/fail boundary.</a:t>
            </a:r>
          </a:p>
        </p:txBody>
      </p:sp>
      <p:sp>
        <p:nvSpPr>
          <p:cNvPr id="13" name="Rounded Rectangle 12"/>
          <p:cNvSpPr/>
          <p:nvPr/>
        </p:nvSpPr>
        <p:spPr>
          <a:xfrm>
            <a:off x="658368" y="5550408"/>
            <a:ext cx="10853928" cy="1188720"/>
          </a:xfrm>
          <a:prstGeom prst="roundRect">
            <a:avLst>
              <a:gd name="adj" fmla="val 3500"/>
            </a:avLst>
          </a:prstGeom>
          <a:solidFill>
            <a:srgbClr val="F4F6F8"/>
          </a:solidFill>
          <a:ln w="15875">
            <a:solidFill>
              <a:srgbClr val="E6E8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5769864"/>
            <a:ext cx="103052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1F3A5F"/>
                </a:solidFill>
                <a:latin typeface="Barlow Condensed"/>
              </a:rPr>
              <a:t>SPREADSHEET</a:t>
            </a:r>
          </a:p>
        </p:txBody>
      </p:sp>
      <p:sp>
        <p:nvSpPr>
          <p:cNvPr id="15" name="TextBox 14"/>
          <p:cNvSpPr txBox="1"/>
          <p:nvPr/>
        </p:nvSpPr>
        <p:spPr>
          <a:xfrm>
            <a:off x="932688" y="6208776"/>
            <a:ext cx="10305288" cy="274320"/>
          </a:xfrm>
          <a:prstGeom prst="rect">
            <a:avLst/>
          </a:prstGeom>
          <a:noFill/>
        </p:spPr>
        <p:txBody>
          <a:bodyPr wrap="square" anchor="t" lIns="0" rIns="0" tIns="0" bIns="0">
            <a:spAutoFit/>
          </a:bodyPr>
          <a:lstStyle/>
          <a:p>
            <a:pPr algn="l">
              <a:lnSpc>
                <a:spcPct val="118000"/>
              </a:lnSpc>
              <a:spcAft>
                <a:spcPts val="700"/>
              </a:spcAft>
            </a:pPr>
            <a:r>
              <a:rPr sz="1400" b="0" i="0">
                <a:solidFill>
                  <a:srgbClr val="2B2F36"/>
                </a:solidFill>
                <a:latin typeface="Courier New"/>
              </a:rPr>
              <a:t>=STDEV.S(range)/AVERAGE(range)  ·  format as percent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81360" cy="777240"/>
          </a:xfrm>
          <a:prstGeom prst="rect">
            <a:avLst/>
          </a:prstGeom>
          <a:noFill/>
        </p:spPr>
        <p:txBody>
          <a:bodyPr wrap="square" anchor="t" lIns="0" rIns="0" tIns="0" bIns="0">
            <a:spAutoFit/>
          </a:bodyPr>
          <a:lstStyle/>
          <a:p>
            <a:pPr algn="l">
              <a:lnSpc>
                <a:spcPct val="98000"/>
              </a:lnSpc>
              <a:spcAft>
                <a:spcPts val="600"/>
              </a:spcAft>
            </a:pPr>
            <a:r>
              <a:rPr sz="3800" b="1" i="0">
                <a:solidFill>
                  <a:srgbClr val="1F3A5F"/>
                </a:solidFill>
                <a:latin typeface="Barlow Condensed"/>
              </a:rPr>
              <a:t>Sample or population?</a:t>
            </a:r>
          </a:p>
        </p:txBody>
      </p:sp>
      <p:sp>
        <p:nvSpPr>
          <p:cNvPr id="4" name="TextBox 3"/>
          <p:cNvSpPr txBox="1"/>
          <p:nvPr/>
        </p:nvSpPr>
        <p:spPr>
          <a:xfrm>
            <a:off x="658368" y="1207008"/>
            <a:ext cx="10881360" cy="457200"/>
          </a:xfrm>
          <a:prstGeom prst="rect">
            <a:avLst/>
          </a:prstGeom>
          <a:noFill/>
        </p:spPr>
        <p:txBody>
          <a:bodyPr wrap="square" anchor="t" lIns="0" rIns="0" tIns="0" bIns="0">
            <a:spAutoFit/>
          </a:bodyPr>
          <a:lstStyle/>
          <a:p>
            <a:pPr algn="l">
              <a:lnSpc>
                <a:spcPct val="115000"/>
              </a:lnSpc>
              <a:spcAft>
                <a:spcPts val="600"/>
              </a:spcAft>
            </a:pPr>
            <a:r>
              <a:rPr sz="1700" b="0" i="0">
                <a:solidFill>
                  <a:srgbClr val="6B7280"/>
                </a:solidFill>
                <a:latin typeface="Arial"/>
              </a:rPr>
              <a:t>The formula is a claim about what your file represents</a:t>
            </a:r>
          </a:p>
        </p:txBody>
      </p:sp>
      <p:sp>
        <p:nvSpPr>
          <p:cNvPr id="5" name="Rounded Rectangle 4"/>
          <p:cNvSpPr/>
          <p:nvPr/>
        </p:nvSpPr>
        <p:spPr>
          <a:xfrm>
            <a:off x="658368" y="1956816"/>
            <a:ext cx="5349240" cy="2971800"/>
          </a:xfrm>
          <a:prstGeom prst="roundRect">
            <a:avLst>
              <a:gd name="adj" fmla="val 3500"/>
            </a:avLst>
          </a:prstGeom>
          <a:solidFill>
            <a:srgbClr val="EEF3F8"/>
          </a:solidFill>
          <a:ln w="15875">
            <a:solidFill>
              <a:srgbClr val="3A7D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176272"/>
            <a:ext cx="4800600"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1F3A5F"/>
                </a:solidFill>
                <a:latin typeface="Barlow Condensed"/>
              </a:rPr>
              <a:t>SAMPLE  ·  USE .S</a:t>
            </a:r>
          </a:p>
        </p:txBody>
      </p:sp>
      <p:sp>
        <p:nvSpPr>
          <p:cNvPr id="7" name="TextBox 6"/>
          <p:cNvSpPr txBox="1"/>
          <p:nvPr/>
        </p:nvSpPr>
        <p:spPr>
          <a:xfrm>
            <a:off x="932688" y="2615184"/>
            <a:ext cx="4800600" cy="2057400"/>
          </a:xfrm>
          <a:prstGeom prst="rect">
            <a:avLst/>
          </a:prstGeom>
          <a:noFill/>
        </p:spPr>
        <p:txBody>
          <a:bodyPr wrap="square" anchor="t" lIns="0" rIns="0" tIns="0" bIns="0">
            <a:spAutoFit/>
          </a:bodyPr>
          <a:lstStyle/>
          <a:p>
            <a:pPr algn="l">
              <a:lnSpc>
                <a:spcPct val="118000"/>
              </a:lnSpc>
              <a:spcAft>
                <a:spcPts val="700"/>
              </a:spcAft>
            </a:pPr>
            <a:r>
              <a:rPr sz="1500" b="0" i="0">
                <a:solidFill>
                  <a:srgbClr val="2B2F36"/>
                </a:solidFill>
                <a:latin typeface="Arial"/>
              </a:rPr>
              <a:t>The 24 cores are evidence about a larger physical deck.</a:t>
            </a:r>
          </a:p>
          <a:p>
            <a:pPr algn="l">
              <a:lnSpc>
                <a:spcPct val="118000"/>
              </a:lnSpc>
              <a:spcAft>
                <a:spcPts val="700"/>
              </a:spcAft>
            </a:pPr>
            <a:r>
              <a:rPr sz="1500" b="0" i="0">
                <a:solidFill>
                  <a:srgbClr val="2B2F36"/>
                </a:solidFill>
                <a:latin typeface="Arial"/>
              </a:rPr>
              <a:t/>
            </a:r>
          </a:p>
          <a:p>
            <a:pPr algn="l">
              <a:lnSpc>
                <a:spcPct val="118000"/>
              </a:lnSpc>
              <a:spcAft>
                <a:spcPts val="700"/>
              </a:spcAft>
            </a:pPr>
            <a:r>
              <a:rPr sz="1500" b="0" i="0">
                <a:solidFill>
                  <a:srgbClr val="2B2F36"/>
                </a:solidFill>
                <a:latin typeface="Arial"/>
              </a:rPr>
              <a:t>Use STDEV.S and VAR.S.</a:t>
            </a:r>
          </a:p>
          <a:p>
            <a:pPr algn="l">
              <a:lnSpc>
                <a:spcPct val="118000"/>
              </a:lnSpc>
              <a:spcAft>
                <a:spcPts val="700"/>
              </a:spcAft>
            </a:pPr>
            <a:r>
              <a:rPr sz="1500" b="0" i="0">
                <a:solidFill>
                  <a:srgbClr val="2B2F36"/>
                </a:solidFill>
                <a:latin typeface="Arial"/>
              </a:rPr>
              <a:t/>
            </a:r>
          </a:p>
          <a:p>
            <a:pPr algn="l">
              <a:lnSpc>
                <a:spcPct val="118000"/>
              </a:lnSpc>
              <a:spcAft>
                <a:spcPts val="700"/>
              </a:spcAft>
            </a:pPr>
            <a:r>
              <a:rPr sz="1500" b="0" i="0">
                <a:solidFill>
                  <a:srgbClr val="2B2F36"/>
                </a:solidFill>
                <a:latin typeface="Arial"/>
              </a:rPr>
              <a:t>The n − 1 denominator accounts for estimating spread from a sample.</a:t>
            </a:r>
          </a:p>
        </p:txBody>
      </p:sp>
      <p:sp>
        <p:nvSpPr>
          <p:cNvPr id="8" name="Rounded Rectangle 7"/>
          <p:cNvSpPr/>
          <p:nvPr/>
        </p:nvSpPr>
        <p:spPr>
          <a:xfrm>
            <a:off x="6144768" y="1956816"/>
            <a:ext cx="5367528" cy="2971800"/>
          </a:xfrm>
          <a:prstGeom prst="roundRect">
            <a:avLst>
              <a:gd name="adj" fmla="val 3500"/>
            </a:avLst>
          </a:prstGeom>
          <a:solidFill>
            <a:srgbClr val="F4F6F8"/>
          </a:solidFill>
          <a:ln w="15875">
            <a:solidFill>
              <a:srgbClr val="E6E8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19088" y="2176272"/>
            <a:ext cx="48188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1F3A5F"/>
                </a:solidFill>
                <a:latin typeface="Barlow Condensed"/>
              </a:rPr>
              <a:t>POPULATION  ·  USE .P</a:t>
            </a:r>
          </a:p>
        </p:txBody>
      </p:sp>
      <p:sp>
        <p:nvSpPr>
          <p:cNvPr id="10" name="TextBox 9"/>
          <p:cNvSpPr txBox="1"/>
          <p:nvPr/>
        </p:nvSpPr>
        <p:spPr>
          <a:xfrm>
            <a:off x="6419088" y="2615184"/>
            <a:ext cx="4818888" cy="2057400"/>
          </a:xfrm>
          <a:prstGeom prst="rect">
            <a:avLst/>
          </a:prstGeom>
          <a:noFill/>
        </p:spPr>
        <p:txBody>
          <a:bodyPr wrap="square" anchor="t" lIns="0" rIns="0" tIns="0" bIns="0">
            <a:spAutoFit/>
          </a:bodyPr>
          <a:lstStyle/>
          <a:p>
            <a:pPr algn="l">
              <a:lnSpc>
                <a:spcPct val="118000"/>
              </a:lnSpc>
              <a:spcAft>
                <a:spcPts val="700"/>
              </a:spcAft>
            </a:pPr>
            <a:r>
              <a:rPr sz="1700" b="0" i="0">
                <a:solidFill>
                  <a:srgbClr val="2B2F36"/>
                </a:solidFill>
                <a:latin typeface="Arial"/>
              </a:rPr>
              <a:t>Use only when the file contains every member of the population you intend to describe.</a:t>
            </a:r>
          </a:p>
          <a:p>
            <a:pPr algn="l">
              <a:lnSpc>
                <a:spcPct val="118000"/>
              </a:lnSpc>
              <a:spcAft>
                <a:spcPts val="700"/>
              </a:spcAft>
            </a:pPr>
            <a:r>
              <a:rPr sz="1700" b="0" i="0">
                <a:solidFill>
                  <a:srgbClr val="2B2F36"/>
                </a:solidFill>
                <a:latin typeface="Arial"/>
              </a:rPr>
              <a:t/>
            </a:r>
          </a:p>
          <a:p>
            <a:pPr algn="l">
              <a:lnSpc>
                <a:spcPct val="118000"/>
              </a:lnSpc>
              <a:spcAft>
                <a:spcPts val="700"/>
              </a:spcAft>
            </a:pPr>
            <a:r>
              <a:rPr sz="1700" b="0" i="0">
                <a:solidFill>
                  <a:srgbClr val="2B2F36"/>
                </a:solidFill>
                <a:latin typeface="Arial"/>
              </a:rPr>
              <a:t>STDEV.P answers a different question. It is not the “more exact” button.</a:t>
            </a:r>
          </a:p>
        </p:txBody>
      </p:sp>
      <p:sp>
        <p:nvSpPr>
          <p:cNvPr id="11" name="Rounded Rectangle 10"/>
          <p:cNvSpPr/>
          <p:nvPr/>
        </p:nvSpPr>
        <p:spPr>
          <a:xfrm>
            <a:off x="658368" y="5202936"/>
            <a:ext cx="10853928" cy="1234440"/>
          </a:xfrm>
          <a:prstGeom prst="roundRect">
            <a:avLst>
              <a:gd name="adj" fmla="val 3500"/>
            </a:avLst>
          </a:prstGeom>
          <a:solidFill>
            <a:srgbClr val="FFF6E5"/>
          </a:solidFill>
          <a:ln w="15875">
            <a:solidFill>
              <a:srgbClr val="F2C2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5422392"/>
            <a:ext cx="10305288"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2B2F36"/>
                </a:solidFill>
                <a:latin typeface="Barlow Condensed"/>
              </a:rPr>
              <a:t>TODAY</a:t>
            </a:r>
          </a:p>
        </p:txBody>
      </p:sp>
      <p:sp>
        <p:nvSpPr>
          <p:cNvPr id="13" name="TextBox 12"/>
          <p:cNvSpPr txBox="1"/>
          <p:nvPr/>
        </p:nvSpPr>
        <p:spPr>
          <a:xfrm>
            <a:off x="932688" y="5861303"/>
            <a:ext cx="10305288" cy="320040"/>
          </a:xfrm>
          <a:prstGeom prst="rect">
            <a:avLst/>
          </a:prstGeom>
          <a:noFill/>
        </p:spPr>
        <p:txBody>
          <a:bodyPr wrap="square" anchor="t" lIns="0" rIns="0" tIns="0" bIns="0">
            <a:spAutoFit/>
          </a:bodyPr>
          <a:lstStyle/>
          <a:p>
            <a:pPr algn="l">
              <a:lnSpc>
                <a:spcPct val="118000"/>
              </a:lnSpc>
              <a:spcAft>
                <a:spcPts val="700"/>
              </a:spcAft>
            </a:pPr>
            <a:r>
              <a:rPr sz="1500" b="0" i="0">
                <a:solidFill>
                  <a:srgbClr val="2B2F36"/>
                </a:solidFill>
                <a:latin typeface="Arial"/>
              </a:rPr>
              <a:t>Twenty-four tested cores are the full file, but they are not the whole deck.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508760"/>
          </a:xfrm>
          <a:prstGeom prst="rect">
            <a:avLst/>
          </a:prstGeom>
          <a:solidFill>
            <a:srgbClr val="F2C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329184"/>
            <a:ext cx="8595360" cy="457200"/>
          </a:xfrm>
          <a:prstGeom prst="rect">
            <a:avLst/>
          </a:prstGeom>
          <a:noFill/>
        </p:spPr>
        <p:txBody>
          <a:bodyPr wrap="square" anchor="t" lIns="0" rIns="0" tIns="0" bIns="0">
            <a:spAutoFit/>
          </a:bodyPr>
          <a:lstStyle/>
          <a:p>
            <a:pPr algn="l">
              <a:lnSpc>
                <a:spcPct val="100000"/>
              </a:lnSpc>
              <a:spcAft>
                <a:spcPts val="600"/>
              </a:spcAft>
            </a:pPr>
            <a:r>
              <a:rPr sz="1500" b="1" i="0">
                <a:solidFill>
                  <a:srgbClr val="2B2F36"/>
                </a:solidFill>
                <a:latin typeface="Barlow Condensed"/>
              </a:rPr>
              <a:t>IN CLASS — DO THIS NOW</a:t>
            </a:r>
          </a:p>
        </p:txBody>
      </p:sp>
      <p:sp>
        <p:nvSpPr>
          <p:cNvPr id="5" name="TextBox 4"/>
          <p:cNvSpPr txBox="1"/>
          <p:nvPr/>
        </p:nvSpPr>
        <p:spPr>
          <a:xfrm>
            <a:off x="658368" y="713232"/>
            <a:ext cx="8595360" cy="640080"/>
          </a:xfrm>
          <a:prstGeom prst="rect">
            <a:avLst/>
          </a:prstGeom>
          <a:noFill/>
        </p:spPr>
        <p:txBody>
          <a:bodyPr wrap="square" anchor="t" lIns="0" rIns="0" tIns="0" bIns="0">
            <a:spAutoFit/>
          </a:bodyPr>
          <a:lstStyle/>
          <a:p>
            <a:pPr algn="l">
              <a:lnSpc>
                <a:spcPct val="100000"/>
              </a:lnSpc>
              <a:spcAft>
                <a:spcPts val="600"/>
              </a:spcAft>
            </a:pPr>
            <a:r>
              <a:rPr sz="3400" b="1" i="0">
                <a:solidFill>
                  <a:srgbClr val="2B2F36"/>
                </a:solidFill>
                <a:latin typeface="Barlow Condensed"/>
              </a:rPr>
              <a:t>Hunt the story FOREMAN compressed</a:t>
            </a:r>
          </a:p>
        </p:txBody>
      </p:sp>
      <p:sp>
        <p:nvSpPr>
          <p:cNvPr id="6" name="Rounded Rectangle 5"/>
          <p:cNvSpPr/>
          <p:nvPr/>
        </p:nvSpPr>
        <p:spPr>
          <a:xfrm>
            <a:off x="9966960" y="384048"/>
            <a:ext cx="1572768" cy="749808"/>
          </a:xfrm>
          <a:prstGeom prst="roundRect">
            <a:avLst>
              <a:gd name="adj" fmla="val 12000"/>
            </a:avLst>
          </a:prstGeom>
          <a:solidFill>
            <a:srgbClr val="2B2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966960" y="475488"/>
            <a:ext cx="1572768" cy="566928"/>
          </a:xfrm>
          <a:prstGeom prst="rect">
            <a:avLst/>
          </a:prstGeom>
          <a:noFill/>
        </p:spPr>
        <p:txBody>
          <a:bodyPr wrap="square" anchor="t" lIns="0" rIns="0" tIns="0" bIns="0">
            <a:spAutoFit/>
          </a:bodyPr>
          <a:lstStyle/>
          <a:p>
            <a:pPr algn="ctr">
              <a:lnSpc>
                <a:spcPct val="100000"/>
              </a:lnSpc>
              <a:spcAft>
                <a:spcPts val="600"/>
              </a:spcAft>
            </a:pPr>
            <a:r>
              <a:rPr sz="2600" b="1" i="0">
                <a:solidFill>
                  <a:srgbClr val="F2C230"/>
                </a:solidFill>
                <a:latin typeface="Barlow Condensed"/>
              </a:rPr>
              <a:t>22 min</a:t>
            </a:r>
          </a:p>
        </p:txBody>
      </p:sp>
      <p:sp>
        <p:nvSpPr>
          <p:cNvPr id="8" name="Rounded Rectangle 7"/>
          <p:cNvSpPr/>
          <p:nvPr/>
        </p:nvSpPr>
        <p:spPr>
          <a:xfrm>
            <a:off x="685800" y="1965960"/>
            <a:ext cx="420624" cy="420624"/>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029967"/>
            <a:ext cx="420624" cy="310896"/>
          </a:xfrm>
          <a:prstGeom prst="rect">
            <a:avLst/>
          </a:prstGeom>
          <a:noFill/>
        </p:spPr>
        <p:txBody>
          <a:bodyPr wrap="square" anchor="t" lIns="0" rIns="0" tIns="0" bIns="0">
            <a:spAutoFit/>
          </a:bodyPr>
          <a:lstStyle/>
          <a:p>
            <a:pPr algn="ctr">
              <a:lnSpc>
                <a:spcPct val="100000"/>
              </a:lnSpc>
              <a:spcAft>
                <a:spcPts val="600"/>
              </a:spcAft>
            </a:pPr>
            <a:r>
              <a:rPr sz="1900" b="1" i="0">
                <a:solidFill>
                  <a:srgbClr val="FFFFFF"/>
                </a:solidFill>
                <a:latin typeface="Barlow Condensed"/>
              </a:rPr>
              <a:t>1</a:t>
            </a:r>
          </a:p>
        </p:txBody>
      </p:sp>
      <p:sp>
        <p:nvSpPr>
          <p:cNvPr id="10" name="TextBox 9"/>
          <p:cNvSpPr txBox="1"/>
          <p:nvPr/>
        </p:nvSpPr>
        <p:spPr>
          <a:xfrm>
            <a:off x="1298448" y="1984248"/>
            <a:ext cx="9966960" cy="731520"/>
          </a:xfrm>
          <a:prstGeom prst="rect">
            <a:avLst/>
          </a:prstGeom>
          <a:noFill/>
        </p:spPr>
        <p:txBody>
          <a:bodyPr wrap="square" anchor="t" lIns="0" rIns="0" tIns="0" bIns="0">
            <a:spAutoFit/>
          </a:bodyPr>
          <a:lstStyle/>
          <a:p>
            <a:pPr algn="l">
              <a:lnSpc>
                <a:spcPct val="114000"/>
              </a:lnSpc>
              <a:spcAft>
                <a:spcPts val="600"/>
              </a:spcAft>
            </a:pPr>
            <a:r>
              <a:rPr sz="1800" b="0" i="0">
                <a:solidFill>
                  <a:srgbClr val="2B2F36"/>
                </a:solidFill>
                <a:latin typeface="Arial"/>
              </a:rPr>
              <a:t>Open cores_2027.csv. Name the observational unit, quantitative variable, and location variables.</a:t>
            </a:r>
          </a:p>
        </p:txBody>
      </p:sp>
      <p:sp>
        <p:nvSpPr>
          <p:cNvPr id="11" name="Rounded Rectangle 10"/>
          <p:cNvSpPr/>
          <p:nvPr/>
        </p:nvSpPr>
        <p:spPr>
          <a:xfrm>
            <a:off x="685800" y="2715768"/>
            <a:ext cx="420624" cy="420624"/>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779775"/>
            <a:ext cx="420624" cy="310896"/>
          </a:xfrm>
          <a:prstGeom prst="rect">
            <a:avLst/>
          </a:prstGeom>
          <a:noFill/>
        </p:spPr>
        <p:txBody>
          <a:bodyPr wrap="square" anchor="t" lIns="0" rIns="0" tIns="0" bIns="0">
            <a:spAutoFit/>
          </a:bodyPr>
          <a:lstStyle/>
          <a:p>
            <a:pPr algn="ctr">
              <a:lnSpc>
                <a:spcPct val="100000"/>
              </a:lnSpc>
              <a:spcAft>
                <a:spcPts val="600"/>
              </a:spcAft>
            </a:pPr>
            <a:r>
              <a:rPr sz="1900" b="1" i="0">
                <a:solidFill>
                  <a:srgbClr val="FFFFFF"/>
                </a:solidFill>
                <a:latin typeface="Barlow Condensed"/>
              </a:rPr>
              <a:t>2</a:t>
            </a:r>
          </a:p>
        </p:txBody>
      </p:sp>
      <p:sp>
        <p:nvSpPr>
          <p:cNvPr id="13" name="TextBox 12"/>
          <p:cNvSpPr txBox="1"/>
          <p:nvPr/>
        </p:nvSpPr>
        <p:spPr>
          <a:xfrm>
            <a:off x="1298448" y="2734056"/>
            <a:ext cx="9966960" cy="731520"/>
          </a:xfrm>
          <a:prstGeom prst="rect">
            <a:avLst/>
          </a:prstGeom>
          <a:noFill/>
        </p:spPr>
        <p:txBody>
          <a:bodyPr wrap="square" anchor="t" lIns="0" rIns="0" tIns="0" bIns="0">
            <a:spAutoFit/>
          </a:bodyPr>
          <a:lstStyle/>
          <a:p>
            <a:pPr algn="l">
              <a:lnSpc>
                <a:spcPct val="114000"/>
              </a:lnSpc>
              <a:spcAft>
                <a:spcPts val="600"/>
              </a:spcAft>
            </a:pPr>
            <a:r>
              <a:rPr sz="1800" b="0" i="0">
                <a:solidFill>
                  <a:srgbClr val="2B2F36"/>
                </a:solidFill>
                <a:latin typeface="Arial"/>
              </a:rPr>
              <a:t>Compute n, mean, sample variance, sample SD, CV, minimum, maximum, and the count below 4,500 psi.</a:t>
            </a:r>
          </a:p>
        </p:txBody>
      </p:sp>
      <p:sp>
        <p:nvSpPr>
          <p:cNvPr id="14" name="Rounded Rectangle 13"/>
          <p:cNvSpPr/>
          <p:nvPr/>
        </p:nvSpPr>
        <p:spPr>
          <a:xfrm>
            <a:off x="685800" y="3465576"/>
            <a:ext cx="420624" cy="420624"/>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529584"/>
            <a:ext cx="420624" cy="310896"/>
          </a:xfrm>
          <a:prstGeom prst="rect">
            <a:avLst/>
          </a:prstGeom>
          <a:noFill/>
        </p:spPr>
        <p:txBody>
          <a:bodyPr wrap="square" anchor="t" lIns="0" rIns="0" tIns="0" bIns="0">
            <a:spAutoFit/>
          </a:bodyPr>
          <a:lstStyle/>
          <a:p>
            <a:pPr algn="ctr">
              <a:lnSpc>
                <a:spcPct val="100000"/>
              </a:lnSpc>
              <a:spcAft>
                <a:spcPts val="600"/>
              </a:spcAft>
            </a:pPr>
            <a:r>
              <a:rPr sz="1900" b="1" i="0">
                <a:solidFill>
                  <a:srgbClr val="FFFFFF"/>
                </a:solidFill>
                <a:latin typeface="Barlow Condensed"/>
              </a:rPr>
              <a:t>3</a:t>
            </a:r>
          </a:p>
        </p:txBody>
      </p:sp>
      <p:sp>
        <p:nvSpPr>
          <p:cNvPr id="16" name="TextBox 15"/>
          <p:cNvSpPr txBox="1"/>
          <p:nvPr/>
        </p:nvSpPr>
        <p:spPr>
          <a:xfrm>
            <a:off x="1298448" y="3483864"/>
            <a:ext cx="9966960" cy="731520"/>
          </a:xfrm>
          <a:prstGeom prst="rect">
            <a:avLst/>
          </a:prstGeom>
          <a:noFill/>
        </p:spPr>
        <p:txBody>
          <a:bodyPr wrap="square" anchor="t" lIns="0" rIns="0" tIns="0" bIns="0">
            <a:spAutoFit/>
          </a:bodyPr>
          <a:lstStyle/>
          <a:p>
            <a:pPr algn="l">
              <a:lnSpc>
                <a:spcPct val="114000"/>
              </a:lnSpc>
              <a:spcAft>
                <a:spcPts val="600"/>
              </a:spcAft>
            </a:pPr>
            <a:r>
              <a:rPr sz="1800" b="0" i="0">
                <a:solidFill>
                  <a:srgbClr val="2B2F36"/>
                </a:solidFill>
                <a:latin typeface="Arial"/>
              </a:rPr>
              <a:t>Write one sentence using only the mean. Then write one that adds spread and the low-result count.</a:t>
            </a:r>
          </a:p>
        </p:txBody>
      </p:sp>
      <p:sp>
        <p:nvSpPr>
          <p:cNvPr id="17" name="Rounded Rectangle 16"/>
          <p:cNvSpPr/>
          <p:nvPr/>
        </p:nvSpPr>
        <p:spPr>
          <a:xfrm>
            <a:off x="685800" y="4215384"/>
            <a:ext cx="420624" cy="420624"/>
          </a:xfrm>
          <a:prstGeom prst="roundRect">
            <a:avLst>
              <a:gd name="adj" fmla="val 50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279392"/>
            <a:ext cx="420624" cy="310896"/>
          </a:xfrm>
          <a:prstGeom prst="rect">
            <a:avLst/>
          </a:prstGeom>
          <a:noFill/>
        </p:spPr>
        <p:txBody>
          <a:bodyPr wrap="square" anchor="t" lIns="0" rIns="0" tIns="0" bIns="0">
            <a:spAutoFit/>
          </a:bodyPr>
          <a:lstStyle/>
          <a:p>
            <a:pPr algn="ctr">
              <a:lnSpc>
                <a:spcPct val="100000"/>
              </a:lnSpc>
              <a:spcAft>
                <a:spcPts val="600"/>
              </a:spcAft>
            </a:pPr>
            <a:r>
              <a:rPr sz="1900" b="1" i="0">
                <a:solidFill>
                  <a:srgbClr val="FFFFFF"/>
                </a:solidFill>
                <a:latin typeface="Barlow Condensed"/>
              </a:rPr>
              <a:t>4</a:t>
            </a:r>
          </a:p>
        </p:txBody>
      </p:sp>
      <p:sp>
        <p:nvSpPr>
          <p:cNvPr id="19" name="TextBox 18"/>
          <p:cNvSpPr txBox="1"/>
          <p:nvPr/>
        </p:nvSpPr>
        <p:spPr>
          <a:xfrm>
            <a:off x="1298448" y="4233672"/>
            <a:ext cx="9966960" cy="731520"/>
          </a:xfrm>
          <a:prstGeom prst="rect">
            <a:avLst/>
          </a:prstGeom>
          <a:noFill/>
        </p:spPr>
        <p:txBody>
          <a:bodyPr wrap="square" anchor="t" lIns="0" rIns="0" tIns="0" bIns="0">
            <a:spAutoFit/>
          </a:bodyPr>
          <a:lstStyle/>
          <a:p>
            <a:pPr algn="l">
              <a:lnSpc>
                <a:spcPct val="114000"/>
              </a:lnSpc>
              <a:spcAft>
                <a:spcPts val="600"/>
              </a:spcAft>
            </a:pPr>
            <a:r>
              <a:rPr sz="1800" b="0" i="0">
                <a:solidFill>
                  <a:srgbClr val="2B2F36"/>
                </a:solidFill>
                <a:latin typeface="Arial"/>
              </a:rPr>
              <a:t>Read the location columns. State what these 24 rows can and cannot say about the whole deck.</a:t>
            </a:r>
          </a:p>
        </p:txBody>
      </p:sp>
      <p:sp>
        <p:nvSpPr>
          <p:cNvPr id="20" name="TextBox 19"/>
          <p:cNvSpPr txBox="1"/>
          <p:nvPr/>
        </p:nvSpPr>
        <p:spPr>
          <a:xfrm>
            <a:off x="685800" y="5897880"/>
            <a:ext cx="10789920" cy="548640"/>
          </a:xfrm>
          <a:prstGeom prst="rect">
            <a:avLst/>
          </a:prstGeom>
          <a:noFill/>
        </p:spPr>
        <p:txBody>
          <a:bodyPr wrap="square" anchor="t" lIns="0" rIns="0" tIns="0" bIns="0">
            <a:spAutoFit/>
          </a:bodyPr>
          <a:lstStyle/>
          <a:p>
            <a:pPr algn="l">
              <a:lnSpc>
                <a:spcPct val="115000"/>
              </a:lnSpc>
              <a:spcAft>
                <a:spcPts val="600"/>
              </a:spcAft>
            </a:pPr>
            <a:r>
              <a:rPr sz="1500" b="0" i="1">
                <a:solidFill>
                  <a:srgbClr val="6B7280"/>
                </a:solidFill>
                <a:latin typeface="Arial"/>
              </a:rPr>
              <a:t>Keep the result private until every pair has center, spread, and count. H4-02 carries the formulas.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2103120"/>
            <a:ext cx="10149840" cy="2560320"/>
          </a:xfrm>
          <a:prstGeom prst="rect">
            <a:avLst/>
          </a:prstGeom>
          <a:noFill/>
        </p:spPr>
        <p:txBody>
          <a:bodyPr wrap="square" anchor="ctr" lIns="0" rIns="0" tIns="0" bIns="0">
            <a:spAutoFit/>
          </a:bodyPr>
          <a:lstStyle/>
          <a:p>
            <a:pPr algn="l">
              <a:lnSpc>
                <a:spcPct val="106000"/>
              </a:lnSpc>
              <a:spcAft>
                <a:spcPts val="600"/>
              </a:spcAft>
            </a:pPr>
            <a:r>
              <a:rPr sz="4400" b="1" i="0">
                <a:solidFill>
                  <a:srgbClr val="1F3A5F"/>
                </a:solidFill>
                <a:latin typeface="Barlow Condensed"/>
              </a:rPr>
              <a:t>Find two sentences that are
both numerically correct.</a:t>
            </a:r>
          </a:p>
        </p:txBody>
      </p:sp>
      <p:sp>
        <p:nvSpPr>
          <p:cNvPr id="4" name="TextBox 3"/>
          <p:cNvSpPr txBox="1"/>
          <p:nvPr/>
        </p:nvSpPr>
        <p:spPr>
          <a:xfrm>
            <a:off x="1005840" y="4800600"/>
            <a:ext cx="10149840" cy="457200"/>
          </a:xfrm>
          <a:prstGeom prst="rect">
            <a:avLst/>
          </a:prstGeom>
          <a:noFill/>
        </p:spPr>
        <p:txBody>
          <a:bodyPr wrap="square" anchor="t" lIns="0" rIns="0" tIns="0" bIns="0">
            <a:spAutoFit/>
          </a:bodyPr>
          <a:lstStyle/>
          <a:p>
            <a:pPr algn="l">
              <a:lnSpc>
                <a:spcPct val="100000"/>
              </a:lnSpc>
              <a:spcAft>
                <a:spcPts val="600"/>
              </a:spcAft>
            </a:pPr>
            <a:r>
              <a:rPr sz="1700" b="0" i="1">
                <a:solidFill>
                  <a:srgbClr val="6B7280"/>
                </a:solidFill>
                <a:latin typeface="Arial"/>
              </a:rPr>
              <a:t>Then decide which one keeps the decision-relevant information.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