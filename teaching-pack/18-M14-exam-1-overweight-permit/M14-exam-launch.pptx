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M14 CANON SAY — Cloud PASS.</a:t>
            </a:r>
          </a:p>
          <a:p>
            <a:r>
              <a:t>Clock resolution: setup before the timed block; 75 silent-writing minutes; collect after time. This follows the course and simulation plan and gives 5 more silent minutes than the PASS file's soft 'Exam block 70' label.</a:t>
            </a:r>
          </a:p>
          <a:p/>
          <a:p>
            <a:r>
              <a:t>SETUP — SAY: “Exam 1 — overweight permit. Same file for everyone. Diane Halvorsen, PE is unreachable. FOREMAN’s rec is in the packet (orange). Phones away. 75 minutes.” Complete the access check before starting the timed block.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M14 CANON SAY — Cloud PASS.</a:t>
            </a:r>
          </a:p>
          <a:p>
            <a:r>
              <a:t>Clock resolution: setup before the timed block; 75 silent-writing minutes; collect after time. This follows the course and simulation plan and gives 5 more silent minutes than the PASS file's soft 'Exam block 70' label.</a:t>
            </a:r>
          </a:p>
          <a:p/>
          <a:p>
            <a:r>
              <a:t>SETUP — Confirm the exam file, FOREMAN recommendation and chart, booklet, and reference sheet. Clarify logistics only—not content. No Wes co-solve and no live Diane.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M14 CANON SAY — Cloud PASS.</a:t>
            </a:r>
          </a:p>
          <a:p>
            <a:r>
              <a:t>Clock resolution: setup before the timed block; 75 silent-writing minutes; collect after time. This follows the course and simulation plan and gives 5 more silent minutes than the PASS file's soft 'Exam block 70' label.</a:t>
            </a:r>
          </a:p>
          <a:p/>
          <a:p>
            <a:r>
              <a:t>EXAM CALL — SAY: “Kinnick County Public Works needs a decision today on an overweight permit for a night crossing at the Otter Bend Lift Bridge. FOREMAN recommends approval and says the crossing is fine. You are the human review checkpoint.”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M14 CANON SAY — Cloud PASS.</a:t>
            </a:r>
          </a:p>
          <a:p>
            <a:r>
              <a:t>Clock resolution: setup before the timed block; 75 silent-writing minutes; collect after time. This follows the course and simulation plan and gives 5 more silent minutes than the PASS file's soft 'Exam block 70' label.</a:t>
            </a:r>
          </a:p>
          <a:p/>
          <a:p>
            <a:r>
              <a:t>SILENT WORK — 75 timed minutes. Make time calls at about 35 minutes remaining and 10 minutes remaining. Clarify logistics only; do not identify a failed claim, chart flaw, or preferred decision branch.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M14 CANON SAY — Cloud PASS.</a:t>
            </a:r>
          </a:p>
          <a:p>
            <a:r>
              <a:t>Clock resolution: setup before the timed block; 75 silent-writing minutes; collect after time. This follows the course and simulation plan and gives 5 more silent minutes than the PASS file's soft 'Exam block 70' label.</a:t>
            </a:r>
          </a:p>
          <a:p/>
          <a:p>
            <a:r>
              <a:t>CLOSE — SAY: “Pens down.” Collect exam-file responses and Note version 2. Do not run a right-answer debrief or open the reveal on exam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mejob-mark-dark.png"/>
          <p:cNvPicPr>
            <a:picLocks noChangeAspect="1"/>
          </p:cNvPicPr>
          <p:nvPr/>
        </p:nvPicPr>
        <p:blipFill>
          <a:blip r:embed="rId2"/>
          <a:stretch>
            <a:fillRect/>
          </a:stretch>
        </p:blipFill>
        <p:spPr>
          <a:xfrm>
            <a:off x="868680" y="960120"/>
            <a:ext cx="1371600" cy="1371600"/>
          </a:xfrm>
          <a:prstGeom prst="rect">
            <a:avLst/>
          </a:prstGeom>
        </p:spPr>
      </p:pic>
      <p:sp>
        <p:nvSpPr>
          <p:cNvPr id="4" name="TextBox 3"/>
          <p:cNvSpPr txBox="1"/>
          <p:nvPr/>
        </p:nvSpPr>
        <p:spPr>
          <a:xfrm>
            <a:off x="868680" y="2606040"/>
            <a:ext cx="7863840" cy="384048"/>
          </a:xfrm>
          <a:prstGeom prst="rect">
            <a:avLst/>
          </a:prstGeom>
          <a:noFill/>
        </p:spPr>
        <p:txBody>
          <a:bodyPr wrap="square" anchor="t" lIns="0" rIns="0" tIns="0" bIns="0">
            <a:spAutoFit/>
          </a:bodyPr>
          <a:lstStyle/>
          <a:p>
            <a:pPr algn="l">
              <a:lnSpc>
                <a:spcPct val="100000"/>
              </a:lnSpc>
              <a:spcAft>
                <a:spcPts val="600"/>
              </a:spcAft>
            </a:pPr>
            <a:r>
              <a:rPr sz="1700" b="1" i="0">
                <a:solidFill>
                  <a:srgbClr val="F26B1D"/>
                </a:solidFill>
                <a:latin typeface="Barlow Condensed"/>
              </a:rPr>
              <a:t>MEETING 14  ·  EXAM 1</a:t>
            </a:r>
          </a:p>
        </p:txBody>
      </p:sp>
      <p:sp>
        <p:nvSpPr>
          <p:cNvPr id="5" name="TextBox 4"/>
          <p:cNvSpPr txBox="1"/>
          <p:nvPr/>
        </p:nvSpPr>
        <p:spPr>
          <a:xfrm>
            <a:off x="868680" y="2971800"/>
            <a:ext cx="10424160" cy="1463040"/>
          </a:xfrm>
          <a:prstGeom prst="rect">
            <a:avLst/>
          </a:prstGeom>
          <a:noFill/>
        </p:spPr>
        <p:txBody>
          <a:bodyPr wrap="square" anchor="t" lIns="0" rIns="0" tIns="0" bIns="0">
            <a:spAutoFit/>
          </a:bodyPr>
          <a:lstStyle/>
          <a:p>
            <a:pPr algn="l">
              <a:lnSpc>
                <a:spcPct val="96000"/>
              </a:lnSpc>
              <a:spcAft>
                <a:spcPts val="600"/>
              </a:spcAft>
            </a:pPr>
            <a:r>
              <a:rPr sz="5800" b="1" i="0">
                <a:solidFill>
                  <a:srgbClr val="FFFFFF"/>
                </a:solidFill>
                <a:latin typeface="Barlow Condensed"/>
              </a:rPr>
              <a:t>The permit call</a:t>
            </a:r>
          </a:p>
        </p:txBody>
      </p:sp>
      <p:sp>
        <p:nvSpPr>
          <p:cNvPr id="6" name="TextBox 5"/>
          <p:cNvSpPr txBox="1"/>
          <p:nvPr/>
        </p:nvSpPr>
        <p:spPr>
          <a:xfrm>
            <a:off x="868680" y="4572000"/>
            <a:ext cx="9326880" cy="914400"/>
          </a:xfrm>
          <a:prstGeom prst="rect">
            <a:avLst/>
          </a:prstGeom>
          <a:noFill/>
        </p:spPr>
        <p:txBody>
          <a:bodyPr wrap="square" anchor="t" lIns="0" rIns="0" tIns="0" bIns="0">
            <a:spAutoFit/>
          </a:bodyPr>
          <a:lstStyle/>
          <a:p>
            <a:pPr algn="l">
              <a:lnSpc>
                <a:spcPct val="120000"/>
              </a:lnSpc>
              <a:spcAft>
                <a:spcPts val="600"/>
              </a:spcAft>
            </a:pPr>
            <a:r>
              <a:rPr sz="2200" b="0" i="0">
                <a:solidFill>
                  <a:srgbClr val="6F8FAF"/>
                </a:solidFill>
                <a:latin typeface="Arial"/>
              </a:rPr>
              <a:t>One clean file · one documented recommendation · 75 minutes</a:t>
            </a:r>
          </a:p>
        </p:txBody>
      </p:sp>
      <p:sp>
        <p:nvSpPr>
          <p:cNvPr id="7" name="TextBox 6"/>
          <p:cNvSpPr txBox="1"/>
          <p:nvPr/>
        </p:nvSpPr>
        <p:spPr>
          <a:xfrm>
            <a:off x="868680" y="5943600"/>
            <a:ext cx="9326880" cy="365760"/>
          </a:xfrm>
          <a:prstGeom prst="rect">
            <a:avLst/>
          </a:prstGeom>
          <a:noFill/>
        </p:spPr>
        <p:txBody>
          <a:bodyPr wrap="square" anchor="t" lIns="0" rIns="0" tIns="0" bIns="0">
            <a:spAutoFit/>
          </a:bodyPr>
          <a:lstStyle/>
          <a:p>
            <a:pPr algn="l">
              <a:lnSpc>
                <a:spcPct val="100000"/>
              </a:lnSpc>
              <a:spcAft>
                <a:spcPts val="600"/>
              </a:spcAft>
            </a:pPr>
            <a:r>
              <a:rPr sz="1400" b="0" i="0">
                <a:solidFill>
                  <a:srgbClr val="6B7280"/>
                </a:solidFill>
                <a:latin typeface="Barlow Condensed"/>
              </a:rPr>
              <a:t>Thursday, March 18, 2027  ·  SEIS 201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Exam conditions</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Same evidence and same clock for every student</a:t>
            </a:r>
          </a:p>
        </p:txBody>
      </p:sp>
      <p:sp>
        <p:nvSpPr>
          <p:cNvPr id="5" name="Rounded Rectangle 4"/>
          <p:cNvSpPr/>
          <p:nvPr/>
        </p:nvSpPr>
        <p:spPr>
          <a:xfrm>
            <a:off x="658368" y="1956816"/>
            <a:ext cx="3429000" cy="342900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76272"/>
            <a:ext cx="288036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USE</a:t>
            </a:r>
          </a:p>
        </p:txBody>
      </p:sp>
      <p:sp>
        <p:nvSpPr>
          <p:cNvPr id="7" name="TextBox 6"/>
          <p:cNvSpPr txBox="1"/>
          <p:nvPr/>
        </p:nvSpPr>
        <p:spPr>
          <a:xfrm>
            <a:off x="932688" y="2615184"/>
            <a:ext cx="2880360" cy="25146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Clean evidence workbook</a:t>
            </a:r>
          </a:p>
          <a:p>
            <a:pPr algn="l">
              <a:lnSpc>
                <a:spcPct val="118000"/>
              </a:lnSpc>
              <a:spcAft>
                <a:spcPts val="700"/>
              </a:spcAft>
            </a:pPr>
            <a:r>
              <a:rPr sz="1700" b="0" i="0">
                <a:solidFill>
                  <a:srgbClr val="2B2F36"/>
                </a:solidFill>
                <a:latin typeface="Arial"/>
              </a:rPr>
              <a:t>FOREMAN recommendation</a:t>
            </a:r>
          </a:p>
          <a:p>
            <a:pPr algn="l">
              <a:lnSpc>
                <a:spcPct val="118000"/>
              </a:lnSpc>
              <a:spcAft>
                <a:spcPts val="700"/>
              </a:spcAft>
            </a:pPr>
            <a:r>
              <a:rPr sz="1700" b="0" i="0">
                <a:solidFill>
                  <a:srgbClr val="2B2F36"/>
                </a:solidFill>
                <a:latin typeface="Arial"/>
              </a:rPr>
              <a:t>Exam booklet + reference sheet</a:t>
            </a:r>
          </a:p>
        </p:txBody>
      </p:sp>
      <p:sp>
        <p:nvSpPr>
          <p:cNvPr id="8" name="Rounded Rectangle 7"/>
          <p:cNvSpPr/>
          <p:nvPr/>
        </p:nvSpPr>
        <p:spPr>
          <a:xfrm>
            <a:off x="4379976" y="1956816"/>
            <a:ext cx="3429000" cy="342900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2176272"/>
            <a:ext cx="288036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SHOW</a:t>
            </a:r>
          </a:p>
        </p:txBody>
      </p:sp>
      <p:sp>
        <p:nvSpPr>
          <p:cNvPr id="10" name="TextBox 9"/>
          <p:cNvSpPr txBox="1"/>
          <p:nvPr/>
        </p:nvSpPr>
        <p:spPr>
          <a:xfrm>
            <a:off x="4654296" y="2615184"/>
            <a:ext cx="2880360" cy="25146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Source locations</a:t>
            </a:r>
          </a:p>
          <a:p>
            <a:pPr algn="l">
              <a:lnSpc>
                <a:spcPct val="118000"/>
              </a:lnSpc>
              <a:spcAft>
                <a:spcPts val="700"/>
              </a:spcAft>
            </a:pPr>
            <a:r>
              <a:rPr sz="1700" b="0" i="0">
                <a:solidFill>
                  <a:srgbClr val="2B2F36"/>
                </a:solidFill>
                <a:latin typeface="Arial"/>
              </a:rPr>
              <a:t>Calculations + units</a:t>
            </a:r>
          </a:p>
          <a:p>
            <a:pPr algn="l">
              <a:lnSpc>
                <a:spcPct val="118000"/>
              </a:lnSpc>
              <a:spcAft>
                <a:spcPts val="700"/>
              </a:spcAft>
            </a:pPr>
            <a:r>
              <a:rPr sz="1700" b="0" i="0">
                <a:solidFill>
                  <a:srgbClr val="2B2F36"/>
                </a:solidFill>
                <a:latin typeface="Arial"/>
              </a:rPr>
              <a:t>Interval + assumption</a:t>
            </a:r>
          </a:p>
        </p:txBody>
      </p:sp>
      <p:sp>
        <p:nvSpPr>
          <p:cNvPr id="11" name="Rounded Rectangle 10"/>
          <p:cNvSpPr/>
          <p:nvPr/>
        </p:nvSpPr>
        <p:spPr>
          <a:xfrm>
            <a:off x="8101583" y="1956816"/>
            <a:ext cx="3429000" cy="3429000"/>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2176272"/>
            <a:ext cx="288036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DECIDE</a:t>
            </a:r>
          </a:p>
        </p:txBody>
      </p:sp>
      <p:sp>
        <p:nvSpPr>
          <p:cNvPr id="13" name="TextBox 12"/>
          <p:cNvSpPr txBox="1"/>
          <p:nvPr/>
        </p:nvSpPr>
        <p:spPr>
          <a:xfrm>
            <a:off x="8375904" y="2615184"/>
            <a:ext cx="2880360" cy="25146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Yes</a:t>
            </a:r>
          </a:p>
          <a:p>
            <a:pPr algn="l">
              <a:lnSpc>
                <a:spcPct val="118000"/>
              </a:lnSpc>
              <a:spcAft>
                <a:spcPts val="700"/>
              </a:spcAft>
            </a:pPr>
            <a:r>
              <a:rPr sz="1700" b="0" i="0">
                <a:solidFill>
                  <a:srgbClr val="2B2F36"/>
                </a:solidFill>
                <a:latin typeface="Arial"/>
              </a:rPr>
              <a:t>Yes with conditions</a:t>
            </a:r>
          </a:p>
          <a:p>
            <a:pPr algn="l">
              <a:lnSpc>
                <a:spcPct val="118000"/>
              </a:lnSpc>
              <a:spcAft>
                <a:spcPts val="700"/>
              </a:spcAft>
            </a:pPr>
            <a:r>
              <a:rPr sz="1700" b="0" i="0">
                <a:solidFill>
                  <a:srgbClr val="2B2F36"/>
                </a:solidFill>
                <a:latin typeface="Arial"/>
              </a:rPr>
              <a:t>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The decision boundary</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Internal screening—not a legal permit or capacity rating</a:t>
            </a:r>
          </a:p>
        </p:txBody>
      </p:sp>
      <p:sp>
        <p:nvSpPr>
          <p:cNvPr id="5" name="Rounded Rectangle 4"/>
          <p:cNvSpPr/>
          <p:nvPr/>
        </p:nvSpPr>
        <p:spPr>
          <a:xfrm>
            <a:off x="658368" y="1865376"/>
            <a:ext cx="5349240" cy="3429000"/>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084832"/>
            <a:ext cx="480060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KINNICK COUNTY REQUEST</a:t>
            </a:r>
          </a:p>
        </p:txBody>
      </p:sp>
      <p:sp>
        <p:nvSpPr>
          <p:cNvPr id="7" name="TextBox 6"/>
          <p:cNvSpPr txBox="1"/>
          <p:nvPr/>
        </p:nvSpPr>
        <p:spPr>
          <a:xfrm>
            <a:off x="932688" y="2523744"/>
            <a:ext cx="4800600" cy="2514600"/>
          </a:xfrm>
          <a:prstGeom prst="rect">
            <a:avLst/>
          </a:prstGeom>
          <a:noFill/>
        </p:spPr>
        <p:txBody>
          <a:bodyPr wrap="square" anchor="t" lIns="0" rIns="0" tIns="0" bIns="0">
            <a:spAutoFit/>
          </a:bodyPr>
          <a:lstStyle/>
          <a:p>
            <a:pPr algn="l">
              <a:lnSpc>
                <a:spcPct val="118000"/>
              </a:lnSpc>
              <a:spcAft>
                <a:spcPts val="700"/>
              </a:spcAft>
            </a:pPr>
            <a:r>
              <a:rPr sz="1800" b="0" i="0">
                <a:solidFill>
                  <a:srgbClr val="2B2F36"/>
                </a:solidFill>
                <a:latin typeface="Arial"/>
              </a:rPr>
              <a:t>One 104-kip night crossing</a:t>
            </a:r>
          </a:p>
          <a:p>
            <a:pPr algn="l">
              <a:lnSpc>
                <a:spcPct val="118000"/>
              </a:lnSpc>
              <a:spcAft>
                <a:spcPts val="700"/>
              </a:spcAft>
            </a:pPr>
            <a:r>
              <a:rPr sz="1800" b="0" i="0">
                <a:solidFill>
                  <a:srgbClr val="2B2F36"/>
                </a:solidFill>
                <a:latin typeface="Arial"/>
              </a:rPr>
              <a:t>10 mph</a:t>
            </a:r>
          </a:p>
          <a:p>
            <a:pPr algn="l">
              <a:lnSpc>
                <a:spcPct val="118000"/>
              </a:lnSpc>
              <a:spcAft>
                <a:spcPts val="700"/>
              </a:spcAft>
            </a:pPr>
            <a:r>
              <a:rPr sz="1800" b="0" i="0">
                <a:solidFill>
                  <a:srgbClr val="2B2F36"/>
                </a:solidFill>
                <a:latin typeface="Arial"/>
              </a:rPr>
              <a:t>Center lane</a:t>
            </a:r>
          </a:p>
        </p:txBody>
      </p:sp>
      <p:sp>
        <p:nvSpPr>
          <p:cNvPr id="8" name="Rounded Rectangle 7"/>
          <p:cNvSpPr/>
          <p:nvPr/>
        </p:nvSpPr>
        <p:spPr>
          <a:xfrm>
            <a:off x="6144768" y="1865376"/>
            <a:ext cx="5367528" cy="3429000"/>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084832"/>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FOREMAN</a:t>
            </a:r>
          </a:p>
        </p:txBody>
      </p:sp>
      <p:sp>
        <p:nvSpPr>
          <p:cNvPr id="10" name="TextBox 9"/>
          <p:cNvSpPr txBox="1"/>
          <p:nvPr/>
        </p:nvSpPr>
        <p:spPr>
          <a:xfrm>
            <a:off x="6419088" y="2523744"/>
            <a:ext cx="4818888" cy="2514600"/>
          </a:xfrm>
          <a:prstGeom prst="rect">
            <a:avLst/>
          </a:prstGeom>
          <a:noFill/>
        </p:spPr>
        <p:txBody>
          <a:bodyPr wrap="square" anchor="t" lIns="0" rIns="0" tIns="0" bIns="0">
            <a:spAutoFit/>
          </a:bodyPr>
          <a:lstStyle/>
          <a:p>
            <a:pPr algn="l">
              <a:lnSpc>
                <a:spcPct val="118000"/>
              </a:lnSpc>
              <a:spcAft>
                <a:spcPts val="700"/>
              </a:spcAft>
            </a:pPr>
            <a:r>
              <a:rPr sz="1800" b="0" i="0">
                <a:solidFill>
                  <a:srgbClr val="2B2F36"/>
                </a:solidFill>
                <a:latin typeface="Arial"/>
              </a:rPr>
              <a:t>Recommendation: YES</a:t>
            </a:r>
          </a:p>
          <a:p>
            <a:pPr algn="l">
              <a:lnSpc>
                <a:spcPct val="118000"/>
              </a:lnSpc>
              <a:spcAft>
                <a:spcPts val="700"/>
              </a:spcAft>
            </a:pPr>
            <a:r>
              <a:rPr sz="1800" b="0" i="0">
                <a:solidFill>
                  <a:srgbClr val="2B2F36"/>
                </a:solidFill>
                <a:latin typeface="Arial"/>
              </a:rPr>
              <a:t>Your job: inspect the evidence and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Suggested clock · 75 minutes</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The clock guides; the five tasks are the exam</a:t>
            </a:r>
          </a:p>
        </p:txBody>
      </p:sp>
      <p:sp>
        <p:nvSpPr>
          <p:cNvPr id="5" name="Rounded Rectangle 4"/>
          <p:cNvSpPr/>
          <p:nvPr/>
        </p:nvSpPr>
        <p:spPr>
          <a:xfrm>
            <a:off x="658368" y="1956816"/>
            <a:ext cx="1965960" cy="329184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76272"/>
            <a:ext cx="1417319"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0–17</a:t>
            </a:r>
          </a:p>
        </p:txBody>
      </p:sp>
      <p:sp>
        <p:nvSpPr>
          <p:cNvPr id="7" name="TextBox 6"/>
          <p:cNvSpPr txBox="1"/>
          <p:nvPr/>
        </p:nvSpPr>
        <p:spPr>
          <a:xfrm>
            <a:off x="932688" y="2615184"/>
            <a:ext cx="1417319" cy="23774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Inventory</a:t>
            </a:r>
          </a:p>
          <a:p>
            <a:pPr algn="l">
              <a:lnSpc>
                <a:spcPct val="118000"/>
              </a:lnSpc>
              <a:spcAft>
                <a:spcPts val="700"/>
              </a:spcAft>
            </a:pPr>
            <a:r>
              <a:rPr sz="1500" b="0" i="0">
                <a:solidFill>
                  <a:srgbClr val="2B2F36"/>
                </a:solidFill>
                <a:latin typeface="Arial"/>
              </a:rPr>
              <a:t>Source check</a:t>
            </a:r>
          </a:p>
        </p:txBody>
      </p:sp>
      <p:sp>
        <p:nvSpPr>
          <p:cNvPr id="8" name="Rounded Rectangle 7"/>
          <p:cNvSpPr/>
          <p:nvPr/>
        </p:nvSpPr>
        <p:spPr>
          <a:xfrm>
            <a:off x="2724912" y="1956816"/>
            <a:ext cx="1965960" cy="329184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9232" y="2176272"/>
            <a:ext cx="1417319"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17–30</a:t>
            </a:r>
          </a:p>
        </p:txBody>
      </p:sp>
      <p:sp>
        <p:nvSpPr>
          <p:cNvPr id="10" name="TextBox 9"/>
          <p:cNvSpPr txBox="1"/>
          <p:nvPr/>
        </p:nvSpPr>
        <p:spPr>
          <a:xfrm>
            <a:off x="2999232" y="2615184"/>
            <a:ext cx="1417319" cy="23774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Center</a:t>
            </a:r>
          </a:p>
          <a:p>
            <a:pPr algn="l">
              <a:lnSpc>
                <a:spcPct val="118000"/>
              </a:lnSpc>
              <a:spcAft>
                <a:spcPts val="700"/>
              </a:spcAft>
            </a:pPr>
            <a:r>
              <a:rPr sz="1500" b="0" i="0">
                <a:solidFill>
                  <a:srgbClr val="2B2F36"/>
                </a:solidFill>
                <a:latin typeface="Arial"/>
              </a:rPr>
              <a:t>Spread</a:t>
            </a:r>
          </a:p>
        </p:txBody>
      </p:sp>
      <p:sp>
        <p:nvSpPr>
          <p:cNvPr id="11" name="Rounded Rectangle 10"/>
          <p:cNvSpPr/>
          <p:nvPr/>
        </p:nvSpPr>
        <p:spPr>
          <a:xfrm>
            <a:off x="4791456" y="1956816"/>
            <a:ext cx="1965960" cy="329184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65776" y="2176272"/>
            <a:ext cx="1417319"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30–50</a:t>
            </a:r>
          </a:p>
        </p:txBody>
      </p:sp>
      <p:sp>
        <p:nvSpPr>
          <p:cNvPr id="13" name="TextBox 12"/>
          <p:cNvSpPr txBox="1"/>
          <p:nvPr/>
        </p:nvSpPr>
        <p:spPr>
          <a:xfrm>
            <a:off x="5065776" y="2615184"/>
            <a:ext cx="1417319" cy="23774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95% interval</a:t>
            </a:r>
          </a:p>
          <a:p>
            <a:pPr algn="l">
              <a:lnSpc>
                <a:spcPct val="118000"/>
              </a:lnSpc>
              <a:spcAft>
                <a:spcPts val="700"/>
              </a:spcAft>
            </a:pPr>
            <a:r>
              <a:rPr sz="1500" b="0" i="0">
                <a:solidFill>
                  <a:srgbClr val="2B2F36"/>
                </a:solidFill>
                <a:latin typeface="Arial"/>
              </a:rPr>
              <a:t>Load ratio</a:t>
            </a:r>
          </a:p>
        </p:txBody>
      </p:sp>
      <p:sp>
        <p:nvSpPr>
          <p:cNvPr id="14" name="Rounded Rectangle 13"/>
          <p:cNvSpPr/>
          <p:nvPr/>
        </p:nvSpPr>
        <p:spPr>
          <a:xfrm>
            <a:off x="6858000" y="1956816"/>
            <a:ext cx="1965960" cy="329184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2176272"/>
            <a:ext cx="1417319"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50–58</a:t>
            </a:r>
          </a:p>
        </p:txBody>
      </p:sp>
      <p:sp>
        <p:nvSpPr>
          <p:cNvPr id="16" name="TextBox 15"/>
          <p:cNvSpPr txBox="1"/>
          <p:nvPr/>
        </p:nvSpPr>
        <p:spPr>
          <a:xfrm>
            <a:off x="7132320" y="2615184"/>
            <a:ext cx="1417319" cy="23774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Chart</a:t>
            </a:r>
          </a:p>
          <a:p>
            <a:pPr algn="l">
              <a:lnSpc>
                <a:spcPct val="118000"/>
              </a:lnSpc>
              <a:spcAft>
                <a:spcPts val="700"/>
              </a:spcAft>
            </a:pPr>
            <a:r>
              <a:rPr sz="1500" b="0" i="0">
                <a:solidFill>
                  <a:srgbClr val="2B2F36"/>
                </a:solidFill>
                <a:latin typeface="Arial"/>
              </a:rPr>
              <a:t>Consequence</a:t>
            </a:r>
          </a:p>
        </p:txBody>
      </p:sp>
      <p:sp>
        <p:nvSpPr>
          <p:cNvPr id="17" name="Rounded Rectangle 16"/>
          <p:cNvSpPr/>
          <p:nvPr/>
        </p:nvSpPr>
        <p:spPr>
          <a:xfrm>
            <a:off x="8924544" y="1956816"/>
            <a:ext cx="2587752" cy="3291840"/>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8864" y="2176272"/>
            <a:ext cx="2039112"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58–75</a:t>
            </a:r>
          </a:p>
        </p:txBody>
      </p:sp>
      <p:sp>
        <p:nvSpPr>
          <p:cNvPr id="19" name="TextBox 18"/>
          <p:cNvSpPr txBox="1"/>
          <p:nvPr/>
        </p:nvSpPr>
        <p:spPr>
          <a:xfrm>
            <a:off x="9198864" y="2615184"/>
            <a:ext cx="2039112" cy="23774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Decision</a:t>
            </a:r>
          </a:p>
          <a:p>
            <a:pPr algn="l">
              <a:lnSpc>
                <a:spcPct val="118000"/>
              </a:lnSpc>
              <a:spcAft>
                <a:spcPts val="700"/>
              </a:spcAft>
            </a:pPr>
            <a:r>
              <a:rPr sz="1500" b="0" i="0">
                <a:solidFill>
                  <a:srgbClr val="2B2F36"/>
                </a:solidFill>
                <a:latin typeface="Arial"/>
              </a:rPr>
              <a:t>Note v2</a:t>
            </a:r>
          </a:p>
          <a:p>
            <a:pPr algn="l">
              <a:lnSpc>
                <a:spcPct val="118000"/>
              </a:lnSpc>
              <a:spcAft>
                <a:spcPts val="700"/>
              </a:spcAft>
            </a:pPr>
            <a:r>
              <a:rPr sz="1500" b="0" i="0">
                <a:solidFill>
                  <a:srgbClr val="2B2F36"/>
                </a:solidFill>
                <a:latin typeface="Arial"/>
              </a:rPr>
              <a:t>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85800"/>
            <a:ext cx="10424160" cy="73152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Barlow Condensed"/>
              </a:rPr>
              <a:t>Begin Exam 1</a:t>
            </a:r>
          </a:p>
        </p:txBody>
      </p:sp>
      <p:sp>
        <p:nvSpPr>
          <p:cNvPr id="4" name="TextBox 3"/>
          <p:cNvSpPr txBox="1"/>
          <p:nvPr/>
        </p:nvSpPr>
        <p:spPr>
          <a:xfrm>
            <a:off x="868680" y="1737360"/>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HAND IN</a:t>
            </a:r>
          </a:p>
        </p:txBody>
      </p:sp>
      <p:sp>
        <p:nvSpPr>
          <p:cNvPr id="5" name="TextBox 4"/>
          <p:cNvSpPr txBox="1"/>
          <p:nvPr/>
        </p:nvSpPr>
        <p:spPr>
          <a:xfrm>
            <a:off x="3749039" y="1700784"/>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Completed EX1-01 booklet and any attached calculation pages.</a:t>
            </a:r>
          </a:p>
        </p:txBody>
      </p:sp>
      <p:sp>
        <p:nvSpPr>
          <p:cNvPr id="6" name="TextBox 5"/>
          <p:cNvSpPr txBox="1"/>
          <p:nvPr/>
        </p:nvSpPr>
        <p:spPr>
          <a:xfrm>
            <a:off x="868680" y="2606039"/>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KEEP VISIBLE</a:t>
            </a:r>
          </a:p>
        </p:txBody>
      </p:sp>
      <p:sp>
        <p:nvSpPr>
          <p:cNvPr id="7" name="TextBox 6"/>
          <p:cNvSpPr txBox="1"/>
          <p:nvPr/>
        </p:nvSpPr>
        <p:spPr>
          <a:xfrm>
            <a:off x="3749039" y="2569463"/>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Source, units, spread or interval, assumption, and decision scope.</a:t>
            </a:r>
          </a:p>
        </p:txBody>
      </p:sp>
      <p:sp>
        <p:nvSpPr>
          <p:cNvPr id="8" name="TextBox 7"/>
          <p:cNvSpPr txBox="1"/>
          <p:nvPr/>
        </p:nvSpPr>
        <p:spPr>
          <a:xfrm>
            <a:off x="868680" y="3474720"/>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GRADING</a:t>
            </a:r>
          </a:p>
        </p:txBody>
      </p:sp>
      <p:sp>
        <p:nvSpPr>
          <p:cNvPr id="9" name="TextBox 8"/>
          <p:cNvSpPr txBox="1"/>
          <p:nvPr/>
        </p:nvSpPr>
        <p:spPr>
          <a:xfrm>
            <a:off x="3749039" y="3438144"/>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Reasoning and record—not agreement with FOREMAN or a character.</a:t>
            </a:r>
          </a:p>
        </p:txBody>
      </p:sp>
      <p:sp>
        <p:nvSpPr>
          <p:cNvPr id="10" name="TextBox 9"/>
          <p:cNvSpPr txBox="1"/>
          <p:nvPr/>
        </p:nvSpPr>
        <p:spPr>
          <a:xfrm>
            <a:off x="868680" y="4343400"/>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BEGIN</a:t>
            </a:r>
          </a:p>
        </p:txBody>
      </p:sp>
      <p:sp>
        <p:nvSpPr>
          <p:cNvPr id="11" name="TextBox 10"/>
          <p:cNvSpPr txBox="1"/>
          <p:nvPr/>
        </p:nvSpPr>
        <p:spPr>
          <a:xfrm>
            <a:off x="3749039" y="4306824"/>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Open START_HERE in M14-exam-evidence.xlsx.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2027-03-18T12:00:00Z</dcterms:created>
  <dcterms:modified xsi:type="dcterms:W3CDTF">2027-03-18T12:00:00Z</dcterms:modified>
  <cp:category/>
</cp:coreProperties>
</file>