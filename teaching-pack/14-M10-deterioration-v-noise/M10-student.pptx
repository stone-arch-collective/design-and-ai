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TITLE — SAY: “Did it get worse? Today you will decide what a small change and its interval can honestly support.”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INBOX — Diane Halvorsen, PE: “Otter Bend deck—worse since 2019? Yes or no. County wants an answer.” FOREMAN: “Mean strain under test truck +6%. Deterioration confirmed. p = 0.04 → 96% chance the deck has deteriorated.” Wes Tanaka, EIT, side thread: “I’m looking at the coupon pairs again. Don’t hang the whole story on that one line.” Wes does not co-solve.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HUNT — SAY: “Open the coupon and 2019/2027 load-test files. Build the coupon interval, compute the eight paired differences, then compare the 95% and 99% intervals. What can you tell Diane without deleting the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TRANSITION — SAY: “Before we test FOREMAN’s conclusion, separate the estimate, the uncertainty around it, and the engineering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“Standard error estimates how much a sample mean would vary from sample to sample. It is not the spread of the individual readings.”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“For a small sample, the t multiplier reflects both confidence level and degrees of freedom. A higher confidence level requires a larger multiplier and a wider interval.”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“Confidence describes the long-run performance of the interval-building method. It is not the probability that FOREMAN’s claim is true.”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LAB — SAY: “Open coupons.csv. Build the interval for the coupon mean using the t-table. Show degrees of freedom and the critical 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LAB TRANSITION — SAY: “Now move from interval mechanics to the Otter Bend question. Pair the same locations before summarizing.”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“For each matched location, calculate 2027 minus 2019. The observations for this analysis are the eight paired differences—not the 48 passes treated as independent changes.”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“Audit measurement repeatability, matched test process, and sampling uncertainty separately. A controlled process strengthens the comparison; it does not diagnose a damage mechanism.”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LAB — SAY: “Verify the matched load, lane, speed, passes, and temperature handling. Name one source reduced by design and one uncertainty that remains.”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LAB — SAY: “Build the 95% interval on the eight paired differences. Mark whether zero is inside. Commit one supported sentence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TEACH — SAY: “A p-value is not the probability that a claim is true. FOREMAN’s ‘96% chance’ line is the misconception you must reject. Statistically significant does not mean confirmed, and it does not mean large.”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LAB — SAY: “Keep the estimate, standard error, and degrees of freedom fixed. Use the 99% t multiplier. If zero enters, explain why the intervals are not contradictory: higher confidence requires a wider interval.”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NOTE — SAY: “Write Note version 2: claim, check, result. Include the mean change and an interval. Notebook line: p does not equal P of claim true; significant does not equal confirmed or large.”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 CANON SAY — Cloud hard-review PASS · revised M10.</a:t>
            </a:r>
          </a:p>
          <a:p/>
          <a:p>
            <a:r>
              <a:t>CLOSE — SAY: “HW5 is the confidence interval on mean daily peak strain from the feed. HW3 callback: if duplicate timestamps were not removed, the sample appears larger than it is and the interval comes out too narrow. Say why in one sentence on the HW5 sheet. Eyes outside this project team will soon be on the Otter Bend health record; preserve the uncertainty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cmejob-mark-dark.png"/>
          <p:cNvPicPr>
            <a:picLocks noChangeAspect="1"/>
          </p:cNvPicPr>
          <p:nvPr/>
        </p:nvPicPr>
        <p:blipFill>
          <a:blip r:embed="rId2"/>
          <a:stretch>
            <a:fillRect/>
          </a:stretch>
        </p:blipFill>
        <p:spPr>
          <a:xfrm>
            <a:off x="868680" y="960120"/>
            <a:ext cx="1371600" cy="1371600"/>
          </a:xfrm>
          <a:prstGeom prst="rect">
            <a:avLst/>
          </a:prstGeom>
        </p:spPr>
      </p:pic>
      <p:sp>
        <p:nvSpPr>
          <p:cNvPr id="4" name="TextBox 3"/>
          <p:cNvSpPr txBox="1"/>
          <p:nvPr/>
        </p:nvSpPr>
        <p:spPr>
          <a:xfrm>
            <a:off x="868680" y="2606040"/>
            <a:ext cx="7863840" cy="384048"/>
          </a:xfrm>
          <a:prstGeom prst="rect">
            <a:avLst/>
          </a:prstGeom>
          <a:noFill/>
        </p:spPr>
        <p:txBody>
          <a:bodyPr wrap="square" anchor="t" lIns="0" rIns="0" tIns="0" bIns="0">
            <a:spAutoFit/>
          </a:bodyPr>
          <a:lstStyle/>
          <a:p>
            <a:pPr algn="l">
              <a:lnSpc>
                <a:spcPct val="100000"/>
              </a:lnSpc>
              <a:spcAft>
                <a:spcPts val="600"/>
              </a:spcAft>
            </a:pPr>
            <a:r>
              <a:rPr sz="1700" b="1" i="0">
                <a:solidFill>
                  <a:srgbClr val="F26B1D"/>
                </a:solidFill>
                <a:latin typeface="Barlow Condensed"/>
              </a:rPr>
              <a:t>MEETING 10  ·  UNIT 2: DOUBT</a:t>
            </a:r>
          </a:p>
        </p:txBody>
      </p:sp>
      <p:sp>
        <p:nvSpPr>
          <p:cNvPr id="5" name="TextBox 4"/>
          <p:cNvSpPr txBox="1"/>
          <p:nvPr/>
        </p:nvSpPr>
        <p:spPr>
          <a:xfrm>
            <a:off x="868680" y="2971800"/>
            <a:ext cx="10424160" cy="1463040"/>
          </a:xfrm>
          <a:prstGeom prst="rect">
            <a:avLst/>
          </a:prstGeom>
          <a:noFill/>
        </p:spPr>
        <p:txBody>
          <a:bodyPr wrap="square" anchor="t" lIns="0" rIns="0" tIns="0" bIns="0">
            <a:spAutoFit/>
          </a:bodyPr>
          <a:lstStyle/>
          <a:p>
            <a:pPr algn="l">
              <a:lnSpc>
                <a:spcPct val="96000"/>
              </a:lnSpc>
              <a:spcAft>
                <a:spcPts val="600"/>
              </a:spcAft>
            </a:pPr>
            <a:r>
              <a:rPr sz="5800" b="1" i="0">
                <a:solidFill>
                  <a:srgbClr val="FFFFFF"/>
                </a:solidFill>
                <a:latin typeface="Barlow Condensed"/>
              </a:rPr>
              <a:t>Did the deck get worse?</a:t>
            </a:r>
          </a:p>
        </p:txBody>
      </p:sp>
      <p:sp>
        <p:nvSpPr>
          <p:cNvPr id="6" name="TextBox 5"/>
          <p:cNvSpPr txBox="1"/>
          <p:nvPr/>
        </p:nvSpPr>
        <p:spPr>
          <a:xfrm>
            <a:off x="868680" y="4572000"/>
            <a:ext cx="9326880" cy="914400"/>
          </a:xfrm>
          <a:prstGeom prst="rect">
            <a:avLst/>
          </a:prstGeom>
          <a:noFill/>
        </p:spPr>
        <p:txBody>
          <a:bodyPr wrap="square" anchor="t" lIns="0" rIns="0" tIns="0" bIns="0">
            <a:spAutoFit/>
          </a:bodyPr>
          <a:lstStyle/>
          <a:p>
            <a:pPr algn="l">
              <a:lnSpc>
                <a:spcPct val="120000"/>
              </a:lnSpc>
              <a:spcAft>
                <a:spcPts val="600"/>
              </a:spcAft>
            </a:pPr>
            <a:r>
              <a:rPr sz="2200" b="0" i="0">
                <a:solidFill>
                  <a:srgbClr val="6F8FAF"/>
                </a:solidFill>
                <a:latin typeface="Arial"/>
              </a:rPr>
              <a:t>Separate a small paired signal from measurement and process noise</a:t>
            </a:r>
          </a:p>
        </p:txBody>
      </p:sp>
      <p:sp>
        <p:nvSpPr>
          <p:cNvPr id="7" name="TextBox 6"/>
          <p:cNvSpPr txBox="1"/>
          <p:nvPr/>
        </p:nvSpPr>
        <p:spPr>
          <a:xfrm>
            <a:off x="868680" y="5943600"/>
            <a:ext cx="9326880" cy="365760"/>
          </a:xfrm>
          <a:prstGeom prst="rect">
            <a:avLst/>
          </a:prstGeom>
          <a:noFill/>
        </p:spPr>
        <p:txBody>
          <a:bodyPr wrap="square" anchor="t" lIns="0" rIns="0" tIns="0" bIns="0">
            <a:spAutoFit/>
          </a:bodyPr>
          <a:lstStyle/>
          <a:p>
            <a:pPr algn="l">
              <a:lnSpc>
                <a:spcPct val="100000"/>
              </a:lnSpc>
              <a:spcAft>
                <a:spcPts val="600"/>
              </a:spcAft>
            </a:pPr>
            <a:r>
              <a:rPr sz="1400" b="0" i="0">
                <a:solidFill>
                  <a:srgbClr val="6B7280"/>
                </a:solidFill>
                <a:latin typeface="Barlow Condensed"/>
              </a:rPr>
              <a:t>Thursday, March 4, 2027  ·  SEIS 201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The yes-or-no request</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FOREMAN has already made the answer sound final</a:t>
            </a:r>
          </a:p>
        </p:txBody>
      </p:sp>
      <p:sp>
        <p:nvSpPr>
          <p:cNvPr id="5" name="Rounded Rectangle 4"/>
          <p:cNvSpPr/>
          <p:nvPr/>
        </p:nvSpPr>
        <p:spPr>
          <a:xfrm>
            <a:off x="658368" y="1911095"/>
            <a:ext cx="10853928" cy="173736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3055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FOREMAN · FINAL OUTPUT</a:t>
            </a:r>
          </a:p>
        </p:txBody>
      </p:sp>
      <p:sp>
        <p:nvSpPr>
          <p:cNvPr id="7" name="TextBox 6"/>
          <p:cNvSpPr txBox="1"/>
          <p:nvPr/>
        </p:nvSpPr>
        <p:spPr>
          <a:xfrm>
            <a:off x="932688" y="2569463"/>
            <a:ext cx="10305288" cy="822959"/>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Mean test-truck strain is up 6%. Deterioration confirmed.</a:t>
            </a:r>
          </a:p>
          <a:p>
            <a:pPr algn="l">
              <a:lnSpc>
                <a:spcPct val="118000"/>
              </a:lnSpc>
              <a:spcAft>
                <a:spcPts val="700"/>
              </a:spcAft>
            </a:pPr>
            <a:r>
              <a:rPr sz="1800" b="0" i="0">
                <a:solidFill>
                  <a:srgbClr val="2B2F36"/>
                </a:solidFill>
                <a:latin typeface="Arial"/>
              </a:rPr>
              <a:t>p = 0.04, so there is a 96% chance the deck has deteriorated.</a:t>
            </a:r>
          </a:p>
        </p:txBody>
      </p:sp>
      <p:sp>
        <p:nvSpPr>
          <p:cNvPr id="8" name="Rounded Rectangle 7"/>
          <p:cNvSpPr/>
          <p:nvPr/>
        </p:nvSpPr>
        <p:spPr>
          <a:xfrm>
            <a:off x="658368" y="3922776"/>
            <a:ext cx="10853928" cy="1234440"/>
          </a:xfrm>
          <a:prstGeom prst="roundRect">
            <a:avLst>
              <a:gd name="adj" fmla="val 3500"/>
            </a:avLst>
          </a:prstGeom>
          <a:solidFill>
            <a:srgbClr val="EEF3F8"/>
          </a:solidFill>
          <a:ln w="15875">
            <a:solidFill>
              <a:srgbClr val="3A7D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14223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DIANE HALVORSEN, PE</a:t>
            </a:r>
          </a:p>
        </p:txBody>
      </p:sp>
      <p:sp>
        <p:nvSpPr>
          <p:cNvPr id="10" name="TextBox 9"/>
          <p:cNvSpPr txBox="1"/>
          <p:nvPr/>
        </p:nvSpPr>
        <p:spPr>
          <a:xfrm>
            <a:off x="932688" y="4581144"/>
            <a:ext cx="10305288" cy="32004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Did the deck get worse since 2019—yes or 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The hunt</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Estimate · audit noise · change confidence · bound the claim</a:t>
            </a:r>
          </a:p>
        </p:txBody>
      </p:sp>
      <p:sp>
        <p:nvSpPr>
          <p:cNvPr id="5" name="Rounded Rectangle 4"/>
          <p:cNvSpPr/>
          <p:nvPr/>
        </p:nvSpPr>
        <p:spPr>
          <a:xfrm>
            <a:off x="658368" y="1956816"/>
            <a:ext cx="2514600" cy="338328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1  PAIR</a:t>
            </a:r>
          </a:p>
        </p:txBody>
      </p:sp>
      <p:sp>
        <p:nvSpPr>
          <p:cNvPr id="7" name="TextBox 6"/>
          <p:cNvSpPr txBox="1"/>
          <p:nvPr/>
        </p:nvSpPr>
        <p:spPr>
          <a:xfrm>
            <a:off x="932688"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Same eight locations</a:t>
            </a:r>
          </a:p>
          <a:p>
            <a:pPr algn="l">
              <a:lnSpc>
                <a:spcPct val="118000"/>
              </a:lnSpc>
              <a:spcAft>
                <a:spcPts val="700"/>
              </a:spcAft>
            </a:pPr>
            <a:r>
              <a:rPr sz="1600" b="0" i="0">
                <a:solidFill>
                  <a:srgbClr val="2B2F36"/>
                </a:solidFill>
                <a:latin typeface="Arial"/>
              </a:rPr>
              <a:t>2027 minus 2019</a:t>
            </a:r>
          </a:p>
        </p:txBody>
      </p:sp>
      <p:sp>
        <p:nvSpPr>
          <p:cNvPr id="8" name="Rounded Rectangle 7"/>
          <p:cNvSpPr/>
          <p:nvPr/>
        </p:nvSpPr>
        <p:spPr>
          <a:xfrm>
            <a:off x="3364992" y="1956816"/>
            <a:ext cx="2514600" cy="338328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2  QUANTIFY</a:t>
            </a:r>
          </a:p>
        </p:txBody>
      </p:sp>
      <p:sp>
        <p:nvSpPr>
          <p:cNvPr id="10" name="TextBox 9"/>
          <p:cNvSpPr txBox="1"/>
          <p:nvPr/>
        </p:nvSpPr>
        <p:spPr>
          <a:xfrm>
            <a:off x="3639312"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Mean change</a:t>
            </a:r>
          </a:p>
          <a:p>
            <a:pPr algn="l">
              <a:lnSpc>
                <a:spcPct val="118000"/>
              </a:lnSpc>
              <a:spcAft>
                <a:spcPts val="700"/>
              </a:spcAft>
            </a:pPr>
            <a:r>
              <a:rPr sz="1600" b="0" i="0">
                <a:solidFill>
                  <a:srgbClr val="2B2F36"/>
                </a:solidFill>
                <a:latin typeface="Arial"/>
              </a:rPr>
              <a:t>Standard error</a:t>
            </a:r>
          </a:p>
        </p:txBody>
      </p:sp>
      <p:sp>
        <p:nvSpPr>
          <p:cNvPr id="11" name="Rounded Rectangle 10"/>
          <p:cNvSpPr/>
          <p:nvPr/>
        </p:nvSpPr>
        <p:spPr>
          <a:xfrm>
            <a:off x="6071616" y="1956816"/>
            <a:ext cx="2514600" cy="338328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5936" y="2176272"/>
            <a:ext cx="19659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3  AUDIT</a:t>
            </a:r>
          </a:p>
        </p:txBody>
      </p:sp>
      <p:sp>
        <p:nvSpPr>
          <p:cNvPr id="13" name="TextBox 12"/>
          <p:cNvSpPr txBox="1"/>
          <p:nvPr/>
        </p:nvSpPr>
        <p:spPr>
          <a:xfrm>
            <a:off x="6345936" y="2615184"/>
            <a:ext cx="1965960"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Repeatability</a:t>
            </a:r>
          </a:p>
          <a:p>
            <a:pPr algn="l">
              <a:lnSpc>
                <a:spcPct val="118000"/>
              </a:lnSpc>
              <a:spcAft>
                <a:spcPts val="700"/>
              </a:spcAft>
            </a:pPr>
            <a:r>
              <a:rPr sz="1600" b="0" i="0">
                <a:solidFill>
                  <a:srgbClr val="2B2F36"/>
                </a:solidFill>
                <a:latin typeface="Arial"/>
              </a:rPr>
              <a:t>Matched process controls</a:t>
            </a:r>
          </a:p>
        </p:txBody>
      </p:sp>
      <p:sp>
        <p:nvSpPr>
          <p:cNvPr id="14" name="Rounded Rectangle 13"/>
          <p:cNvSpPr/>
          <p:nvPr/>
        </p:nvSpPr>
        <p:spPr>
          <a:xfrm>
            <a:off x="8778240" y="1956816"/>
            <a:ext cx="2734056" cy="338328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176272"/>
            <a:ext cx="2185416"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4  BOUND</a:t>
            </a:r>
          </a:p>
        </p:txBody>
      </p:sp>
      <p:sp>
        <p:nvSpPr>
          <p:cNvPr id="16" name="TextBox 15"/>
          <p:cNvSpPr txBox="1"/>
          <p:nvPr/>
        </p:nvSpPr>
        <p:spPr>
          <a:xfrm>
            <a:off x="9052560" y="2615184"/>
            <a:ext cx="2185416" cy="246888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95% versus 99%</a:t>
            </a:r>
          </a:p>
          <a:p>
            <a:pPr algn="l">
              <a:lnSpc>
                <a:spcPct val="118000"/>
              </a:lnSpc>
              <a:spcAft>
                <a:spcPts val="700"/>
              </a:spcAft>
            </a:pPr>
            <a:r>
              <a:rPr sz="1600" b="0" i="0">
                <a:solidFill>
                  <a:srgbClr val="2B2F36"/>
                </a:solidFill>
                <a:latin typeface="Arial"/>
              </a:rPr>
              <a:t>Signal without overclaim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1</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Build an interval</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Start with six coupons; then move to eight paired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Standard error is uncertainty in the sample mean</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SPREAD OF VALUES</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Standard deviation describes variation among observations</a:t>
            </a:r>
          </a:p>
          <a:p>
            <a:pPr algn="l">
              <a:lnSpc>
                <a:spcPct val="118000"/>
              </a:lnSpc>
              <a:spcAft>
                <a:spcPts val="700"/>
              </a:spcAft>
            </a:pPr>
            <a:r>
              <a:rPr sz="1700" b="0" i="0">
                <a:solidFill>
                  <a:srgbClr val="2B2F36"/>
                </a:solidFill>
                <a:latin typeface="Arial"/>
              </a:rPr>
              <a:t>The paired changes differ by location</a:t>
            </a:r>
          </a:p>
        </p:txBody>
      </p:sp>
      <p:sp>
        <p:nvSpPr>
          <p:cNvPr id="7" name="Rounded Rectangle 6"/>
          <p:cNvSpPr/>
          <p:nvPr/>
        </p:nvSpPr>
        <p:spPr>
          <a:xfrm>
            <a:off x="6144768" y="1389888"/>
            <a:ext cx="5367528"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SPREAD OF AN ESTIMATE</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Standard error = s / √n</a:t>
            </a:r>
          </a:p>
          <a:p>
            <a:pPr algn="l">
              <a:lnSpc>
                <a:spcPct val="118000"/>
              </a:lnSpc>
              <a:spcAft>
                <a:spcPts val="700"/>
              </a:spcAft>
            </a:pPr>
            <a:r>
              <a:rPr sz="1700" b="0" i="0">
                <a:solidFill>
                  <a:srgbClr val="2B2F36"/>
                </a:solidFill>
                <a:latin typeface="Arial"/>
              </a:rPr>
              <a:t>It estimates sample-to-sample variation of the mean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Small samples use a t multiplier</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t*</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Depends on confidence level</a:t>
            </a:r>
          </a:p>
          <a:p>
            <a:pPr algn="l">
              <a:lnSpc>
                <a:spcPct val="118000"/>
              </a:lnSpc>
              <a:spcAft>
                <a:spcPts val="700"/>
              </a:spcAft>
            </a:pPr>
            <a:r>
              <a:rPr sz="1700" b="0" i="0">
                <a:solidFill>
                  <a:srgbClr val="2B2F36"/>
                </a:solidFill>
                <a:latin typeface="Arial"/>
              </a:rPr>
              <a:t>Depends on degrees of freedom</a:t>
            </a:r>
          </a:p>
          <a:p>
            <a:pPr algn="l">
              <a:lnSpc>
                <a:spcPct val="118000"/>
              </a:lnSpc>
              <a:spcAft>
                <a:spcPts val="700"/>
              </a:spcAft>
            </a:pPr>
            <a:r>
              <a:rPr sz="1700" b="0" i="0">
                <a:solidFill>
                  <a:srgbClr val="2B2F36"/>
                </a:solidFill>
                <a:latin typeface="Arial"/>
              </a:rPr>
              <a:t>Larger confidence demand → larger multiplier</a:t>
            </a:r>
          </a:p>
        </p:txBody>
      </p:sp>
      <p:sp>
        <p:nvSpPr>
          <p:cNvPr id="7" name="Rounded Rectangle 6"/>
          <p:cNvSpPr/>
          <p:nvPr/>
        </p:nvSpPr>
        <p:spPr>
          <a:xfrm>
            <a:off x="6144768" y="1389888"/>
            <a:ext cx="5367528"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MARGIN</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margin = t* × standard error</a:t>
            </a:r>
          </a:p>
          <a:p>
            <a:pPr algn="l">
              <a:lnSpc>
                <a:spcPct val="118000"/>
              </a:lnSpc>
              <a:spcAft>
                <a:spcPts val="700"/>
              </a:spcAft>
            </a:pPr>
            <a:r>
              <a:rPr sz="1800" b="0" i="0">
                <a:solidFill>
                  <a:srgbClr val="2B2F36"/>
                </a:solidFill>
                <a:latin typeface="Arial"/>
              </a:rPr>
              <a:t>interval = estimate ± margin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Confidence describes a method—not a vote on a claim</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95% CONFIDENCE</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800" b="0" i="0">
                <a:solidFill>
                  <a:srgbClr val="2B2F36"/>
                </a:solidFill>
                <a:latin typeface="Arial"/>
              </a:rPr>
              <a:t>In repeated sampling, about 95% of intervals built this way capture the true mean</a:t>
            </a:r>
          </a:p>
        </p:txBody>
      </p:sp>
      <p:sp>
        <p:nvSpPr>
          <p:cNvPr id="7" name="Rounded Rectangle 6"/>
          <p:cNvSpPr/>
          <p:nvPr/>
        </p:nvSpPr>
        <p:spPr>
          <a:xfrm>
            <a:off x="6144768" y="1389888"/>
            <a:ext cx="5367528"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NOT THIS</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A 95% chance this calculated interval moves</a:t>
            </a:r>
          </a:p>
          <a:p>
            <a:pPr algn="l">
              <a:lnSpc>
                <a:spcPct val="118000"/>
              </a:lnSpc>
              <a:spcAft>
                <a:spcPts val="700"/>
              </a:spcAft>
            </a:pPr>
            <a:r>
              <a:rPr sz="1700" b="0" i="0">
                <a:solidFill>
                  <a:srgbClr val="2B2F36"/>
                </a:solidFill>
                <a:latin typeface="Arial"/>
              </a:rPr>
              <a:t>A 95% chance FOREMAN's story is true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Warm up with six coupons</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10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Open coupons.csv and H10-01.</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Calculate the mean, sample SD, and SE.</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Read t* for 95% confidence and df = 5 from the supplied table.</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Build and interpret the interval on mean yield strength.</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The warm-up teaches mechanics; it does not answer the deck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828800" cy="914400"/>
          </a:xfrm>
          <a:prstGeom prst="rect">
            <a:avLst/>
          </a:prstGeom>
          <a:noFill/>
        </p:spPr>
        <p:txBody>
          <a:bodyPr wrap="square" anchor="t" lIns="0" rIns="0" tIns="0" bIns="0">
            <a:spAutoFit/>
          </a:bodyPr>
          <a:lstStyle/>
          <a:p>
            <a:pPr algn="l">
              <a:lnSpc>
                <a:spcPct val="90000"/>
              </a:lnSpc>
              <a:spcAft>
                <a:spcPts val="600"/>
              </a:spcAft>
            </a:pPr>
            <a:r>
              <a:rPr sz="9000" b="1" i="0">
                <a:solidFill>
                  <a:srgbClr val="F26B1D"/>
                </a:solidFill>
                <a:latin typeface="Barlow Condensed"/>
              </a:rPr>
              <a:t>2</a:t>
            </a:r>
          </a:p>
        </p:txBody>
      </p:sp>
      <p:sp>
        <p:nvSpPr>
          <p:cNvPr id="4" name="TextBox 3"/>
          <p:cNvSpPr txBox="1"/>
          <p:nvPr/>
        </p:nvSpPr>
        <p:spPr>
          <a:xfrm>
            <a:off x="914400" y="3291840"/>
            <a:ext cx="10058400" cy="1280160"/>
          </a:xfrm>
          <a:prstGeom prst="rect">
            <a:avLst/>
          </a:prstGeom>
          <a:noFill/>
        </p:spPr>
        <p:txBody>
          <a:bodyPr wrap="square" anchor="t" lIns="0" rIns="0" tIns="0" bIns="0">
            <a:spAutoFit/>
          </a:bodyPr>
          <a:lstStyle/>
          <a:p>
            <a:pPr algn="l">
              <a:lnSpc>
                <a:spcPct val="100000"/>
              </a:lnSpc>
              <a:spcAft>
                <a:spcPts val="600"/>
              </a:spcAft>
            </a:pPr>
            <a:r>
              <a:rPr sz="4600" b="1" i="0">
                <a:solidFill>
                  <a:srgbClr val="FFFFFF"/>
                </a:solidFill>
                <a:latin typeface="Barlow Condensed"/>
              </a:rPr>
              <a:t>Separate signal from noise</a:t>
            </a:r>
          </a:p>
        </p:txBody>
      </p:sp>
      <p:sp>
        <p:nvSpPr>
          <p:cNvPr id="5" name="TextBox 4"/>
          <p:cNvSpPr txBox="1"/>
          <p:nvPr/>
        </p:nvSpPr>
        <p:spPr>
          <a:xfrm>
            <a:off x="914400" y="4572000"/>
            <a:ext cx="9144000" cy="731520"/>
          </a:xfrm>
          <a:prstGeom prst="rect">
            <a:avLst/>
          </a:prstGeom>
          <a:noFill/>
        </p:spPr>
        <p:txBody>
          <a:bodyPr wrap="square" anchor="t" lIns="0" rIns="0" tIns="0" bIns="0">
            <a:spAutoFit/>
          </a:bodyPr>
          <a:lstStyle/>
          <a:p>
            <a:pPr algn="l">
              <a:lnSpc>
                <a:spcPct val="120000"/>
              </a:lnSpc>
              <a:spcAft>
                <a:spcPts val="600"/>
              </a:spcAft>
            </a:pPr>
            <a:r>
              <a:rPr sz="1900" b="0" i="0">
                <a:solidFill>
                  <a:srgbClr val="6F8FAF"/>
                </a:solidFill>
                <a:latin typeface="Arial"/>
              </a:rPr>
              <a:t>Pair locations and inspect what the test process controlled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Pairing asks each location to serve as its own baseline</a:t>
            </a:r>
          </a:p>
        </p:txBody>
      </p:sp>
      <p:sp>
        <p:nvSpPr>
          <p:cNvPr id="4" name="Rounded Rectangle 3"/>
          <p:cNvSpPr/>
          <p:nvPr/>
        </p:nvSpPr>
        <p:spPr>
          <a:xfrm>
            <a:off x="658368" y="1389888"/>
            <a:ext cx="5349240"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UNPAIRED QUESTION</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How do all 2019 values compare with all 2027 values?</a:t>
            </a:r>
          </a:p>
          <a:p>
            <a:pPr algn="l">
              <a:lnSpc>
                <a:spcPct val="118000"/>
              </a:lnSpc>
              <a:spcAft>
                <a:spcPts val="700"/>
              </a:spcAft>
            </a:pPr>
            <a:r>
              <a:rPr sz="1600" b="0" i="0">
                <a:solidFill>
                  <a:srgbClr val="2B2F36"/>
                </a:solidFill>
                <a:latin typeface="Arial"/>
              </a:rPr>
              <a:t>Location differences remain mixed into the spread</a:t>
            </a:r>
          </a:p>
        </p:txBody>
      </p:sp>
      <p:sp>
        <p:nvSpPr>
          <p:cNvPr id="7" name="Rounded Rectangle 6"/>
          <p:cNvSpPr/>
          <p:nvPr/>
        </p:nvSpPr>
        <p:spPr>
          <a:xfrm>
            <a:off x="6144768" y="1389888"/>
            <a:ext cx="5367528"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PAIRED QUESTION</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For each same location, what is 2027 − 2019?</a:t>
            </a:r>
          </a:p>
          <a:p>
            <a:pPr algn="l">
              <a:lnSpc>
                <a:spcPct val="118000"/>
              </a:lnSpc>
              <a:spcAft>
                <a:spcPts val="700"/>
              </a:spcAft>
            </a:pPr>
            <a:r>
              <a:rPr sz="1700" b="0" i="0">
                <a:solidFill>
                  <a:srgbClr val="2B2F36"/>
                </a:solidFill>
                <a:latin typeface="Arial"/>
              </a:rPr>
              <a:t>Analyze the eight location changes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Noise has more than one address</a:t>
            </a:r>
          </a:p>
        </p:txBody>
      </p:sp>
      <p:sp>
        <p:nvSpPr>
          <p:cNvPr id="4" name="Rounded Rectangle 3"/>
          <p:cNvSpPr/>
          <p:nvPr/>
        </p:nvSpPr>
        <p:spPr>
          <a:xfrm>
            <a:off x="658368" y="1389888"/>
            <a:ext cx="342900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MEASUREMENT</a:t>
            </a:r>
          </a:p>
        </p:txBody>
      </p:sp>
      <p:sp>
        <p:nvSpPr>
          <p:cNvPr id="6" name="TextBox 5"/>
          <p:cNvSpPr txBox="1"/>
          <p:nvPr/>
        </p:nvSpPr>
        <p:spPr>
          <a:xfrm>
            <a:off x="932688" y="2048256"/>
            <a:ext cx="2880360"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Instrument resolution</a:t>
            </a:r>
          </a:p>
          <a:p>
            <a:pPr algn="l">
              <a:lnSpc>
                <a:spcPct val="118000"/>
              </a:lnSpc>
              <a:spcAft>
                <a:spcPts val="700"/>
              </a:spcAft>
            </a:pPr>
            <a:r>
              <a:rPr sz="1600" b="0" i="0">
                <a:solidFill>
                  <a:srgbClr val="2B2F36"/>
                </a:solidFill>
                <a:latin typeface="Arial"/>
              </a:rPr>
              <a:t>Pass-to-pass repeatability</a:t>
            </a:r>
          </a:p>
          <a:p>
            <a:pPr algn="l">
              <a:lnSpc>
                <a:spcPct val="118000"/>
              </a:lnSpc>
              <a:spcAft>
                <a:spcPts val="700"/>
              </a:spcAft>
            </a:pPr>
            <a:r>
              <a:rPr sz="1600" b="0" i="0">
                <a:solidFill>
                  <a:srgbClr val="2B2F36"/>
                </a:solidFill>
                <a:latin typeface="Arial"/>
              </a:rPr>
              <a:t>Calibration</a:t>
            </a:r>
          </a:p>
        </p:txBody>
      </p:sp>
      <p:sp>
        <p:nvSpPr>
          <p:cNvPr id="7" name="Rounded Rectangle 6"/>
          <p:cNvSpPr/>
          <p:nvPr/>
        </p:nvSpPr>
        <p:spPr>
          <a:xfrm>
            <a:off x="4379976" y="1389888"/>
            <a:ext cx="3429000" cy="342900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54296" y="1609344"/>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PROCESS</a:t>
            </a:r>
          </a:p>
        </p:txBody>
      </p:sp>
      <p:sp>
        <p:nvSpPr>
          <p:cNvPr id="9" name="TextBox 8"/>
          <p:cNvSpPr txBox="1"/>
          <p:nvPr/>
        </p:nvSpPr>
        <p:spPr>
          <a:xfrm>
            <a:off x="4654296" y="2048256"/>
            <a:ext cx="2880360"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Truck load</a:t>
            </a:r>
          </a:p>
          <a:p>
            <a:pPr algn="l">
              <a:lnSpc>
                <a:spcPct val="118000"/>
              </a:lnSpc>
              <a:spcAft>
                <a:spcPts val="700"/>
              </a:spcAft>
            </a:pPr>
            <a:r>
              <a:rPr sz="1600" b="0" i="0">
                <a:solidFill>
                  <a:srgbClr val="2B2F36"/>
                </a:solidFill>
                <a:latin typeface="Arial"/>
              </a:rPr>
              <a:t>Lane position</a:t>
            </a:r>
          </a:p>
          <a:p>
            <a:pPr algn="l">
              <a:lnSpc>
                <a:spcPct val="118000"/>
              </a:lnSpc>
              <a:spcAft>
                <a:spcPts val="700"/>
              </a:spcAft>
            </a:pPr>
            <a:r>
              <a:rPr sz="1600" b="0" i="0">
                <a:solidFill>
                  <a:srgbClr val="2B2F36"/>
                </a:solidFill>
                <a:latin typeface="Arial"/>
              </a:rPr>
              <a:t>Speed</a:t>
            </a:r>
          </a:p>
          <a:p>
            <a:pPr algn="l">
              <a:lnSpc>
                <a:spcPct val="118000"/>
              </a:lnSpc>
              <a:spcAft>
                <a:spcPts val="700"/>
              </a:spcAft>
            </a:pPr>
            <a:r>
              <a:rPr sz="1600" b="0" i="0">
                <a:solidFill>
                  <a:srgbClr val="2B2F36"/>
                </a:solidFill>
                <a:latin typeface="Arial"/>
              </a:rPr>
              <a:t>Temperature handling</a:t>
            </a:r>
          </a:p>
        </p:txBody>
      </p:sp>
      <p:sp>
        <p:nvSpPr>
          <p:cNvPr id="10" name="Rounded Rectangle 9"/>
          <p:cNvSpPr/>
          <p:nvPr/>
        </p:nvSpPr>
        <p:spPr>
          <a:xfrm>
            <a:off x="8101583" y="1389888"/>
            <a:ext cx="3429000"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75904" y="1609344"/>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SAMPLING</a:t>
            </a:r>
          </a:p>
        </p:txBody>
      </p:sp>
      <p:sp>
        <p:nvSpPr>
          <p:cNvPr id="12" name="TextBox 11"/>
          <p:cNvSpPr txBox="1"/>
          <p:nvPr/>
        </p:nvSpPr>
        <p:spPr>
          <a:xfrm>
            <a:off x="8375904" y="2048256"/>
            <a:ext cx="2880360"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Only eight locations</a:t>
            </a:r>
          </a:p>
          <a:p>
            <a:pPr algn="l">
              <a:lnSpc>
                <a:spcPct val="118000"/>
              </a:lnSpc>
              <a:spcAft>
                <a:spcPts val="700"/>
              </a:spcAft>
            </a:pPr>
            <a:r>
              <a:rPr sz="1600" b="0" i="0">
                <a:solidFill>
                  <a:srgbClr val="2B2F36"/>
                </a:solidFill>
                <a:latin typeface="Arial"/>
              </a:rPr>
              <a:t>Change varies by location</a:t>
            </a:r>
          </a:p>
          <a:p>
            <a:pPr algn="l">
              <a:lnSpc>
                <a:spcPct val="118000"/>
              </a:lnSpc>
              <a:spcAft>
                <a:spcPts val="700"/>
              </a:spcAft>
            </a:pPr>
            <a:r>
              <a:rPr sz="1600" b="0" i="0">
                <a:solidFill>
                  <a:srgbClr val="2B2F36"/>
                </a:solidFill>
                <a:latin typeface="Arial"/>
              </a:rPr>
              <a:t>SE and interval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Audit the test before the p-value</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8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Open H10-02 and M10-test-control-check.csv.</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Verify load, lane position, speed, passes, and temperature handling across years.</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Compare within-test repeatability SD with each paired change.</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List one source reduced by design and one uncertainty that remains.</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Matched controls reduce alternative explanations; they do not diagnose a mechanism.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Build the paired 95% interval</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12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Use M10-paired-location-summary.csv and H10-03.</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Check each 2027 − 2019 change before summarizing.</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Calculate mean, SD, SE, t* for df = 7, and the 95% interval.</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Decide whether zero mean change remains plausible at this confidence level.</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Commit the interval and a one-sentence claim before the reveal.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Significance is not size, certainty, or diagnosis</a:t>
            </a:r>
          </a:p>
        </p:txBody>
      </p:sp>
      <p:sp>
        <p:nvSpPr>
          <p:cNvPr id="4" name="Rounded Rectangle 3"/>
          <p:cNvSpPr/>
          <p:nvPr/>
        </p:nvSpPr>
        <p:spPr>
          <a:xfrm>
            <a:off x="658368" y="1389888"/>
            <a:ext cx="5349240" cy="342900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09344"/>
            <a:ext cx="480060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p-VALUE</a:t>
            </a:r>
          </a:p>
        </p:txBody>
      </p:sp>
      <p:sp>
        <p:nvSpPr>
          <p:cNvPr id="6" name="TextBox 5"/>
          <p:cNvSpPr txBox="1"/>
          <p:nvPr/>
        </p:nvSpPr>
        <p:spPr>
          <a:xfrm>
            <a:off x="932688" y="2048256"/>
            <a:ext cx="4800600"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Assumes a null model</a:t>
            </a:r>
          </a:p>
          <a:p>
            <a:pPr algn="l">
              <a:lnSpc>
                <a:spcPct val="118000"/>
              </a:lnSpc>
              <a:spcAft>
                <a:spcPts val="700"/>
              </a:spcAft>
            </a:pPr>
            <a:r>
              <a:rPr sz="1600" b="0" i="0">
                <a:solidFill>
                  <a:srgbClr val="2B2F36"/>
                </a:solidFill>
                <a:latin typeface="Arial"/>
              </a:rPr>
              <a:t>Asks how unusual this result would be under that model</a:t>
            </a:r>
          </a:p>
          <a:p>
            <a:pPr algn="l">
              <a:lnSpc>
                <a:spcPct val="118000"/>
              </a:lnSpc>
              <a:spcAft>
                <a:spcPts val="700"/>
              </a:spcAft>
            </a:pPr>
            <a:r>
              <a:rPr sz="1600" b="0" i="0">
                <a:solidFill>
                  <a:srgbClr val="2B2F36"/>
                </a:solidFill>
                <a:latin typeface="Arial"/>
              </a:rPr>
              <a:t>Does not assign probability to FOREMAN's claim</a:t>
            </a:r>
          </a:p>
        </p:txBody>
      </p:sp>
      <p:sp>
        <p:nvSpPr>
          <p:cNvPr id="7" name="Rounded Rectangle 6"/>
          <p:cNvSpPr/>
          <p:nvPr/>
        </p:nvSpPr>
        <p:spPr>
          <a:xfrm>
            <a:off x="6144768" y="1389888"/>
            <a:ext cx="5367528" cy="342900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9088" y="1609344"/>
            <a:ext cx="48188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ENGINEERING CLAIM</a:t>
            </a:r>
          </a:p>
        </p:txBody>
      </p:sp>
      <p:sp>
        <p:nvSpPr>
          <p:cNvPr id="9" name="TextBox 8"/>
          <p:cNvSpPr txBox="1"/>
          <p:nvPr/>
        </p:nvSpPr>
        <p:spPr>
          <a:xfrm>
            <a:off x="6419088" y="2048256"/>
            <a:ext cx="4818888" cy="2514600"/>
          </a:xfrm>
          <a:prstGeom prst="rect">
            <a:avLst/>
          </a:prstGeom>
          <a:noFill/>
        </p:spPr>
        <p:txBody>
          <a:bodyPr wrap="square" anchor="t" lIns="0" rIns="0" tIns="0" bIns="0">
            <a:spAutoFit/>
          </a:bodyPr>
          <a:lstStyle/>
          <a:p>
            <a:pPr algn="l">
              <a:lnSpc>
                <a:spcPct val="118000"/>
              </a:lnSpc>
              <a:spcAft>
                <a:spcPts val="700"/>
              </a:spcAft>
            </a:pPr>
            <a:r>
              <a:rPr sz="1600" b="0" i="0">
                <a:solidFill>
                  <a:srgbClr val="2B2F36"/>
                </a:solidFill>
                <a:latin typeface="Arial"/>
              </a:rPr>
              <a:t>Needs magnitude</a:t>
            </a:r>
          </a:p>
          <a:p>
            <a:pPr algn="l">
              <a:lnSpc>
                <a:spcPct val="118000"/>
              </a:lnSpc>
              <a:spcAft>
                <a:spcPts val="700"/>
              </a:spcAft>
            </a:pPr>
            <a:r>
              <a:rPr sz="1600" b="0" i="0">
                <a:solidFill>
                  <a:srgbClr val="2B2F36"/>
                </a:solidFill>
                <a:latin typeface="Arial"/>
              </a:rPr>
              <a:t>Needs uncertainty</a:t>
            </a:r>
          </a:p>
          <a:p>
            <a:pPr algn="l">
              <a:lnSpc>
                <a:spcPct val="118000"/>
              </a:lnSpc>
              <a:spcAft>
                <a:spcPts val="700"/>
              </a:spcAft>
            </a:pPr>
            <a:r>
              <a:rPr sz="1600" b="0" i="0">
                <a:solidFill>
                  <a:srgbClr val="2B2F36"/>
                </a:solidFill>
                <a:latin typeface="Arial"/>
              </a:rPr>
              <a:t>Needs test controls</a:t>
            </a:r>
          </a:p>
          <a:p>
            <a:pPr algn="l">
              <a:lnSpc>
                <a:spcPct val="118000"/>
              </a:lnSpc>
              <a:spcAft>
                <a:spcPts val="700"/>
              </a:spcAft>
            </a:pPr>
            <a:r>
              <a:rPr sz="1600" b="0" i="0">
                <a:solidFill>
                  <a:srgbClr val="2B2F36"/>
                </a:solidFill>
                <a:latin typeface="Arial"/>
              </a:rPr>
              <a:t>May still need a physical mechanism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508760"/>
          </a:xfrm>
          <a:prstGeom prst="rect">
            <a:avLst/>
          </a:prstGeom>
          <a:solidFill>
            <a:srgbClr val="F2C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29184"/>
            <a:ext cx="859536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2B2F36"/>
                </a:solidFill>
                <a:latin typeface="Barlow Condensed"/>
              </a:rPr>
              <a:t>IN CLASS — DO THIS NOW</a:t>
            </a:r>
          </a:p>
        </p:txBody>
      </p:sp>
      <p:sp>
        <p:nvSpPr>
          <p:cNvPr id="5" name="TextBox 4"/>
          <p:cNvSpPr txBox="1"/>
          <p:nvPr/>
        </p:nvSpPr>
        <p:spPr>
          <a:xfrm>
            <a:off x="658368" y="713232"/>
            <a:ext cx="8595360" cy="640080"/>
          </a:xfrm>
          <a:prstGeom prst="rect">
            <a:avLst/>
          </a:prstGeom>
          <a:noFill/>
        </p:spPr>
        <p:txBody>
          <a:bodyPr wrap="square" anchor="t" lIns="0" rIns="0" tIns="0" bIns="0">
            <a:spAutoFit/>
          </a:bodyPr>
          <a:lstStyle/>
          <a:p>
            <a:pPr algn="l">
              <a:lnSpc>
                <a:spcPct val="100000"/>
              </a:lnSpc>
              <a:spcAft>
                <a:spcPts val="600"/>
              </a:spcAft>
            </a:pPr>
            <a:r>
              <a:rPr sz="3400" b="1" i="0">
                <a:solidFill>
                  <a:srgbClr val="2B2F36"/>
                </a:solidFill>
                <a:latin typeface="Barlow Condensed"/>
              </a:rPr>
              <a:t>Raise the confidence level</a:t>
            </a:r>
          </a:p>
        </p:txBody>
      </p:sp>
      <p:sp>
        <p:nvSpPr>
          <p:cNvPr id="6" name="Rounded Rectangle 5"/>
          <p:cNvSpPr/>
          <p:nvPr/>
        </p:nvSpPr>
        <p:spPr>
          <a:xfrm>
            <a:off x="9966960" y="384048"/>
            <a:ext cx="1572768" cy="749808"/>
          </a:xfrm>
          <a:prstGeom prst="roundRect">
            <a:avLst>
              <a:gd name="adj" fmla="val 12000"/>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0" y="475488"/>
            <a:ext cx="1572768" cy="566928"/>
          </a:xfrm>
          <a:prstGeom prst="rect">
            <a:avLst/>
          </a:prstGeom>
          <a:noFill/>
        </p:spPr>
        <p:txBody>
          <a:bodyPr wrap="square" anchor="t" lIns="0" rIns="0" tIns="0" bIns="0">
            <a:spAutoFit/>
          </a:bodyPr>
          <a:lstStyle/>
          <a:p>
            <a:pPr algn="ctr">
              <a:lnSpc>
                <a:spcPct val="100000"/>
              </a:lnSpc>
              <a:spcAft>
                <a:spcPts val="600"/>
              </a:spcAft>
            </a:pPr>
            <a:r>
              <a:rPr sz="2600" b="1" i="0">
                <a:solidFill>
                  <a:srgbClr val="F2C230"/>
                </a:solidFill>
                <a:latin typeface="Barlow Condensed"/>
              </a:rPr>
              <a:t>5 min</a:t>
            </a:r>
          </a:p>
        </p:txBody>
      </p:sp>
      <p:sp>
        <p:nvSpPr>
          <p:cNvPr id="8" name="Rounded Rectangle 7"/>
          <p:cNvSpPr/>
          <p:nvPr/>
        </p:nvSpPr>
        <p:spPr>
          <a:xfrm>
            <a:off x="685800" y="1965960"/>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29967"/>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1</a:t>
            </a:r>
          </a:p>
        </p:txBody>
      </p:sp>
      <p:sp>
        <p:nvSpPr>
          <p:cNvPr id="10" name="TextBox 9"/>
          <p:cNvSpPr txBox="1"/>
          <p:nvPr/>
        </p:nvSpPr>
        <p:spPr>
          <a:xfrm>
            <a:off x="1298448" y="1984248"/>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Keep the same mean, SD, SE, and df.</a:t>
            </a:r>
          </a:p>
        </p:txBody>
      </p:sp>
      <p:sp>
        <p:nvSpPr>
          <p:cNvPr id="11" name="Rounded Rectangle 10"/>
          <p:cNvSpPr/>
          <p:nvPr/>
        </p:nvSpPr>
        <p:spPr>
          <a:xfrm>
            <a:off x="685800" y="2441448"/>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05456"/>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2</a:t>
            </a:r>
          </a:p>
        </p:txBody>
      </p:sp>
      <p:sp>
        <p:nvSpPr>
          <p:cNvPr id="13" name="TextBox 12"/>
          <p:cNvSpPr txBox="1"/>
          <p:nvPr/>
        </p:nvSpPr>
        <p:spPr>
          <a:xfrm>
            <a:off x="1298448" y="2459736"/>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Replace the 95% t multiplier with the 99% multiplier.</a:t>
            </a:r>
          </a:p>
        </p:txBody>
      </p:sp>
      <p:sp>
        <p:nvSpPr>
          <p:cNvPr id="14" name="Rounded Rectangle 13"/>
          <p:cNvSpPr/>
          <p:nvPr/>
        </p:nvSpPr>
        <p:spPr>
          <a:xfrm>
            <a:off x="685800" y="2916936"/>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80944"/>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3</a:t>
            </a:r>
          </a:p>
        </p:txBody>
      </p:sp>
      <p:sp>
        <p:nvSpPr>
          <p:cNvPr id="16" name="TextBox 15"/>
          <p:cNvSpPr txBox="1"/>
          <p:nvPr/>
        </p:nvSpPr>
        <p:spPr>
          <a:xfrm>
            <a:off x="1298448" y="2935224"/>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Rebuild the interval and check whether zero enters.</a:t>
            </a:r>
          </a:p>
        </p:txBody>
      </p:sp>
      <p:sp>
        <p:nvSpPr>
          <p:cNvPr id="17" name="Rounded Rectangle 16"/>
          <p:cNvSpPr/>
          <p:nvPr/>
        </p:nvSpPr>
        <p:spPr>
          <a:xfrm>
            <a:off x="685800" y="3392424"/>
            <a:ext cx="420624" cy="420624"/>
          </a:xfrm>
          <a:prstGeom prst="roundRect">
            <a:avLst>
              <a:gd name="adj" fmla="val 50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456432"/>
            <a:ext cx="420624" cy="310896"/>
          </a:xfrm>
          <a:prstGeom prst="rect">
            <a:avLst/>
          </a:prstGeom>
          <a:noFill/>
        </p:spPr>
        <p:txBody>
          <a:bodyPr wrap="square" anchor="t" lIns="0" rIns="0" tIns="0" bIns="0">
            <a:spAutoFit/>
          </a:bodyPr>
          <a:lstStyle/>
          <a:p>
            <a:pPr algn="ctr">
              <a:lnSpc>
                <a:spcPct val="100000"/>
              </a:lnSpc>
              <a:spcAft>
                <a:spcPts val="600"/>
              </a:spcAft>
            </a:pPr>
            <a:r>
              <a:rPr sz="1900" b="1" i="0">
                <a:solidFill>
                  <a:srgbClr val="FFFFFF"/>
                </a:solidFill>
                <a:latin typeface="Barlow Condensed"/>
              </a:rPr>
              <a:t>4</a:t>
            </a:r>
          </a:p>
        </p:txBody>
      </p:sp>
      <p:sp>
        <p:nvSpPr>
          <p:cNvPr id="19" name="TextBox 18"/>
          <p:cNvSpPr txBox="1"/>
          <p:nvPr/>
        </p:nvSpPr>
        <p:spPr>
          <a:xfrm>
            <a:off x="1298448" y="3410712"/>
            <a:ext cx="9966960" cy="731520"/>
          </a:xfrm>
          <a:prstGeom prst="rect">
            <a:avLst/>
          </a:prstGeom>
          <a:noFill/>
        </p:spPr>
        <p:txBody>
          <a:bodyPr wrap="square" anchor="t" lIns="0" rIns="0" tIns="0" bIns="0">
            <a:spAutoFit/>
          </a:bodyPr>
          <a:lstStyle/>
          <a:p>
            <a:pPr algn="l">
              <a:lnSpc>
                <a:spcPct val="114000"/>
              </a:lnSpc>
              <a:spcAft>
                <a:spcPts val="600"/>
              </a:spcAft>
            </a:pPr>
            <a:r>
              <a:rPr sz="1800" b="0" i="0">
                <a:solidFill>
                  <a:srgbClr val="2B2F36"/>
                </a:solidFill>
                <a:latin typeface="Arial"/>
              </a:rPr>
              <a:t>Explain why the two intervals are not contradictory.</a:t>
            </a:r>
          </a:p>
        </p:txBody>
      </p:sp>
      <p:sp>
        <p:nvSpPr>
          <p:cNvPr id="20" name="TextBox 19"/>
          <p:cNvSpPr txBox="1"/>
          <p:nvPr/>
        </p:nvSpPr>
        <p:spPr>
          <a:xfrm>
            <a:off x="685800" y="5897880"/>
            <a:ext cx="10789920" cy="548640"/>
          </a:xfrm>
          <a:prstGeom prst="rect">
            <a:avLst/>
          </a:prstGeom>
          <a:noFill/>
        </p:spPr>
        <p:txBody>
          <a:bodyPr wrap="square" anchor="t" lIns="0" rIns="0" tIns="0" bIns="0">
            <a:spAutoFit/>
          </a:bodyPr>
          <a:lstStyle/>
          <a:p>
            <a:pPr algn="l">
              <a:lnSpc>
                <a:spcPct val="115000"/>
              </a:lnSpc>
              <a:spcAft>
                <a:spcPts val="600"/>
              </a:spcAft>
            </a:pPr>
            <a:r>
              <a:rPr sz="1500" b="0" i="1">
                <a:solidFill>
                  <a:srgbClr val="6B7280"/>
                </a:solidFill>
                <a:latin typeface="Arial"/>
              </a:rPr>
              <a:t>Higher confidence requires a wider interval.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Write Unit 2 Note v2</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Claim · check · result · now with an interval</a:t>
            </a:r>
          </a:p>
        </p:txBody>
      </p:sp>
      <p:sp>
        <p:nvSpPr>
          <p:cNvPr id="5" name="Rounded Rectangle 4"/>
          <p:cNvSpPr/>
          <p:nvPr/>
        </p:nvSpPr>
        <p:spPr>
          <a:xfrm>
            <a:off x="658368" y="1956816"/>
            <a:ext cx="3429000" cy="3337560"/>
          </a:xfrm>
          <a:prstGeom prst="roundRect">
            <a:avLst>
              <a:gd name="adj" fmla="val 3500"/>
            </a:avLst>
          </a:prstGeom>
          <a:solidFill>
            <a:srgbClr val="FFF1E8"/>
          </a:solidFill>
          <a:ln w="15875">
            <a:solidFill>
              <a:srgbClr val="F26B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26B1D"/>
                </a:solidFill>
                <a:latin typeface="Barlow Condensed"/>
              </a:rPr>
              <a:t>CLAIM</a:t>
            </a:r>
          </a:p>
        </p:txBody>
      </p:sp>
      <p:sp>
        <p:nvSpPr>
          <p:cNvPr id="7" name="TextBox 6"/>
          <p:cNvSpPr txBox="1"/>
          <p:nvPr/>
        </p:nvSpPr>
        <p:spPr>
          <a:xfrm>
            <a:off x="932688"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State FOREMAN's 6% and p-value interpretation.</a:t>
            </a:r>
          </a:p>
        </p:txBody>
      </p:sp>
      <p:sp>
        <p:nvSpPr>
          <p:cNvPr id="8" name="Rounded Rectangle 7"/>
          <p:cNvSpPr/>
          <p:nvPr/>
        </p:nvSpPr>
        <p:spPr>
          <a:xfrm>
            <a:off x="4379976" y="1956816"/>
            <a:ext cx="3429000" cy="3337560"/>
          </a:xfrm>
          <a:prstGeom prst="roundRect">
            <a:avLst>
              <a:gd name="adj" fmla="val 35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54296"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1F3A5F"/>
                </a:solidFill>
                <a:latin typeface="Barlow Condensed"/>
              </a:rPr>
              <a:t>CHECK</a:t>
            </a:r>
          </a:p>
        </p:txBody>
      </p:sp>
      <p:sp>
        <p:nvSpPr>
          <p:cNvPr id="10" name="TextBox 9"/>
          <p:cNvSpPr txBox="1"/>
          <p:nvPr/>
        </p:nvSpPr>
        <p:spPr>
          <a:xfrm>
            <a:off x="4654296"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Give paired estimate, interval, and noise/control audit.</a:t>
            </a:r>
          </a:p>
        </p:txBody>
      </p:sp>
      <p:sp>
        <p:nvSpPr>
          <p:cNvPr id="11" name="Rounded Rectangle 10"/>
          <p:cNvSpPr/>
          <p:nvPr/>
        </p:nvSpPr>
        <p:spPr>
          <a:xfrm>
            <a:off x="8101583" y="1956816"/>
            <a:ext cx="3429000" cy="3337560"/>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2176272"/>
            <a:ext cx="2880360"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RESULT</a:t>
            </a:r>
          </a:p>
        </p:txBody>
      </p:sp>
      <p:sp>
        <p:nvSpPr>
          <p:cNvPr id="13" name="TextBox 12"/>
          <p:cNvSpPr txBox="1"/>
          <p:nvPr/>
        </p:nvSpPr>
        <p:spPr>
          <a:xfrm>
            <a:off x="8375904" y="2615184"/>
            <a:ext cx="2880360" cy="2423160"/>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Say how sure—and what the data still cannot prove.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85800"/>
            <a:ext cx="10424160" cy="73152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Barlow Condensed"/>
              </a:rPr>
              <a:t>Before the gated reveal</a:t>
            </a:r>
          </a:p>
        </p:txBody>
      </p:sp>
      <p:sp>
        <p:nvSpPr>
          <p:cNvPr id="4" name="TextBox 3"/>
          <p:cNvSpPr txBox="1"/>
          <p:nvPr/>
        </p:nvSpPr>
        <p:spPr>
          <a:xfrm>
            <a:off x="868680" y="173736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HAND IN</a:t>
            </a:r>
          </a:p>
        </p:txBody>
      </p:sp>
      <p:sp>
        <p:nvSpPr>
          <p:cNvPr id="5" name="TextBox 4"/>
          <p:cNvSpPr txBox="1"/>
          <p:nvPr/>
        </p:nvSpPr>
        <p:spPr>
          <a:xfrm>
            <a:off x="3749039" y="170078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H10-03 and H10-06 after committing the paired claim.</a:t>
            </a:r>
          </a:p>
        </p:txBody>
      </p:sp>
      <p:sp>
        <p:nvSpPr>
          <p:cNvPr id="6" name="TextBox 5"/>
          <p:cNvSpPr txBox="1"/>
          <p:nvPr/>
        </p:nvSpPr>
        <p:spPr>
          <a:xfrm>
            <a:off x="868680" y="2606039"/>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ASSIGNED</a:t>
            </a:r>
          </a:p>
        </p:txBody>
      </p:sp>
      <p:sp>
        <p:nvSpPr>
          <p:cNvPr id="7" name="TextBox 6"/>
          <p:cNvSpPr txBox="1"/>
          <p:nvPr/>
        </p:nvSpPr>
        <p:spPr>
          <a:xfrm>
            <a:off x="3749039" y="2569463"/>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HW5: audit duplicate timestamps before building the peak-strain interval.</a:t>
            </a:r>
          </a:p>
        </p:txBody>
      </p:sp>
      <p:sp>
        <p:nvSpPr>
          <p:cNvPr id="8" name="TextBox 7"/>
          <p:cNvSpPr txBox="1"/>
          <p:nvPr/>
        </p:nvSpPr>
        <p:spPr>
          <a:xfrm>
            <a:off x="868680" y="347472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RECORD</a:t>
            </a:r>
          </a:p>
        </p:txBody>
      </p:sp>
      <p:sp>
        <p:nvSpPr>
          <p:cNvPr id="9" name="TextBox 8"/>
          <p:cNvSpPr txBox="1"/>
          <p:nvPr/>
        </p:nvSpPr>
        <p:spPr>
          <a:xfrm>
            <a:off x="3749039" y="343814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Project-hour choice and anything accepted unverified.</a:t>
            </a:r>
          </a:p>
        </p:txBody>
      </p:sp>
      <p:sp>
        <p:nvSpPr>
          <p:cNvPr id="10" name="TextBox 9"/>
          <p:cNvSpPr txBox="1"/>
          <p:nvPr/>
        </p:nvSpPr>
        <p:spPr>
          <a:xfrm>
            <a:off x="868680" y="434340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BOUNDARY</a:t>
            </a:r>
          </a:p>
        </p:txBody>
      </p:sp>
      <p:sp>
        <p:nvSpPr>
          <p:cNvPr id="11" name="TextBox 10"/>
          <p:cNvSpPr txBox="1"/>
          <p:nvPr/>
        </p:nvSpPr>
        <p:spPr>
          <a:xfrm>
            <a:off x="3749039" y="430682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Keep all Exam 1 scenario details out of M10.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2027-03-04T12:00:00Z</dcterms:created>
  <dcterms:modified xsi:type="dcterms:W3CDTF">2027-03-04T12:00:00Z</dcterms:modified>
  <cp:category/>
</cp:coreProperties>
</file>