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STORY/SAY STATUS: PENDING CLOUD PASS — DO NOT TREAT THIS HOOK AS CANON SAY.</a:t>
            </a:r>
          </a:p>
          <a:p/>
          <a:p>
            <a:r>
              <a:t>PASTE APPROVED SAY HERE, preserving the instructional action below.</a:t>
            </a:r>
          </a:p>
          <a:p/>
          <a:p>
            <a:r>
              <a:t>REVEAL TITLE HOOK — Open only after students commit H8-02 and Note v2.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STORY/SAY STATUS: PENDING CLOUD PASS — DO NOT TREAT THIS HOOK AS CANON SAY.</a:t>
            </a:r>
          </a:p>
          <a:p/>
          <a:p>
            <a:r>
              <a:t>PASTE APPROVED SAY HERE, preserving the instructional action below.</a:t>
            </a:r>
          </a:p>
          <a:p/>
          <a:p>
            <a:r>
              <a:t>REVEAL HOOK — Confirm the date-model values. Separate reproducible calculation from unsupported causal interpretation.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STORY/SAY STATUS: PENDING CLOUD PASS — DO NOT TREAT THIS HOOK AS CANON SAY.</a:t>
            </a:r>
          </a:p>
          <a:p/>
          <a:p>
            <a:r>
              <a:t>PASTE APPROVED SAY HERE, preserving the instructional action below.</a:t>
            </a:r>
          </a:p>
          <a:p/>
          <a:p>
            <a:r>
              <a:t>REVEAL HOOK — Confirm the temperature-model values and elicit the physical mechanism.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STORY/SAY STATUS: PENDING CLOUD PASS — DO NOT TREAT THIS HOOK AS CANON SAY.</a:t>
            </a:r>
          </a:p>
          <a:p/>
          <a:p>
            <a:r>
              <a:t>PASTE APPROVED SAY HERE, preserving the instructional action below.</a:t>
            </a:r>
          </a:p>
          <a:p/>
          <a:p>
            <a:r>
              <a:t>REVEAL HOOK — Walk date → temperature → measured strain. Clarify that date is a proxy in this observed window.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STORY/SAY STATUS: PENDING CLOUD PASS — DO NOT TREAT THIS HOOK AS CANON SAY.</a:t>
            </a:r>
          </a:p>
          <a:p/>
          <a:p>
            <a:r>
              <a:t>PASTE APPROVED SAY HERE, preserving the instructional action below.</a:t>
            </a:r>
          </a:p>
          <a:p/>
          <a:p>
            <a:r>
              <a:t>REVEAL HOOK — Show residual model. Use 'no meaningful trend in this extract,' not 'proof of no damage.'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STORY/SAY STATUS: PENDING CLOUD PASS — DO NOT TREAT THIS HOOK AS CANON SAY.</a:t>
            </a:r>
          </a:p>
          <a:p/>
          <a:p>
            <a:r>
              <a:t>PASTE APPROVED SAY HERE, preserving the instructional action below.</a:t>
            </a:r>
          </a:p>
          <a:p/>
          <a:p>
            <a:r>
              <a:t>REVEAL HOOK — State the designed error: FOREMAN treated fit as proof of deterioration.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STORY/SAY STATUS: PENDING CLOUD PASS — DO NOT TREAT THIS HOOK AS CANON SAY.</a:t>
            </a:r>
          </a:p>
          <a:p/>
          <a:p>
            <a:r>
              <a:t>PASTE APPROVED SAY HERE, preserving the instructional action below.</a:t>
            </a:r>
          </a:p>
          <a:p/>
          <a:p>
            <a:r>
              <a:t>MODEL RESPONSE HOOK — Compare student boundaries; accept equivalent evidence-based wording.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STORY/SAY STATUS: PENDING CLOUD PASS — DO NOT TREAT THIS HOOK AS CANON SAY.</a:t>
            </a:r>
          </a:p>
          <a:p/>
          <a:p>
            <a:r>
              <a:t>PASTE APPROVED SAY HERE, preserving the instructional action below.</a:t>
            </a:r>
          </a:p>
          <a:p/>
          <a:p>
            <a:r>
              <a:t>CLOSE HOOK — Assign HW4 and collect Note v2. Approved Oli story close may be pasted here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cmejob-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96012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" y="2606040"/>
            <a:ext cx="7863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F26B1D"/>
                </a:solidFill>
                <a:latin typeface="Barlow Condensed"/>
              </a:rPr>
              <a:t>MEETING 08  ·  INSTRUCTOR REVEAL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9718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600"/>
              </a:spcAft>
            </a:pPr>
            <a:r>
              <a:rPr sz="5800" b="1" i="0">
                <a:solidFill>
                  <a:srgbClr val="FFFFFF"/>
                </a:solidFill>
                <a:latin typeface="Barlow Condensed"/>
              </a:rPr>
              <a:t>Date was carrying temperature.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572000"/>
            <a:ext cx="9326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0" i="0">
                <a:solidFill>
                  <a:srgbClr val="6F8FAF"/>
                </a:solidFill>
                <a:latin typeface="Arial"/>
              </a:rPr>
              <a:t>Open only after students commit the regression hunt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94360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6B7280"/>
                </a:solidFill>
                <a:latin typeface="Barlow Condensed"/>
              </a:rPr>
              <a:t>M08 · Unit 2: Doubt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FOREMAN reproduced the date fit—and overclaimed it</a:t>
            </a:r>
          </a:p>
        </p:txBody>
      </p:sp>
      <p:pic>
        <p:nvPicPr>
          <p:cNvPr id="4" name="Picture 3" descr="M08-strain-v-d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344168"/>
            <a:ext cx="6629400" cy="378822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680960" y="1572768"/>
            <a:ext cx="3840480" cy="2651760"/>
          </a:xfrm>
          <a:prstGeom prst="roundRect">
            <a:avLst>
              <a:gd name="adj" fmla="val 3500"/>
            </a:avLst>
          </a:prstGeom>
          <a:solidFill>
            <a:srgbClr val="FFF1E8"/>
          </a:solidFill>
          <a:ln w="15875">
            <a:solidFill>
              <a:srgbClr val="F26B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0" y="1792224"/>
            <a:ext cx="3291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26B1D"/>
                </a:solidFill>
                <a:latin typeface="Barlow Condensed"/>
              </a:rPr>
              <a:t>DATE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0" y="2231136"/>
            <a:ext cx="32918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Slope: 7.95 µε/day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R²: 0.891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Strong association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Cause unresolved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Temperature explains the observed pattern</a:t>
            </a:r>
          </a:p>
        </p:txBody>
      </p:sp>
      <p:pic>
        <p:nvPicPr>
          <p:cNvPr id="4" name="Picture 3" descr="M08-strain-v-tempera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344168"/>
            <a:ext cx="6629400" cy="378822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680960" y="1572768"/>
            <a:ext cx="3840480" cy="2651760"/>
          </a:xfrm>
          <a:prstGeom prst="roundRect">
            <a:avLst>
              <a:gd name="adj" fmla="val 35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0" y="1792224"/>
            <a:ext cx="3291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2B2F36"/>
                </a:solidFill>
                <a:latin typeface="Barlow Condensed"/>
              </a:rPr>
              <a:t>TEMPERATURE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0" y="2231136"/>
            <a:ext cx="32918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Slope: 11.78 µε/°C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R²: 0.975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Physical mechanism: thermal expansion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The confound is a causal structure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64208"/>
            <a:ext cx="3017520" cy="237744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883664"/>
            <a:ext cx="24688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DATE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322576"/>
            <a:ext cx="246887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Tracks seasonal progress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94760" y="235000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600" b="1" i="0">
                <a:solidFill>
                  <a:srgbClr val="F26B1D"/>
                </a:solidFill>
                <a:latin typeface="Arial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64208"/>
            <a:ext cx="3017520" cy="2377440"/>
          </a:xfrm>
          <a:prstGeom prst="roundRect">
            <a:avLst>
              <a:gd name="adj" fmla="val 35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883664"/>
            <a:ext cx="24688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2B2F36"/>
                </a:solidFill>
                <a:latin typeface="Barlow Condensed"/>
              </a:rPr>
              <a:t>AIR TEMPERATURE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322576"/>
            <a:ext cx="246887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Warms over the observed window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3800" y="235000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600" b="1" i="0">
                <a:solidFill>
                  <a:srgbClr val="F26B1D"/>
                </a:solidFill>
                <a:latin typeface="Arial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664208"/>
            <a:ext cx="3383280" cy="237744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1883664"/>
            <a:ext cx="283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MEASURED STRAIN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322576"/>
            <a:ext cx="2834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Changes with thermal expansion and restraint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After correction, the date trend disappears</a:t>
            </a:r>
          </a:p>
        </p:txBody>
      </p:sp>
      <p:pic>
        <p:nvPicPr>
          <p:cNvPr id="4" name="Picture 3" descr="M08-residual-v-d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344168"/>
            <a:ext cx="6629400" cy="378822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680960" y="1572768"/>
            <a:ext cx="3840480" cy="265176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0" y="1792224"/>
            <a:ext cx="3291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RESIDUAL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0" y="2231136"/>
            <a:ext cx="32918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Slope: 0.17 µε/day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R²: 0.017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No meaningful date trend in this extract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03120"/>
            <a:ext cx="1014984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4300" b="1" i="0">
                <a:solidFill>
                  <a:srgbClr val="FFFFFF"/>
                </a:solidFill>
                <a:latin typeface="Barlow Condensed"/>
              </a:rPr>
              <a:t>The date trend is real.
The damage inference is not supported.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4800600"/>
            <a:ext cx="10149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1">
                <a:solidFill>
                  <a:srgbClr val="6F8FAF"/>
                </a:solidFill>
                <a:latin typeface="Arial"/>
              </a:rPr>
              <a:t>Temperature correction changes the engineering claim.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Use a bounded correction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89888"/>
            <a:ext cx="10853928" cy="2423160"/>
          </a:xfrm>
          <a:prstGeom prst="roundRect">
            <a:avLst>
              <a:gd name="adj" fmla="val 3500"/>
            </a:avLst>
          </a:prstGeom>
          <a:solidFill>
            <a:srgbClr val="EEF3F8"/>
          </a:solidFill>
          <a:ln w="15875">
            <a:solidFill>
              <a:srgbClr val="3A7D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609344"/>
            <a:ext cx="103052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MODEL RESPONSE · NOT REQUIRED WORDING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048256"/>
            <a:ext cx="10305288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The uncorrected G4 strain increases with date, but date tracks warming in this observation window.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After modeling the temperature-linked response, the residual does not show a meaningful date trend; this evidence does not support progressive deterioration.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4133088"/>
            <a:ext cx="10853928" cy="1234440"/>
          </a:xfrm>
          <a:prstGeom prst="roundRect">
            <a:avLst>
              <a:gd name="adj" fmla="val 35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4352544"/>
            <a:ext cx="103052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Barlow Condensed"/>
              </a:rPr>
              <a:t>DO NOT CLAIM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4791456"/>
            <a:ext cx="103052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500" b="0" i="0">
                <a:solidFill>
                  <a:srgbClr val="2B2F36"/>
                </a:solidFill>
                <a:latin typeface="Arial"/>
              </a:rPr>
              <a:t>Temperature correction proves the bridge has no damage.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8580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 i="0">
                <a:solidFill>
                  <a:srgbClr val="FFFFFF"/>
                </a:solidFill>
                <a:latin typeface="Barlow Condensed"/>
              </a:rPr>
              <a:t>Close M08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73736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HW4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49039" y="1700784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Complete the temperature correction and submit the corrected trend.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606039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NOTE v2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2569463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Claim, check, result—the mechanism belongs in the record.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47472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HOURS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3438144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Record what you checked and what remains unverified.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34340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SCOPE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4306824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No later bearing-wear or Exam details enter M08.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2027-02-25T12:00:00Z</dcterms:created>
  <dcterms:modified xsi:type="dcterms:W3CDTF">2027-02-25T12:00:00Z</dcterms:modified>
  <cp:category/>
</cp:coreProperties>
</file>