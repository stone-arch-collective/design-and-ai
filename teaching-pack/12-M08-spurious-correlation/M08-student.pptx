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OLI CANON SAY — Cloud hard-review PASS.</a:t>
            </a:r>
          </a:p>
          <a:p/>
          <a:p>
            <a:r>
              <a:t>TITLE — M08: “It is spring.” Students investigate whether a strong fitted relationship supports FOREMAN’s damage claim.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OLI CANON SAY — Cloud hard-review PASS.</a:t>
            </a:r>
          </a:p>
          <a:p/>
          <a:p>
            <a:r>
              <a:t>INBOX — FOREMAN reports that midspan strain has risen steadily since February 1, R-squared 0.87 against date, indicating progressive structural deterioration. Diane Halvorsen, PE: “0.87 sounds high. Put it in the report.” Wes Tanaka, EIT is drafting and distracted under schedule pressure; he is not the discoverer.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OLI CANON SAY — Cloud hard-review PASS.</a:t>
            </a:r>
          </a:p>
          <a:p/>
          <a:p>
            <a:r>
              <a:t>HUNT — Students are the hunters. They reproduce the date plot, compare it with the weather record, identify the mechanism driving strain, and prepare HW4. Do not disclose the result before they work.</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OLI CANON SAY — Cloud hard-review PASS.</a:t>
            </a:r>
          </a:p>
          <a:p/>
          <a:p>
            <a:r>
              <a:t>TEACH TRANSITION — Concepts: scatter plot, correlation coefficient, linear regression, R-squared, correlation versus causation, and spurious correlation.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OLI CANON SAY — Cloud hard-review PASS.</a:t>
            </a:r>
          </a:p>
          <a:p/>
          <a:p>
            <a:r>
              <a:t>TEACH — Explain how a scatter plot displays the strain-versus-date pairs before a line is fitted.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OLI CANON SAY — Cloud hard-review PASS.</a:t>
            </a:r>
          </a:p>
          <a:p/>
          <a:p>
            <a:r>
              <a:t>TEACH — Explain correlation coefficient as linear association. Keep correlation separate from causation.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OLI CANON SAY — Cloud hard-review PASS.</a:t>
            </a:r>
          </a:p>
          <a:p/>
          <a:p>
            <a:r>
              <a:t>TEACH — Demonstrate fitting a line in a spreadsheet. Connect the slope to its units.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OLI CANON SAY — Cloud hard-review PASS.</a:t>
            </a:r>
          </a:p>
          <a:p/>
          <a:p>
            <a:r>
              <a:t>TEACH — Explain R-squared as model fit. A high R-squared is not proof of cause.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OLI CANON SAY — Cloud hard-review PASS.</a:t>
            </a:r>
          </a:p>
          <a:p/>
          <a:p>
            <a:r>
              <a:t>TEACH — Keep the question open: a fitted pattern is not yet a mechanism.</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OLI CANON SAY — Cloud hard-review PASS.</a:t>
            </a:r>
          </a:p>
          <a:p/>
          <a:p>
            <a:r>
              <a:t>TEACH — Explain spurious correlation as an association that misleads about the damage claim.</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OLI CANON SAY — Cloud hard-review PASS.</a:t>
            </a:r>
          </a:p>
          <a:p/>
          <a:p>
            <a:r>
              <a:t>LAB TRANSITION — Students receive feed.csv and weather_station.csv. Do not solve the trend for them.</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OLI CANON SAY — Cloud hard-review PASS.</a:t>
            </a:r>
          </a:p>
          <a:p/>
          <a:p>
            <a:r>
              <a:t>LAB — Student task: plot strain versus date using feed.csv and fit the line in a spreadsheet.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OLI CANON SAY — Cloud hard-review PASS.</a:t>
            </a:r>
          </a:p>
          <a:p/>
          <a:p>
            <a:r>
              <a:t>LAB — Student task: plot strain versus air temperature using weather_station.csv and fit the line. Students perform the join and comparison.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OLI CANON SAY — Cloud hard-review PASS.</a:t>
            </a:r>
          </a:p>
          <a:p/>
          <a:p>
            <a:r>
              <a:t>LAB — Student task: identify the mechanism driving the strain, not just the pattern. Students find that temperature drives the calendar trend and strain; steel expands when it warms.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OLI CANON SAY — Cloud hard-review PASS.</a:t>
            </a:r>
          </a:p>
          <a:p/>
          <a:p>
            <a:r>
              <a:t>LAB — Students set up the temperature correction and prepare the two-line reply. Preserve the boundary: this trend does not support progressive damage; the correction does not prove no damage.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OLI CANON SAY — Cloud hard-review PASS.</a:t>
            </a:r>
          </a:p>
          <a:p/>
          <a:p>
            <a:r>
              <a:t>NOTE — Students write Note version 2: claim, check, result. Continue the form handed off at M07.</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OLI CANON SAY — Cloud hard-review PASS.</a:t>
            </a:r>
          </a:p>
          <a:p/>
          <a:p>
            <a:r>
              <a:t>CLOSE — Assign HW4: temperature-corrected strain trend plus a two-line reply to FOREMAN’s claim. Diane still wants the impressive R-squared in the county-facing report; students leave with the corrected note. Lightly hold rising measurement pressure without naming later concepts.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B2F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acmejob-mark-dark.png"/>
          <p:cNvPicPr>
            <a:picLocks noChangeAspect="1"/>
          </p:cNvPicPr>
          <p:nvPr/>
        </p:nvPicPr>
        <p:blipFill>
          <a:blip r:embed="rId2"/>
          <a:stretch>
            <a:fillRect/>
          </a:stretch>
        </p:blipFill>
        <p:spPr>
          <a:xfrm>
            <a:off x="868680" y="960120"/>
            <a:ext cx="1371600" cy="1371600"/>
          </a:xfrm>
          <a:prstGeom prst="rect">
            <a:avLst/>
          </a:prstGeom>
        </p:spPr>
      </p:pic>
      <p:sp>
        <p:nvSpPr>
          <p:cNvPr id="4" name="TextBox 3"/>
          <p:cNvSpPr txBox="1"/>
          <p:nvPr/>
        </p:nvSpPr>
        <p:spPr>
          <a:xfrm>
            <a:off x="868680" y="2606040"/>
            <a:ext cx="7863840" cy="384048"/>
          </a:xfrm>
          <a:prstGeom prst="rect">
            <a:avLst/>
          </a:prstGeom>
          <a:noFill/>
        </p:spPr>
        <p:txBody>
          <a:bodyPr wrap="square" anchor="t" lIns="0" rIns="0" tIns="0" bIns="0">
            <a:spAutoFit/>
          </a:bodyPr>
          <a:lstStyle/>
          <a:p>
            <a:pPr algn="l">
              <a:lnSpc>
                <a:spcPct val="100000"/>
              </a:lnSpc>
              <a:spcAft>
                <a:spcPts val="600"/>
              </a:spcAft>
            </a:pPr>
            <a:r>
              <a:rPr sz="1700" b="1" i="0">
                <a:solidFill>
                  <a:srgbClr val="F26B1D"/>
                </a:solidFill>
                <a:latin typeface="Barlow Condensed"/>
              </a:rPr>
              <a:t>MEETING 08  ·  UNIT 2: DOUBT</a:t>
            </a:r>
          </a:p>
        </p:txBody>
      </p:sp>
      <p:sp>
        <p:nvSpPr>
          <p:cNvPr id="5" name="TextBox 4"/>
          <p:cNvSpPr txBox="1"/>
          <p:nvPr/>
        </p:nvSpPr>
        <p:spPr>
          <a:xfrm>
            <a:off x="868680" y="2971800"/>
            <a:ext cx="10424160" cy="1463040"/>
          </a:xfrm>
          <a:prstGeom prst="rect">
            <a:avLst/>
          </a:prstGeom>
          <a:noFill/>
        </p:spPr>
        <p:txBody>
          <a:bodyPr wrap="square" anchor="t" lIns="0" rIns="0" tIns="0" bIns="0">
            <a:spAutoFit/>
          </a:bodyPr>
          <a:lstStyle/>
          <a:p>
            <a:pPr algn="l">
              <a:lnSpc>
                <a:spcPct val="96000"/>
              </a:lnSpc>
              <a:spcAft>
                <a:spcPts val="600"/>
              </a:spcAft>
            </a:pPr>
            <a:r>
              <a:rPr sz="5800" b="1" i="0">
                <a:solidFill>
                  <a:srgbClr val="FFFFFF"/>
                </a:solidFill>
                <a:latin typeface="Barlow Condensed"/>
              </a:rPr>
              <a:t>A strong fit can still mislead.</a:t>
            </a:r>
          </a:p>
        </p:txBody>
      </p:sp>
      <p:sp>
        <p:nvSpPr>
          <p:cNvPr id="6" name="TextBox 5"/>
          <p:cNvSpPr txBox="1"/>
          <p:nvPr/>
        </p:nvSpPr>
        <p:spPr>
          <a:xfrm>
            <a:off x="868680" y="4572000"/>
            <a:ext cx="9326880" cy="914400"/>
          </a:xfrm>
          <a:prstGeom prst="rect">
            <a:avLst/>
          </a:prstGeom>
          <a:noFill/>
        </p:spPr>
        <p:txBody>
          <a:bodyPr wrap="square" anchor="t" lIns="0" rIns="0" tIns="0" bIns="0">
            <a:spAutoFit/>
          </a:bodyPr>
          <a:lstStyle/>
          <a:p>
            <a:pPr algn="l">
              <a:lnSpc>
                <a:spcPct val="120000"/>
              </a:lnSpc>
              <a:spcAft>
                <a:spcPts val="600"/>
              </a:spcAft>
            </a:pPr>
            <a:r>
              <a:rPr sz="2200" b="0" i="0">
                <a:solidFill>
                  <a:srgbClr val="6F8FAF"/>
                </a:solidFill>
                <a:latin typeface="Arial"/>
              </a:rPr>
              <a:t>Correlation, regression, mechanism, and a hidden driver</a:t>
            </a:r>
          </a:p>
        </p:txBody>
      </p:sp>
      <p:sp>
        <p:nvSpPr>
          <p:cNvPr id="7" name="TextBox 6"/>
          <p:cNvSpPr txBox="1"/>
          <p:nvPr/>
        </p:nvSpPr>
        <p:spPr>
          <a:xfrm>
            <a:off x="868680" y="5943600"/>
            <a:ext cx="9326880" cy="365760"/>
          </a:xfrm>
          <a:prstGeom prst="rect">
            <a:avLst/>
          </a:prstGeom>
          <a:noFill/>
        </p:spPr>
        <p:txBody>
          <a:bodyPr wrap="square" anchor="t" lIns="0" rIns="0" tIns="0" bIns="0">
            <a:spAutoFit/>
          </a:bodyPr>
          <a:lstStyle/>
          <a:p>
            <a:pPr algn="l">
              <a:lnSpc>
                <a:spcPct val="100000"/>
              </a:lnSpc>
              <a:spcAft>
                <a:spcPts val="600"/>
              </a:spcAft>
            </a:pPr>
            <a:r>
              <a:rPr sz="1400" b="0" i="0">
                <a:solidFill>
                  <a:srgbClr val="6B7280"/>
                </a:solidFill>
                <a:latin typeface="Barlow Condensed"/>
              </a:rPr>
              <a:t>Thursday, February 25, 2027  ·  SEIS 201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57200"/>
            <a:ext cx="10881360" cy="777240"/>
          </a:xfrm>
          <a:prstGeom prst="rect">
            <a:avLst/>
          </a:prstGeom>
          <a:noFill/>
        </p:spPr>
        <p:txBody>
          <a:bodyPr wrap="square" anchor="t" lIns="0" rIns="0" tIns="0" bIns="0">
            <a:spAutoFit/>
          </a:bodyPr>
          <a:lstStyle/>
          <a:p>
            <a:pPr algn="l">
              <a:lnSpc>
                <a:spcPct val="98000"/>
              </a:lnSpc>
              <a:spcAft>
                <a:spcPts val="600"/>
              </a:spcAft>
            </a:pPr>
            <a:r>
              <a:rPr sz="3800" b="1" i="0">
                <a:solidFill>
                  <a:srgbClr val="1F3A5F"/>
                </a:solidFill>
                <a:latin typeface="Barlow Condensed"/>
              </a:rPr>
              <a:t>The interim finding</a:t>
            </a:r>
          </a:p>
        </p:txBody>
      </p:sp>
      <p:sp>
        <p:nvSpPr>
          <p:cNvPr id="4" name="TextBox 3"/>
          <p:cNvSpPr txBox="1"/>
          <p:nvPr/>
        </p:nvSpPr>
        <p:spPr>
          <a:xfrm>
            <a:off x="658368" y="1207008"/>
            <a:ext cx="10881360" cy="457200"/>
          </a:xfrm>
          <a:prstGeom prst="rect">
            <a:avLst/>
          </a:prstGeom>
          <a:noFill/>
        </p:spPr>
        <p:txBody>
          <a:bodyPr wrap="square" anchor="t" lIns="0" rIns="0" tIns="0" bIns="0">
            <a:spAutoFit/>
          </a:bodyPr>
          <a:lstStyle/>
          <a:p>
            <a:pPr algn="l">
              <a:lnSpc>
                <a:spcPct val="115000"/>
              </a:lnSpc>
              <a:spcAft>
                <a:spcPts val="600"/>
              </a:spcAft>
            </a:pPr>
            <a:r>
              <a:rPr sz="1700" b="0" i="0">
                <a:solidFill>
                  <a:srgbClr val="6B7280"/>
                </a:solidFill>
                <a:latin typeface="Arial"/>
              </a:rPr>
              <a:t>FOREMAN modeled G4 strain against date</a:t>
            </a:r>
          </a:p>
        </p:txBody>
      </p:sp>
      <p:sp>
        <p:nvSpPr>
          <p:cNvPr id="5" name="Rounded Rectangle 4"/>
          <p:cNvSpPr/>
          <p:nvPr/>
        </p:nvSpPr>
        <p:spPr>
          <a:xfrm>
            <a:off x="658368" y="1911095"/>
            <a:ext cx="10853928" cy="1691640"/>
          </a:xfrm>
          <a:prstGeom prst="roundRect">
            <a:avLst>
              <a:gd name="adj" fmla="val 3500"/>
            </a:avLst>
          </a:prstGeom>
          <a:solidFill>
            <a:srgbClr val="FFF1E8"/>
          </a:solidFill>
          <a:ln w="15875">
            <a:solidFill>
              <a:srgbClr val="F26B1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32688" y="2130552"/>
            <a:ext cx="10305288"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F26B1D"/>
                </a:solidFill>
                <a:latin typeface="Barlow Condensed"/>
              </a:rPr>
              <a:t>FOREMAN · FINAL OUTPUT</a:t>
            </a:r>
          </a:p>
        </p:txBody>
      </p:sp>
      <p:sp>
        <p:nvSpPr>
          <p:cNvPr id="7" name="TextBox 6"/>
          <p:cNvSpPr txBox="1"/>
          <p:nvPr/>
        </p:nvSpPr>
        <p:spPr>
          <a:xfrm>
            <a:off x="932688" y="2569463"/>
            <a:ext cx="10305288" cy="777240"/>
          </a:xfrm>
          <a:prstGeom prst="rect">
            <a:avLst/>
          </a:prstGeom>
          <a:noFill/>
        </p:spPr>
        <p:txBody>
          <a:bodyPr wrap="square" anchor="t" lIns="0" rIns="0" tIns="0" bIns="0">
            <a:spAutoFit/>
          </a:bodyPr>
          <a:lstStyle/>
          <a:p>
            <a:pPr algn="l">
              <a:lnSpc>
                <a:spcPct val="118000"/>
              </a:lnSpc>
              <a:spcAft>
                <a:spcPts val="700"/>
              </a:spcAft>
            </a:pPr>
            <a:r>
              <a:rPr sz="1800" b="0" i="0">
                <a:solidFill>
                  <a:srgbClr val="2B2F36"/>
                </a:solidFill>
                <a:latin typeface="Arial"/>
              </a:rPr>
              <a:t>Midspan strain rises with date. R² = 0.87.</a:t>
            </a:r>
          </a:p>
          <a:p>
            <a:pPr algn="l">
              <a:lnSpc>
                <a:spcPct val="118000"/>
              </a:lnSpc>
              <a:spcAft>
                <a:spcPts val="700"/>
              </a:spcAft>
            </a:pPr>
            <a:r>
              <a:rPr sz="1800" b="0" i="0">
                <a:solidFill>
                  <a:srgbClr val="2B2F36"/>
                </a:solidFill>
                <a:latin typeface="Arial"/>
              </a:rPr>
              <a:t>Conclusion entered in the draft: progressive structural deterioration.</a:t>
            </a:r>
          </a:p>
        </p:txBody>
      </p:sp>
      <p:sp>
        <p:nvSpPr>
          <p:cNvPr id="8" name="Rounded Rectangle 7"/>
          <p:cNvSpPr/>
          <p:nvPr/>
        </p:nvSpPr>
        <p:spPr>
          <a:xfrm>
            <a:off x="658368" y="3877056"/>
            <a:ext cx="10853928" cy="1325880"/>
          </a:xfrm>
          <a:prstGeom prst="roundRect">
            <a:avLst>
              <a:gd name="adj" fmla="val 3500"/>
            </a:avLst>
          </a:prstGeom>
          <a:solidFill>
            <a:srgbClr val="FFF6E5"/>
          </a:solidFill>
          <a:ln w="15875">
            <a:solidFill>
              <a:srgbClr val="F2C2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32688" y="4096512"/>
            <a:ext cx="10305288"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6B7280"/>
                </a:solidFill>
                <a:latin typeface="Barlow Condensed"/>
              </a:rPr>
              <a:t>DECISION</a:t>
            </a:r>
          </a:p>
        </p:txBody>
      </p:sp>
      <p:sp>
        <p:nvSpPr>
          <p:cNvPr id="10" name="TextBox 9"/>
          <p:cNvSpPr txBox="1"/>
          <p:nvPr/>
        </p:nvSpPr>
        <p:spPr>
          <a:xfrm>
            <a:off x="932688" y="4535424"/>
            <a:ext cx="10305288" cy="411479"/>
          </a:xfrm>
          <a:prstGeom prst="rect">
            <a:avLst/>
          </a:prstGeom>
          <a:noFill/>
        </p:spPr>
        <p:txBody>
          <a:bodyPr wrap="square" anchor="t" lIns="0" rIns="0" tIns="0" bIns="0">
            <a:spAutoFit/>
          </a:bodyPr>
          <a:lstStyle/>
          <a:p>
            <a:pPr algn="l">
              <a:lnSpc>
                <a:spcPct val="118000"/>
              </a:lnSpc>
              <a:spcAft>
                <a:spcPts val="700"/>
              </a:spcAft>
            </a:pPr>
            <a:r>
              <a:rPr sz="1700" b="0" i="0">
                <a:solidFill>
                  <a:srgbClr val="2B2F36"/>
                </a:solidFill>
                <a:latin typeface="Arial"/>
              </a:rPr>
              <a:t>Does this relationship support a damage claim—or is date standing in for something else?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57200"/>
            <a:ext cx="10881360" cy="777240"/>
          </a:xfrm>
          <a:prstGeom prst="rect">
            <a:avLst/>
          </a:prstGeom>
          <a:noFill/>
        </p:spPr>
        <p:txBody>
          <a:bodyPr wrap="square" anchor="t" lIns="0" rIns="0" tIns="0" bIns="0">
            <a:spAutoFit/>
          </a:bodyPr>
          <a:lstStyle/>
          <a:p>
            <a:pPr algn="l">
              <a:lnSpc>
                <a:spcPct val="98000"/>
              </a:lnSpc>
              <a:spcAft>
                <a:spcPts val="600"/>
              </a:spcAft>
            </a:pPr>
            <a:r>
              <a:rPr sz="3800" b="1" i="0">
                <a:solidFill>
                  <a:srgbClr val="1F3A5F"/>
                </a:solidFill>
                <a:latin typeface="Barlow Condensed"/>
              </a:rPr>
              <a:t>The hunt</a:t>
            </a:r>
          </a:p>
        </p:txBody>
      </p:sp>
      <p:sp>
        <p:nvSpPr>
          <p:cNvPr id="4" name="TextBox 3"/>
          <p:cNvSpPr txBox="1"/>
          <p:nvPr/>
        </p:nvSpPr>
        <p:spPr>
          <a:xfrm>
            <a:off x="658368" y="1207008"/>
            <a:ext cx="10881360" cy="457200"/>
          </a:xfrm>
          <a:prstGeom prst="rect">
            <a:avLst/>
          </a:prstGeom>
          <a:noFill/>
        </p:spPr>
        <p:txBody>
          <a:bodyPr wrap="square" anchor="t" lIns="0" rIns="0" tIns="0" bIns="0">
            <a:spAutoFit/>
          </a:bodyPr>
          <a:lstStyle/>
          <a:p>
            <a:pPr algn="l">
              <a:lnSpc>
                <a:spcPct val="115000"/>
              </a:lnSpc>
              <a:spcAft>
                <a:spcPts val="600"/>
              </a:spcAft>
            </a:pPr>
            <a:r>
              <a:rPr sz="1700" b="0" i="0">
                <a:solidFill>
                  <a:srgbClr val="6B7280"/>
                </a:solidFill>
                <a:latin typeface="Arial"/>
              </a:rPr>
              <a:t>Reproduce · compare · explain · correct</a:t>
            </a:r>
          </a:p>
        </p:txBody>
      </p:sp>
      <p:sp>
        <p:nvSpPr>
          <p:cNvPr id="5" name="Rounded Rectangle 4"/>
          <p:cNvSpPr/>
          <p:nvPr/>
        </p:nvSpPr>
        <p:spPr>
          <a:xfrm>
            <a:off x="658368" y="1956816"/>
            <a:ext cx="2514600" cy="3383280"/>
          </a:xfrm>
          <a:prstGeom prst="roundRect">
            <a:avLst>
              <a:gd name="adj" fmla="val 3500"/>
            </a:avLst>
          </a:prstGeom>
          <a:solidFill>
            <a:srgbClr val="F4F6F8"/>
          </a:solidFill>
          <a:ln w="15875">
            <a:solidFill>
              <a:srgbClr val="E6E8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32688" y="2176272"/>
            <a:ext cx="1965960"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1F3A5F"/>
                </a:solidFill>
                <a:latin typeface="Barlow Condensed"/>
              </a:rPr>
              <a:t>1  REPRODUCE</a:t>
            </a:r>
          </a:p>
        </p:txBody>
      </p:sp>
      <p:sp>
        <p:nvSpPr>
          <p:cNvPr id="7" name="TextBox 6"/>
          <p:cNvSpPr txBox="1"/>
          <p:nvPr/>
        </p:nvSpPr>
        <p:spPr>
          <a:xfrm>
            <a:off x="932688" y="2615184"/>
            <a:ext cx="1965960" cy="2468880"/>
          </a:xfrm>
          <a:prstGeom prst="rect">
            <a:avLst/>
          </a:prstGeom>
          <a:noFill/>
        </p:spPr>
        <p:txBody>
          <a:bodyPr wrap="square" anchor="t" lIns="0" rIns="0" tIns="0" bIns="0">
            <a:spAutoFit/>
          </a:bodyPr>
          <a:lstStyle/>
          <a:p>
            <a:pPr algn="l">
              <a:lnSpc>
                <a:spcPct val="118000"/>
              </a:lnSpc>
              <a:spcAft>
                <a:spcPts val="700"/>
              </a:spcAft>
            </a:pPr>
            <a:r>
              <a:rPr sz="1600" b="0" i="0">
                <a:solidFill>
                  <a:srgbClr val="2B2F36"/>
                </a:solidFill>
                <a:latin typeface="Arial"/>
              </a:rPr>
              <a:t>Plot strain against date</a:t>
            </a:r>
          </a:p>
          <a:p>
            <a:pPr algn="l">
              <a:lnSpc>
                <a:spcPct val="118000"/>
              </a:lnSpc>
              <a:spcAft>
                <a:spcPts val="700"/>
              </a:spcAft>
            </a:pPr>
            <a:r>
              <a:rPr sz="1600" b="0" i="0">
                <a:solidFill>
                  <a:srgbClr val="2B2F36"/>
                </a:solidFill>
                <a:latin typeface="Arial"/>
              </a:rPr>
              <a:t>Fit the reported line</a:t>
            </a:r>
          </a:p>
        </p:txBody>
      </p:sp>
      <p:sp>
        <p:nvSpPr>
          <p:cNvPr id="8" name="Rounded Rectangle 7"/>
          <p:cNvSpPr/>
          <p:nvPr/>
        </p:nvSpPr>
        <p:spPr>
          <a:xfrm>
            <a:off x="3364992" y="1956816"/>
            <a:ext cx="2514600" cy="3383280"/>
          </a:xfrm>
          <a:prstGeom prst="roundRect">
            <a:avLst>
              <a:gd name="adj" fmla="val 3500"/>
            </a:avLst>
          </a:prstGeom>
          <a:solidFill>
            <a:srgbClr val="FFF6E5"/>
          </a:solidFill>
          <a:ln w="15875">
            <a:solidFill>
              <a:srgbClr val="F2C2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39312" y="2176272"/>
            <a:ext cx="1965960"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2B2F36"/>
                </a:solidFill>
                <a:latin typeface="Barlow Condensed"/>
              </a:rPr>
              <a:t>2  COMPARE</a:t>
            </a:r>
          </a:p>
        </p:txBody>
      </p:sp>
      <p:sp>
        <p:nvSpPr>
          <p:cNvPr id="10" name="TextBox 9"/>
          <p:cNvSpPr txBox="1"/>
          <p:nvPr/>
        </p:nvSpPr>
        <p:spPr>
          <a:xfrm>
            <a:off x="3639312" y="2615184"/>
            <a:ext cx="1965960" cy="2468880"/>
          </a:xfrm>
          <a:prstGeom prst="rect">
            <a:avLst/>
          </a:prstGeom>
          <a:noFill/>
        </p:spPr>
        <p:txBody>
          <a:bodyPr wrap="square" anchor="t" lIns="0" rIns="0" tIns="0" bIns="0">
            <a:spAutoFit/>
          </a:bodyPr>
          <a:lstStyle/>
          <a:p>
            <a:pPr algn="l">
              <a:lnSpc>
                <a:spcPct val="118000"/>
              </a:lnSpc>
              <a:spcAft>
                <a:spcPts val="700"/>
              </a:spcAft>
            </a:pPr>
            <a:r>
              <a:rPr sz="1600" b="0" i="0">
                <a:solidFill>
                  <a:srgbClr val="2B2F36"/>
                </a:solidFill>
                <a:latin typeface="Arial"/>
              </a:rPr>
              <a:t>Join weather</a:t>
            </a:r>
          </a:p>
          <a:p>
            <a:pPr algn="l">
              <a:lnSpc>
                <a:spcPct val="118000"/>
              </a:lnSpc>
              <a:spcAft>
                <a:spcPts val="700"/>
              </a:spcAft>
            </a:pPr>
            <a:r>
              <a:rPr sz="1600" b="0" i="0">
                <a:solidFill>
                  <a:srgbClr val="2B2F36"/>
                </a:solidFill>
                <a:latin typeface="Arial"/>
              </a:rPr>
              <a:t>Plot strain against temperature</a:t>
            </a:r>
          </a:p>
        </p:txBody>
      </p:sp>
      <p:sp>
        <p:nvSpPr>
          <p:cNvPr id="11" name="Rounded Rectangle 10"/>
          <p:cNvSpPr/>
          <p:nvPr/>
        </p:nvSpPr>
        <p:spPr>
          <a:xfrm>
            <a:off x="6071616" y="1956816"/>
            <a:ext cx="2514600" cy="3383280"/>
          </a:xfrm>
          <a:prstGeom prst="roundRect">
            <a:avLst>
              <a:gd name="adj" fmla="val 3500"/>
            </a:avLst>
          </a:prstGeom>
          <a:solidFill>
            <a:srgbClr val="F4F6F8"/>
          </a:solidFill>
          <a:ln w="15875">
            <a:solidFill>
              <a:srgbClr val="E6E8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45936" y="2176272"/>
            <a:ext cx="1965960"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1F3A5F"/>
                </a:solidFill>
                <a:latin typeface="Barlow Condensed"/>
              </a:rPr>
              <a:t>3  EXPLAIN</a:t>
            </a:r>
          </a:p>
        </p:txBody>
      </p:sp>
      <p:sp>
        <p:nvSpPr>
          <p:cNvPr id="13" name="TextBox 12"/>
          <p:cNvSpPr txBox="1"/>
          <p:nvPr/>
        </p:nvSpPr>
        <p:spPr>
          <a:xfrm>
            <a:off x="6345936" y="2615184"/>
            <a:ext cx="1965960" cy="2468880"/>
          </a:xfrm>
          <a:prstGeom prst="rect">
            <a:avLst/>
          </a:prstGeom>
          <a:noFill/>
        </p:spPr>
        <p:txBody>
          <a:bodyPr wrap="square" anchor="t" lIns="0" rIns="0" tIns="0" bIns="0">
            <a:spAutoFit/>
          </a:bodyPr>
          <a:lstStyle/>
          <a:p>
            <a:pPr algn="l">
              <a:lnSpc>
                <a:spcPct val="118000"/>
              </a:lnSpc>
              <a:spcAft>
                <a:spcPts val="700"/>
              </a:spcAft>
            </a:pPr>
            <a:r>
              <a:rPr sz="1600" b="0" i="0">
                <a:solidFill>
                  <a:srgbClr val="2B2F36"/>
                </a:solidFill>
                <a:latin typeface="Arial"/>
              </a:rPr>
              <a:t>Name a physical mechanism</a:t>
            </a:r>
          </a:p>
          <a:p>
            <a:pPr algn="l">
              <a:lnSpc>
                <a:spcPct val="118000"/>
              </a:lnSpc>
              <a:spcAft>
                <a:spcPts val="700"/>
              </a:spcAft>
            </a:pPr>
            <a:r>
              <a:rPr sz="1600" b="0" i="0">
                <a:solidFill>
                  <a:srgbClr val="2B2F36"/>
                </a:solidFill>
                <a:latin typeface="Arial"/>
              </a:rPr>
              <a:t>Set the causal boundary</a:t>
            </a:r>
          </a:p>
        </p:txBody>
      </p:sp>
      <p:sp>
        <p:nvSpPr>
          <p:cNvPr id="14" name="Rounded Rectangle 13"/>
          <p:cNvSpPr/>
          <p:nvPr/>
        </p:nvSpPr>
        <p:spPr>
          <a:xfrm>
            <a:off x="8778240" y="1956816"/>
            <a:ext cx="2734056" cy="3383280"/>
          </a:xfrm>
          <a:prstGeom prst="roundRect">
            <a:avLst>
              <a:gd name="adj" fmla="val 3500"/>
            </a:avLst>
          </a:prstGeom>
          <a:solidFill>
            <a:srgbClr val="FFF1E8"/>
          </a:solidFill>
          <a:ln w="15875">
            <a:solidFill>
              <a:srgbClr val="F26B1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052560" y="2176272"/>
            <a:ext cx="2185416"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F26B1D"/>
                </a:solidFill>
                <a:latin typeface="Barlow Condensed"/>
              </a:rPr>
              <a:t>4  CORRECT</a:t>
            </a:r>
          </a:p>
        </p:txBody>
      </p:sp>
      <p:sp>
        <p:nvSpPr>
          <p:cNvPr id="16" name="TextBox 15"/>
          <p:cNvSpPr txBox="1"/>
          <p:nvPr/>
        </p:nvSpPr>
        <p:spPr>
          <a:xfrm>
            <a:off x="9052560" y="2615184"/>
            <a:ext cx="2185416" cy="2468880"/>
          </a:xfrm>
          <a:prstGeom prst="rect">
            <a:avLst/>
          </a:prstGeom>
          <a:noFill/>
        </p:spPr>
        <p:txBody>
          <a:bodyPr wrap="square" anchor="t" lIns="0" rIns="0" tIns="0" bIns="0">
            <a:spAutoFit/>
          </a:bodyPr>
          <a:lstStyle/>
          <a:p>
            <a:pPr algn="l">
              <a:lnSpc>
                <a:spcPct val="118000"/>
              </a:lnSpc>
              <a:spcAft>
                <a:spcPts val="700"/>
              </a:spcAft>
            </a:pPr>
            <a:r>
              <a:rPr sz="1600" b="0" i="0">
                <a:solidFill>
                  <a:srgbClr val="2B2F36"/>
                </a:solidFill>
                <a:latin typeface="Arial"/>
              </a:rPr>
              <a:t>Remove temperature-linked strain</a:t>
            </a:r>
          </a:p>
          <a:p>
            <a:pPr algn="l">
              <a:lnSpc>
                <a:spcPct val="118000"/>
              </a:lnSpc>
              <a:spcAft>
                <a:spcPts val="700"/>
              </a:spcAft>
            </a:pPr>
            <a:r>
              <a:rPr sz="1600" b="0" i="0">
                <a:solidFill>
                  <a:srgbClr val="2B2F36"/>
                </a:solidFill>
                <a:latin typeface="Arial"/>
              </a:rPr>
              <a:t>Retest the date trend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86000"/>
            <a:ext cx="1828800" cy="914400"/>
          </a:xfrm>
          <a:prstGeom prst="rect">
            <a:avLst/>
          </a:prstGeom>
          <a:noFill/>
        </p:spPr>
        <p:txBody>
          <a:bodyPr wrap="square" anchor="t" lIns="0" rIns="0" tIns="0" bIns="0">
            <a:spAutoFit/>
          </a:bodyPr>
          <a:lstStyle/>
          <a:p>
            <a:pPr algn="l">
              <a:lnSpc>
                <a:spcPct val="90000"/>
              </a:lnSpc>
              <a:spcAft>
                <a:spcPts val="600"/>
              </a:spcAft>
            </a:pPr>
            <a:r>
              <a:rPr sz="9000" b="1" i="0">
                <a:solidFill>
                  <a:srgbClr val="F26B1D"/>
                </a:solidFill>
                <a:latin typeface="Barlow Condensed"/>
              </a:rPr>
              <a:t>1</a:t>
            </a:r>
          </a:p>
        </p:txBody>
      </p:sp>
      <p:sp>
        <p:nvSpPr>
          <p:cNvPr id="4" name="TextBox 3"/>
          <p:cNvSpPr txBox="1"/>
          <p:nvPr/>
        </p:nvSpPr>
        <p:spPr>
          <a:xfrm>
            <a:off x="914400" y="3291840"/>
            <a:ext cx="10058400" cy="1280160"/>
          </a:xfrm>
          <a:prstGeom prst="rect">
            <a:avLst/>
          </a:prstGeom>
          <a:noFill/>
        </p:spPr>
        <p:txBody>
          <a:bodyPr wrap="square" anchor="t" lIns="0" rIns="0" tIns="0" bIns="0">
            <a:spAutoFit/>
          </a:bodyPr>
          <a:lstStyle/>
          <a:p>
            <a:pPr algn="l">
              <a:lnSpc>
                <a:spcPct val="100000"/>
              </a:lnSpc>
              <a:spcAft>
                <a:spcPts val="600"/>
              </a:spcAft>
            </a:pPr>
            <a:r>
              <a:rPr sz="4600" b="1" i="0">
                <a:solidFill>
                  <a:srgbClr val="FFFFFF"/>
                </a:solidFill>
                <a:latin typeface="Barlow Condensed"/>
              </a:rPr>
              <a:t>See the relationship</a:t>
            </a:r>
          </a:p>
        </p:txBody>
      </p:sp>
      <p:sp>
        <p:nvSpPr>
          <p:cNvPr id="5" name="TextBox 4"/>
          <p:cNvSpPr txBox="1"/>
          <p:nvPr/>
        </p:nvSpPr>
        <p:spPr>
          <a:xfrm>
            <a:off x="914400" y="4572000"/>
            <a:ext cx="9144000" cy="731520"/>
          </a:xfrm>
          <a:prstGeom prst="rect">
            <a:avLst/>
          </a:prstGeom>
          <a:noFill/>
        </p:spPr>
        <p:txBody>
          <a:bodyPr wrap="square" anchor="t" lIns="0" rIns="0" tIns="0" bIns="0">
            <a:spAutoFit/>
          </a:bodyPr>
          <a:lstStyle/>
          <a:p>
            <a:pPr algn="l">
              <a:lnSpc>
                <a:spcPct val="120000"/>
              </a:lnSpc>
              <a:spcAft>
                <a:spcPts val="600"/>
              </a:spcAft>
            </a:pPr>
            <a:r>
              <a:rPr sz="1900" b="0" i="0">
                <a:solidFill>
                  <a:srgbClr val="6F8FAF"/>
                </a:solidFill>
                <a:latin typeface="Arial"/>
              </a:rPr>
              <a:t>A scatter plot comes before a coefficient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57200"/>
            <a:ext cx="10881360" cy="777240"/>
          </a:xfrm>
          <a:prstGeom prst="rect">
            <a:avLst/>
          </a:prstGeom>
          <a:noFill/>
        </p:spPr>
        <p:txBody>
          <a:bodyPr wrap="square" anchor="t" lIns="0" rIns="0" tIns="0" bIns="0">
            <a:spAutoFit/>
          </a:bodyPr>
          <a:lstStyle/>
          <a:p>
            <a:pPr algn="l">
              <a:lnSpc>
                <a:spcPct val="98000"/>
              </a:lnSpc>
              <a:spcAft>
                <a:spcPts val="600"/>
              </a:spcAft>
            </a:pPr>
            <a:r>
              <a:rPr sz="3800" b="1" i="0">
                <a:solidFill>
                  <a:srgbClr val="1F3A5F"/>
                </a:solidFill>
                <a:latin typeface="Barlow Condensed"/>
              </a:rPr>
              <a:t>A scatter plot shows paired observations</a:t>
            </a:r>
          </a:p>
        </p:txBody>
      </p:sp>
      <p:sp>
        <p:nvSpPr>
          <p:cNvPr id="4" name="Oval 3"/>
          <p:cNvSpPr/>
          <p:nvPr/>
        </p:nvSpPr>
        <p:spPr>
          <a:xfrm>
            <a:off x="868680" y="1485900"/>
            <a:ext cx="77724" cy="77724"/>
          </a:xfrm>
          <a:prstGeom prst="ellipse">
            <a:avLst/>
          </a:prstGeom>
          <a:solidFill>
            <a:srgbClr val="3A7D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06424" y="1389888"/>
            <a:ext cx="10140696" cy="274320"/>
          </a:xfrm>
          <a:prstGeom prst="rect">
            <a:avLst/>
          </a:prstGeom>
          <a:noFill/>
        </p:spPr>
        <p:txBody>
          <a:bodyPr wrap="square" anchor="t" lIns="0" rIns="0" tIns="0" bIns="0">
            <a:spAutoFit/>
          </a:bodyPr>
          <a:lstStyle/>
          <a:p>
            <a:pPr algn="l">
              <a:lnSpc>
                <a:spcPct val="112000"/>
              </a:lnSpc>
              <a:spcAft>
                <a:spcPts val="0"/>
              </a:spcAft>
            </a:pPr>
            <a:r>
              <a:rPr sz="1800" b="1" i="0">
                <a:solidFill>
                  <a:srgbClr val="2B2F36"/>
                </a:solidFill>
                <a:latin typeface="Arial"/>
              </a:rPr>
              <a:t>Direction  </a:t>
            </a:r>
            <a:r>
              <a:rPr sz="1800" b="0" i="0">
                <a:solidFill>
                  <a:srgbClr val="2B2F36"/>
                </a:solidFill>
                <a:latin typeface="Arial"/>
              </a:rPr>
              <a:t>positive, negative, or no clear linear pattern.</a:t>
            </a:r>
          </a:p>
        </p:txBody>
      </p:sp>
      <p:sp>
        <p:nvSpPr>
          <p:cNvPr id="6" name="Oval 5"/>
          <p:cNvSpPr/>
          <p:nvPr/>
        </p:nvSpPr>
        <p:spPr>
          <a:xfrm>
            <a:off x="868680" y="1925320"/>
            <a:ext cx="77724" cy="77724"/>
          </a:xfrm>
          <a:prstGeom prst="ellipse">
            <a:avLst/>
          </a:prstGeom>
          <a:solidFill>
            <a:srgbClr val="3A7D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06424" y="1829308"/>
            <a:ext cx="10140696" cy="274320"/>
          </a:xfrm>
          <a:prstGeom prst="rect">
            <a:avLst/>
          </a:prstGeom>
          <a:noFill/>
        </p:spPr>
        <p:txBody>
          <a:bodyPr wrap="square" anchor="t" lIns="0" rIns="0" tIns="0" bIns="0">
            <a:spAutoFit/>
          </a:bodyPr>
          <a:lstStyle/>
          <a:p>
            <a:pPr algn="l">
              <a:lnSpc>
                <a:spcPct val="112000"/>
              </a:lnSpc>
              <a:spcAft>
                <a:spcPts val="0"/>
              </a:spcAft>
            </a:pPr>
            <a:r>
              <a:rPr sz="1800" b="1" i="0">
                <a:solidFill>
                  <a:srgbClr val="2B2F36"/>
                </a:solidFill>
                <a:latin typeface="Arial"/>
              </a:rPr>
              <a:t>Form  </a:t>
            </a:r>
            <a:r>
              <a:rPr sz="1800" b="0" i="0">
                <a:solidFill>
                  <a:srgbClr val="2B2F36"/>
                </a:solidFill>
                <a:latin typeface="Arial"/>
              </a:rPr>
              <a:t>linear, curved, clustered, or changing spread.</a:t>
            </a:r>
          </a:p>
        </p:txBody>
      </p:sp>
      <p:sp>
        <p:nvSpPr>
          <p:cNvPr id="8" name="Oval 7"/>
          <p:cNvSpPr/>
          <p:nvPr/>
        </p:nvSpPr>
        <p:spPr>
          <a:xfrm>
            <a:off x="868680" y="2364740"/>
            <a:ext cx="77724" cy="77724"/>
          </a:xfrm>
          <a:prstGeom prst="ellipse">
            <a:avLst/>
          </a:prstGeom>
          <a:solidFill>
            <a:srgbClr val="3A7D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06424" y="2268728"/>
            <a:ext cx="10140696" cy="274320"/>
          </a:xfrm>
          <a:prstGeom prst="rect">
            <a:avLst/>
          </a:prstGeom>
          <a:noFill/>
        </p:spPr>
        <p:txBody>
          <a:bodyPr wrap="square" anchor="t" lIns="0" rIns="0" tIns="0" bIns="0">
            <a:spAutoFit/>
          </a:bodyPr>
          <a:lstStyle/>
          <a:p>
            <a:pPr algn="l">
              <a:lnSpc>
                <a:spcPct val="112000"/>
              </a:lnSpc>
              <a:spcAft>
                <a:spcPts val="0"/>
              </a:spcAft>
            </a:pPr>
            <a:r>
              <a:rPr sz="1800" b="1" i="0">
                <a:solidFill>
                  <a:srgbClr val="2B2F36"/>
                </a:solidFill>
                <a:latin typeface="Arial"/>
              </a:rPr>
              <a:t>Strength  </a:t>
            </a:r>
            <a:r>
              <a:rPr sz="1800" b="0" i="0">
                <a:solidFill>
                  <a:srgbClr val="2B2F36"/>
                </a:solidFill>
                <a:latin typeface="Arial"/>
              </a:rPr>
              <a:t>how tightly points follow the pattern.</a:t>
            </a:r>
          </a:p>
        </p:txBody>
      </p:sp>
      <p:sp>
        <p:nvSpPr>
          <p:cNvPr id="10" name="Oval 9"/>
          <p:cNvSpPr/>
          <p:nvPr/>
        </p:nvSpPr>
        <p:spPr>
          <a:xfrm>
            <a:off x="868680" y="2804160"/>
            <a:ext cx="77724" cy="77724"/>
          </a:xfrm>
          <a:prstGeom prst="ellipse">
            <a:avLst/>
          </a:prstGeom>
          <a:solidFill>
            <a:srgbClr val="3A7D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06424" y="2708148"/>
            <a:ext cx="10140696" cy="274320"/>
          </a:xfrm>
          <a:prstGeom prst="rect">
            <a:avLst/>
          </a:prstGeom>
          <a:noFill/>
        </p:spPr>
        <p:txBody>
          <a:bodyPr wrap="square" anchor="t" lIns="0" rIns="0" tIns="0" bIns="0">
            <a:spAutoFit/>
          </a:bodyPr>
          <a:lstStyle/>
          <a:p>
            <a:pPr algn="l">
              <a:lnSpc>
                <a:spcPct val="112000"/>
              </a:lnSpc>
              <a:spcAft>
                <a:spcPts val="0"/>
              </a:spcAft>
            </a:pPr>
            <a:r>
              <a:rPr sz="1800" b="1" i="0">
                <a:solidFill>
                  <a:srgbClr val="2B2F36"/>
                </a:solidFill>
                <a:latin typeface="Arial"/>
              </a:rPr>
              <a:t>Exceptions  </a:t>
            </a:r>
            <a:r>
              <a:rPr sz="1800" b="0" i="0">
                <a:solidFill>
                  <a:srgbClr val="2B2F36"/>
                </a:solidFill>
                <a:latin typeface="Arial"/>
              </a:rPr>
              <a:t>outliers, gaps, or groups that need explanation.</a:t>
            </a:r>
          </a:p>
        </p:txBody>
      </p:sp>
      <p:sp>
        <p:nvSpPr>
          <p:cNvPr id="12" name="Rounded Rectangle 11"/>
          <p:cNvSpPr/>
          <p:nvPr/>
        </p:nvSpPr>
        <p:spPr>
          <a:xfrm>
            <a:off x="658368" y="4956048"/>
            <a:ext cx="10853928" cy="1188720"/>
          </a:xfrm>
          <a:prstGeom prst="roundRect">
            <a:avLst>
              <a:gd name="adj" fmla="val 3500"/>
            </a:avLst>
          </a:prstGeom>
          <a:solidFill>
            <a:srgbClr val="FFF6E5"/>
          </a:solidFill>
          <a:ln w="15875">
            <a:solidFill>
              <a:srgbClr val="F2C2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32688" y="5175504"/>
            <a:ext cx="10305288"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6B7280"/>
                </a:solidFill>
                <a:latin typeface="Barlow Condensed"/>
              </a:rPr>
              <a:t>FIRST MOVE</a:t>
            </a:r>
          </a:p>
        </p:txBody>
      </p:sp>
      <p:sp>
        <p:nvSpPr>
          <p:cNvPr id="14" name="TextBox 13"/>
          <p:cNvSpPr txBox="1"/>
          <p:nvPr/>
        </p:nvSpPr>
        <p:spPr>
          <a:xfrm>
            <a:off x="932688" y="5614416"/>
            <a:ext cx="10305288" cy="274320"/>
          </a:xfrm>
          <a:prstGeom prst="rect">
            <a:avLst/>
          </a:prstGeom>
          <a:noFill/>
        </p:spPr>
        <p:txBody>
          <a:bodyPr wrap="square" anchor="t" lIns="0" rIns="0" tIns="0" bIns="0">
            <a:spAutoFit/>
          </a:bodyPr>
          <a:lstStyle/>
          <a:p>
            <a:pPr algn="l">
              <a:lnSpc>
                <a:spcPct val="118000"/>
              </a:lnSpc>
              <a:spcAft>
                <a:spcPts val="700"/>
              </a:spcAft>
            </a:pPr>
            <a:r>
              <a:rPr sz="1500" b="0" i="0">
                <a:solidFill>
                  <a:srgbClr val="2B2F36"/>
                </a:solidFill>
                <a:latin typeface="Arial"/>
              </a:rPr>
              <a:t>Plot before interpreting a fitted statistic.</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57200"/>
            <a:ext cx="10881360" cy="777240"/>
          </a:xfrm>
          <a:prstGeom prst="rect">
            <a:avLst/>
          </a:prstGeom>
          <a:noFill/>
        </p:spPr>
        <p:txBody>
          <a:bodyPr wrap="square" anchor="t" lIns="0" rIns="0" tIns="0" bIns="0">
            <a:spAutoFit/>
          </a:bodyPr>
          <a:lstStyle/>
          <a:p>
            <a:pPr algn="l">
              <a:lnSpc>
                <a:spcPct val="98000"/>
              </a:lnSpc>
              <a:spcAft>
                <a:spcPts val="600"/>
              </a:spcAft>
            </a:pPr>
            <a:r>
              <a:rPr sz="3800" b="1" i="0">
                <a:solidFill>
                  <a:srgbClr val="1F3A5F"/>
                </a:solidFill>
                <a:latin typeface="Barlow Condensed"/>
              </a:rPr>
              <a:t>Correlation measures linear association</a:t>
            </a:r>
          </a:p>
        </p:txBody>
      </p:sp>
      <p:sp>
        <p:nvSpPr>
          <p:cNvPr id="4" name="TextBox 3"/>
          <p:cNvSpPr txBox="1"/>
          <p:nvPr/>
        </p:nvSpPr>
        <p:spPr>
          <a:xfrm>
            <a:off x="658368" y="1207008"/>
            <a:ext cx="10881360" cy="457200"/>
          </a:xfrm>
          <a:prstGeom prst="rect">
            <a:avLst/>
          </a:prstGeom>
          <a:noFill/>
        </p:spPr>
        <p:txBody>
          <a:bodyPr wrap="square" anchor="t" lIns="0" rIns="0" tIns="0" bIns="0">
            <a:spAutoFit/>
          </a:bodyPr>
          <a:lstStyle/>
          <a:p>
            <a:pPr algn="l">
              <a:lnSpc>
                <a:spcPct val="115000"/>
              </a:lnSpc>
              <a:spcAft>
                <a:spcPts val="600"/>
              </a:spcAft>
            </a:pPr>
            <a:r>
              <a:rPr sz="1700" b="0" i="0">
                <a:solidFill>
                  <a:srgbClr val="6B7280"/>
                </a:solidFill>
                <a:latin typeface="Arial"/>
              </a:rPr>
              <a:t>It does not identify the mechanism</a:t>
            </a:r>
          </a:p>
        </p:txBody>
      </p:sp>
      <p:sp>
        <p:nvSpPr>
          <p:cNvPr id="5" name="Rounded Rectangle 4"/>
          <p:cNvSpPr/>
          <p:nvPr/>
        </p:nvSpPr>
        <p:spPr>
          <a:xfrm>
            <a:off x="658368" y="1956816"/>
            <a:ext cx="5349240" cy="3429000"/>
          </a:xfrm>
          <a:prstGeom prst="roundRect">
            <a:avLst>
              <a:gd name="adj" fmla="val 3500"/>
            </a:avLst>
          </a:prstGeom>
          <a:solidFill>
            <a:srgbClr val="F4F6F8"/>
          </a:solidFill>
          <a:ln w="15875">
            <a:solidFill>
              <a:srgbClr val="E6E8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32688" y="2176272"/>
            <a:ext cx="4800600"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1F3A5F"/>
                </a:solidFill>
                <a:latin typeface="Barlow Condensed"/>
              </a:rPr>
              <a:t>CORRELATION COEFFICIENT r</a:t>
            </a:r>
          </a:p>
        </p:txBody>
      </p:sp>
      <p:sp>
        <p:nvSpPr>
          <p:cNvPr id="7" name="TextBox 6"/>
          <p:cNvSpPr txBox="1"/>
          <p:nvPr/>
        </p:nvSpPr>
        <p:spPr>
          <a:xfrm>
            <a:off x="932688" y="2615184"/>
            <a:ext cx="4800600" cy="2514600"/>
          </a:xfrm>
          <a:prstGeom prst="rect">
            <a:avLst/>
          </a:prstGeom>
          <a:noFill/>
        </p:spPr>
        <p:txBody>
          <a:bodyPr wrap="square" anchor="t" lIns="0" rIns="0" tIns="0" bIns="0">
            <a:spAutoFit/>
          </a:bodyPr>
          <a:lstStyle/>
          <a:p>
            <a:pPr algn="l">
              <a:lnSpc>
                <a:spcPct val="118000"/>
              </a:lnSpc>
              <a:spcAft>
                <a:spcPts val="700"/>
              </a:spcAft>
            </a:pPr>
            <a:r>
              <a:rPr sz="1700" b="0" i="0">
                <a:solidFill>
                  <a:srgbClr val="2B2F36"/>
                </a:solidFill>
                <a:latin typeface="Arial"/>
              </a:rPr>
              <a:t>Ranges from −1 to +1</a:t>
            </a:r>
          </a:p>
          <a:p>
            <a:pPr algn="l">
              <a:lnSpc>
                <a:spcPct val="118000"/>
              </a:lnSpc>
              <a:spcAft>
                <a:spcPts val="700"/>
              </a:spcAft>
            </a:pPr>
            <a:r>
              <a:rPr sz="1700" b="0" i="0">
                <a:solidFill>
                  <a:srgbClr val="2B2F36"/>
                </a:solidFill>
                <a:latin typeface="Arial"/>
              </a:rPr>
              <a:t>Sign gives direction</a:t>
            </a:r>
          </a:p>
          <a:p>
            <a:pPr algn="l">
              <a:lnSpc>
                <a:spcPct val="118000"/>
              </a:lnSpc>
              <a:spcAft>
                <a:spcPts val="700"/>
              </a:spcAft>
            </a:pPr>
            <a:r>
              <a:rPr sz="1700" b="0" i="0">
                <a:solidFill>
                  <a:srgbClr val="2B2F36"/>
                </a:solidFill>
                <a:latin typeface="Arial"/>
              </a:rPr>
              <a:t>Magnitude gives linear strength</a:t>
            </a:r>
          </a:p>
        </p:txBody>
      </p:sp>
      <p:sp>
        <p:nvSpPr>
          <p:cNvPr id="8" name="Rounded Rectangle 7"/>
          <p:cNvSpPr/>
          <p:nvPr/>
        </p:nvSpPr>
        <p:spPr>
          <a:xfrm>
            <a:off x="6144768" y="1956816"/>
            <a:ext cx="5367528" cy="3429000"/>
          </a:xfrm>
          <a:prstGeom prst="roundRect">
            <a:avLst>
              <a:gd name="adj" fmla="val 3500"/>
            </a:avLst>
          </a:prstGeom>
          <a:solidFill>
            <a:srgbClr val="FFF6E5"/>
          </a:solidFill>
          <a:ln w="15875">
            <a:solidFill>
              <a:srgbClr val="F2C2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19088" y="2176272"/>
            <a:ext cx="4818888"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2B2F36"/>
                </a:solidFill>
                <a:latin typeface="Barlow Condensed"/>
              </a:rPr>
              <a:t>NOT INCLUDED</a:t>
            </a:r>
          </a:p>
        </p:txBody>
      </p:sp>
      <p:sp>
        <p:nvSpPr>
          <p:cNvPr id="10" name="TextBox 9"/>
          <p:cNvSpPr txBox="1"/>
          <p:nvPr/>
        </p:nvSpPr>
        <p:spPr>
          <a:xfrm>
            <a:off x="6419088" y="2615184"/>
            <a:ext cx="4818888" cy="2514600"/>
          </a:xfrm>
          <a:prstGeom prst="rect">
            <a:avLst/>
          </a:prstGeom>
          <a:noFill/>
        </p:spPr>
        <p:txBody>
          <a:bodyPr wrap="square" anchor="t" lIns="0" rIns="0" tIns="0" bIns="0">
            <a:spAutoFit/>
          </a:bodyPr>
          <a:lstStyle/>
          <a:p>
            <a:pPr algn="l">
              <a:lnSpc>
                <a:spcPct val="118000"/>
              </a:lnSpc>
              <a:spcAft>
                <a:spcPts val="700"/>
              </a:spcAft>
            </a:pPr>
            <a:r>
              <a:rPr sz="1700" b="0" i="0">
                <a:solidFill>
                  <a:srgbClr val="2B2F36"/>
                </a:solidFill>
                <a:latin typeface="Arial"/>
              </a:rPr>
              <a:t>Proof of cause</a:t>
            </a:r>
          </a:p>
          <a:p>
            <a:pPr algn="l">
              <a:lnSpc>
                <a:spcPct val="118000"/>
              </a:lnSpc>
              <a:spcAft>
                <a:spcPts val="700"/>
              </a:spcAft>
            </a:pPr>
            <a:r>
              <a:rPr sz="1700" b="0" i="0">
                <a:solidFill>
                  <a:srgbClr val="2B2F36"/>
                </a:solidFill>
                <a:latin typeface="Arial"/>
              </a:rPr>
              <a:t>Protection from a hidden variable</a:t>
            </a:r>
          </a:p>
          <a:p>
            <a:pPr algn="l">
              <a:lnSpc>
                <a:spcPct val="118000"/>
              </a:lnSpc>
              <a:spcAft>
                <a:spcPts val="700"/>
              </a:spcAft>
            </a:pPr>
            <a:r>
              <a:rPr sz="1700" b="0" i="0">
                <a:solidFill>
                  <a:srgbClr val="2B2F36"/>
                </a:solidFill>
                <a:latin typeface="Arial"/>
              </a:rPr>
              <a:t>Engineering significance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57200"/>
            <a:ext cx="10881360" cy="777240"/>
          </a:xfrm>
          <a:prstGeom prst="rect">
            <a:avLst/>
          </a:prstGeom>
          <a:noFill/>
        </p:spPr>
        <p:txBody>
          <a:bodyPr wrap="square" anchor="t" lIns="0" rIns="0" tIns="0" bIns="0">
            <a:spAutoFit/>
          </a:bodyPr>
          <a:lstStyle/>
          <a:p>
            <a:pPr algn="l">
              <a:lnSpc>
                <a:spcPct val="98000"/>
              </a:lnSpc>
              <a:spcAft>
                <a:spcPts val="600"/>
              </a:spcAft>
            </a:pPr>
            <a:r>
              <a:rPr sz="3800" b="1" i="0">
                <a:solidFill>
                  <a:srgbClr val="1F3A5F"/>
                </a:solidFill>
                <a:latin typeface="Barlow Condensed"/>
              </a:rPr>
              <a:t>Linear regression fits a prediction line</a:t>
            </a:r>
          </a:p>
        </p:txBody>
      </p:sp>
      <p:sp>
        <p:nvSpPr>
          <p:cNvPr id="4" name="Rounded Rectangle 3"/>
          <p:cNvSpPr/>
          <p:nvPr/>
        </p:nvSpPr>
        <p:spPr>
          <a:xfrm>
            <a:off x="658368" y="1389888"/>
            <a:ext cx="5349240" cy="3383280"/>
          </a:xfrm>
          <a:prstGeom prst="roundRect">
            <a:avLst>
              <a:gd name="adj" fmla="val 3500"/>
            </a:avLst>
          </a:prstGeom>
          <a:solidFill>
            <a:srgbClr val="F4F6F8"/>
          </a:solidFill>
          <a:ln w="15875">
            <a:solidFill>
              <a:srgbClr val="E6E8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1609344"/>
            <a:ext cx="4800600"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1F3A5F"/>
                </a:solidFill>
                <a:latin typeface="Barlow Condensed"/>
              </a:rPr>
              <a:t>MODEL</a:t>
            </a:r>
          </a:p>
        </p:txBody>
      </p:sp>
      <p:sp>
        <p:nvSpPr>
          <p:cNvPr id="6" name="TextBox 5"/>
          <p:cNvSpPr txBox="1"/>
          <p:nvPr/>
        </p:nvSpPr>
        <p:spPr>
          <a:xfrm>
            <a:off x="932688" y="2048256"/>
            <a:ext cx="4800600" cy="2468880"/>
          </a:xfrm>
          <a:prstGeom prst="rect">
            <a:avLst/>
          </a:prstGeom>
          <a:noFill/>
        </p:spPr>
        <p:txBody>
          <a:bodyPr wrap="square" anchor="t" lIns="0" rIns="0" tIns="0" bIns="0">
            <a:spAutoFit/>
          </a:bodyPr>
          <a:lstStyle/>
          <a:p>
            <a:pPr algn="l">
              <a:lnSpc>
                <a:spcPct val="118000"/>
              </a:lnSpc>
              <a:spcAft>
                <a:spcPts val="700"/>
              </a:spcAft>
            </a:pPr>
            <a:r>
              <a:rPr sz="1800" b="0" i="0">
                <a:solidFill>
                  <a:srgbClr val="2B2F36"/>
                </a:solidFill>
                <a:latin typeface="Arial"/>
              </a:rPr>
              <a:t>response = intercept + slope × predictor</a:t>
            </a:r>
          </a:p>
          <a:p>
            <a:pPr algn="l">
              <a:lnSpc>
                <a:spcPct val="118000"/>
              </a:lnSpc>
              <a:spcAft>
                <a:spcPts val="700"/>
              </a:spcAft>
            </a:pPr>
            <a:r>
              <a:rPr sz="1800" b="0" i="0">
                <a:solidFill>
                  <a:srgbClr val="2B2F36"/>
                </a:solidFill>
                <a:latin typeface="Arial"/>
              </a:rPr>
              <a:t>Slope: expected response change per predictor unit</a:t>
            </a:r>
          </a:p>
        </p:txBody>
      </p:sp>
      <p:sp>
        <p:nvSpPr>
          <p:cNvPr id="7" name="Rounded Rectangle 6"/>
          <p:cNvSpPr/>
          <p:nvPr/>
        </p:nvSpPr>
        <p:spPr>
          <a:xfrm>
            <a:off x="6144768" y="1389888"/>
            <a:ext cx="5367528" cy="3383280"/>
          </a:xfrm>
          <a:prstGeom prst="roundRect">
            <a:avLst>
              <a:gd name="adj" fmla="val 3500"/>
            </a:avLst>
          </a:prstGeom>
          <a:solidFill>
            <a:srgbClr val="FFF6E5"/>
          </a:solidFill>
          <a:ln w="15875">
            <a:solidFill>
              <a:srgbClr val="F2C2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19088" y="1609344"/>
            <a:ext cx="4818888"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2B2F36"/>
                </a:solidFill>
                <a:latin typeface="Barlow Condensed"/>
              </a:rPr>
              <a:t>CHECK</a:t>
            </a:r>
          </a:p>
        </p:txBody>
      </p:sp>
      <p:sp>
        <p:nvSpPr>
          <p:cNvPr id="9" name="TextBox 8"/>
          <p:cNvSpPr txBox="1"/>
          <p:nvPr/>
        </p:nvSpPr>
        <p:spPr>
          <a:xfrm>
            <a:off x="6419088" y="2048256"/>
            <a:ext cx="4818888" cy="2468880"/>
          </a:xfrm>
          <a:prstGeom prst="rect">
            <a:avLst/>
          </a:prstGeom>
          <a:noFill/>
        </p:spPr>
        <p:txBody>
          <a:bodyPr wrap="square" anchor="t" lIns="0" rIns="0" tIns="0" bIns="0">
            <a:spAutoFit/>
          </a:bodyPr>
          <a:lstStyle/>
          <a:p>
            <a:pPr algn="l">
              <a:lnSpc>
                <a:spcPct val="118000"/>
              </a:lnSpc>
              <a:spcAft>
                <a:spcPts val="700"/>
              </a:spcAft>
            </a:pPr>
            <a:r>
              <a:rPr sz="1700" b="0" i="0">
                <a:solidFill>
                  <a:srgbClr val="2B2F36"/>
                </a:solidFill>
                <a:latin typeface="Arial"/>
              </a:rPr>
              <a:t>Units</a:t>
            </a:r>
          </a:p>
          <a:p>
            <a:pPr algn="l">
              <a:lnSpc>
                <a:spcPct val="118000"/>
              </a:lnSpc>
              <a:spcAft>
                <a:spcPts val="700"/>
              </a:spcAft>
            </a:pPr>
            <a:r>
              <a:rPr sz="1700" b="0" i="0">
                <a:solidFill>
                  <a:srgbClr val="2B2F36"/>
                </a:solidFill>
                <a:latin typeface="Arial"/>
              </a:rPr>
              <a:t>Range represented</a:t>
            </a:r>
          </a:p>
          <a:p>
            <a:pPr algn="l">
              <a:lnSpc>
                <a:spcPct val="118000"/>
              </a:lnSpc>
              <a:spcAft>
                <a:spcPts val="700"/>
              </a:spcAft>
            </a:pPr>
            <a:r>
              <a:rPr sz="1700" b="0" i="0">
                <a:solidFill>
                  <a:srgbClr val="2B2F36"/>
                </a:solidFill>
                <a:latin typeface="Arial"/>
              </a:rPr>
              <a:t>Residual pattern</a:t>
            </a:r>
          </a:p>
          <a:p>
            <a:pPr algn="l">
              <a:lnSpc>
                <a:spcPct val="118000"/>
              </a:lnSpc>
              <a:spcAft>
                <a:spcPts val="700"/>
              </a:spcAft>
            </a:pPr>
            <a:r>
              <a:rPr sz="1700" b="0" i="0">
                <a:solidFill>
                  <a:srgbClr val="2B2F36"/>
                </a:solidFill>
                <a:latin typeface="Arial"/>
              </a:rPr>
              <a:t>Variables omitted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57200"/>
            <a:ext cx="10881360" cy="777240"/>
          </a:xfrm>
          <a:prstGeom prst="rect">
            <a:avLst/>
          </a:prstGeom>
          <a:noFill/>
        </p:spPr>
        <p:txBody>
          <a:bodyPr wrap="square" anchor="t" lIns="0" rIns="0" tIns="0" bIns="0">
            <a:spAutoFit/>
          </a:bodyPr>
          <a:lstStyle/>
          <a:p>
            <a:pPr algn="l">
              <a:lnSpc>
                <a:spcPct val="98000"/>
              </a:lnSpc>
              <a:spcAft>
                <a:spcPts val="600"/>
              </a:spcAft>
            </a:pPr>
            <a:r>
              <a:rPr sz="3800" b="1" i="0">
                <a:solidFill>
                  <a:srgbClr val="1F3A5F"/>
                </a:solidFill>
                <a:latin typeface="Barlow Condensed"/>
              </a:rPr>
              <a:t>R² describes fit—not cause</a:t>
            </a:r>
          </a:p>
        </p:txBody>
      </p:sp>
      <p:sp>
        <p:nvSpPr>
          <p:cNvPr id="4" name="Rounded Rectangle 3"/>
          <p:cNvSpPr/>
          <p:nvPr/>
        </p:nvSpPr>
        <p:spPr>
          <a:xfrm>
            <a:off x="658368" y="1389888"/>
            <a:ext cx="5349240" cy="3429000"/>
          </a:xfrm>
          <a:prstGeom prst="roundRect">
            <a:avLst>
              <a:gd name="adj" fmla="val 3500"/>
            </a:avLst>
          </a:prstGeom>
          <a:solidFill>
            <a:srgbClr val="F4F6F8"/>
          </a:solidFill>
          <a:ln w="15875">
            <a:solidFill>
              <a:srgbClr val="E6E8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1609344"/>
            <a:ext cx="4800600"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1F3A5F"/>
                </a:solidFill>
                <a:latin typeface="Barlow Condensed"/>
              </a:rPr>
              <a:t>R² CAN SAY</a:t>
            </a:r>
          </a:p>
        </p:txBody>
      </p:sp>
      <p:sp>
        <p:nvSpPr>
          <p:cNvPr id="6" name="TextBox 5"/>
          <p:cNvSpPr txBox="1"/>
          <p:nvPr/>
        </p:nvSpPr>
        <p:spPr>
          <a:xfrm>
            <a:off x="932688" y="2048256"/>
            <a:ext cx="4800600" cy="2514600"/>
          </a:xfrm>
          <a:prstGeom prst="rect">
            <a:avLst/>
          </a:prstGeom>
          <a:noFill/>
        </p:spPr>
        <p:txBody>
          <a:bodyPr wrap="square" anchor="t" lIns="0" rIns="0" tIns="0" bIns="0">
            <a:spAutoFit/>
          </a:bodyPr>
          <a:lstStyle/>
          <a:p>
            <a:pPr algn="l">
              <a:lnSpc>
                <a:spcPct val="118000"/>
              </a:lnSpc>
              <a:spcAft>
                <a:spcPts val="700"/>
              </a:spcAft>
            </a:pPr>
            <a:r>
              <a:rPr sz="1900" b="0" i="0">
                <a:solidFill>
                  <a:srgbClr val="2B2F36"/>
                </a:solidFill>
                <a:latin typeface="Arial"/>
              </a:rPr>
              <a:t>How much response variation is described by this fitted model in this sample</a:t>
            </a:r>
          </a:p>
        </p:txBody>
      </p:sp>
      <p:sp>
        <p:nvSpPr>
          <p:cNvPr id="7" name="Rounded Rectangle 6"/>
          <p:cNvSpPr/>
          <p:nvPr/>
        </p:nvSpPr>
        <p:spPr>
          <a:xfrm>
            <a:off x="6144768" y="1389888"/>
            <a:ext cx="5367528" cy="3429000"/>
          </a:xfrm>
          <a:prstGeom prst="roundRect">
            <a:avLst>
              <a:gd name="adj" fmla="val 3500"/>
            </a:avLst>
          </a:prstGeom>
          <a:solidFill>
            <a:srgbClr val="FFF1E8"/>
          </a:solidFill>
          <a:ln w="15875">
            <a:solidFill>
              <a:srgbClr val="F26B1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19088" y="1609344"/>
            <a:ext cx="4818888"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F26B1D"/>
                </a:solidFill>
                <a:latin typeface="Barlow Condensed"/>
              </a:rPr>
              <a:t>R² CANNOT SAY</a:t>
            </a:r>
          </a:p>
        </p:txBody>
      </p:sp>
      <p:sp>
        <p:nvSpPr>
          <p:cNvPr id="9" name="TextBox 8"/>
          <p:cNvSpPr txBox="1"/>
          <p:nvPr/>
        </p:nvSpPr>
        <p:spPr>
          <a:xfrm>
            <a:off x="6419088" y="2048256"/>
            <a:ext cx="4818888" cy="2514600"/>
          </a:xfrm>
          <a:prstGeom prst="rect">
            <a:avLst/>
          </a:prstGeom>
          <a:noFill/>
        </p:spPr>
        <p:txBody>
          <a:bodyPr wrap="square" anchor="t" lIns="0" rIns="0" tIns="0" bIns="0">
            <a:spAutoFit/>
          </a:bodyPr>
          <a:lstStyle/>
          <a:p>
            <a:pPr algn="l">
              <a:lnSpc>
                <a:spcPct val="118000"/>
              </a:lnSpc>
              <a:spcAft>
                <a:spcPts val="700"/>
              </a:spcAft>
            </a:pPr>
            <a:r>
              <a:rPr sz="1700" b="0" i="0">
                <a:solidFill>
                  <a:srgbClr val="2B2F36"/>
                </a:solidFill>
                <a:latin typeface="Arial"/>
              </a:rPr>
              <a:t>The predictor caused the response</a:t>
            </a:r>
          </a:p>
          <a:p>
            <a:pPr algn="l">
              <a:lnSpc>
                <a:spcPct val="118000"/>
              </a:lnSpc>
              <a:spcAft>
                <a:spcPts val="700"/>
              </a:spcAft>
            </a:pPr>
            <a:r>
              <a:rPr sz="1700" b="0" i="0">
                <a:solidFill>
                  <a:srgbClr val="2B2F36"/>
                </a:solidFill>
                <a:latin typeface="Arial"/>
              </a:rPr>
              <a:t>The model is complete</a:t>
            </a:r>
          </a:p>
          <a:p>
            <a:pPr algn="l">
              <a:lnSpc>
                <a:spcPct val="118000"/>
              </a:lnSpc>
              <a:spcAft>
                <a:spcPts val="700"/>
              </a:spcAft>
            </a:pPr>
            <a:r>
              <a:rPr sz="1700" b="0" i="0">
                <a:solidFill>
                  <a:srgbClr val="2B2F36"/>
                </a:solidFill>
                <a:latin typeface="Arial"/>
              </a:rPr>
              <a:t>Damage is progressing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B2F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2103120"/>
            <a:ext cx="10149840" cy="2560320"/>
          </a:xfrm>
          <a:prstGeom prst="rect">
            <a:avLst/>
          </a:prstGeom>
          <a:noFill/>
        </p:spPr>
        <p:txBody>
          <a:bodyPr wrap="square" anchor="ctr" lIns="0" rIns="0" tIns="0" bIns="0">
            <a:spAutoFit/>
          </a:bodyPr>
          <a:lstStyle/>
          <a:p>
            <a:pPr algn="l">
              <a:lnSpc>
                <a:spcPct val="106000"/>
              </a:lnSpc>
              <a:spcAft>
                <a:spcPts val="600"/>
              </a:spcAft>
            </a:pPr>
            <a:r>
              <a:rPr sz="4300" b="1" i="0">
                <a:solidFill>
                  <a:srgbClr val="FFFFFF"/>
                </a:solidFill>
                <a:latin typeface="Barlow Condensed"/>
              </a:rPr>
              <a:t>A model can fit the observed points
and still tell the wrong story.</a:t>
            </a:r>
          </a:p>
        </p:txBody>
      </p:sp>
      <p:sp>
        <p:nvSpPr>
          <p:cNvPr id="4" name="TextBox 3"/>
          <p:cNvSpPr txBox="1"/>
          <p:nvPr/>
        </p:nvSpPr>
        <p:spPr>
          <a:xfrm>
            <a:off x="1005840" y="4800600"/>
            <a:ext cx="10149840" cy="457200"/>
          </a:xfrm>
          <a:prstGeom prst="rect">
            <a:avLst/>
          </a:prstGeom>
          <a:noFill/>
        </p:spPr>
        <p:txBody>
          <a:bodyPr wrap="square" anchor="t" lIns="0" rIns="0" tIns="0" bIns="0">
            <a:spAutoFit/>
          </a:bodyPr>
          <a:lstStyle/>
          <a:p>
            <a:pPr algn="l">
              <a:lnSpc>
                <a:spcPct val="100000"/>
              </a:lnSpc>
              <a:spcAft>
                <a:spcPts val="600"/>
              </a:spcAft>
            </a:pPr>
            <a:r>
              <a:rPr sz="1700" b="0" i="1">
                <a:solidFill>
                  <a:srgbClr val="6F8FAF"/>
                </a:solidFill>
                <a:latin typeface="Arial"/>
              </a:rPr>
              <a:t>The causal claim needs a mechanism and competing explanations.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57200"/>
            <a:ext cx="10881360" cy="777240"/>
          </a:xfrm>
          <a:prstGeom prst="rect">
            <a:avLst/>
          </a:prstGeom>
          <a:noFill/>
        </p:spPr>
        <p:txBody>
          <a:bodyPr wrap="square" anchor="t" lIns="0" rIns="0" tIns="0" bIns="0">
            <a:spAutoFit/>
          </a:bodyPr>
          <a:lstStyle/>
          <a:p>
            <a:pPr algn="l">
              <a:lnSpc>
                <a:spcPct val="98000"/>
              </a:lnSpc>
              <a:spcAft>
                <a:spcPts val="600"/>
              </a:spcAft>
            </a:pPr>
            <a:r>
              <a:rPr sz="3800" b="1" i="0">
                <a:solidFill>
                  <a:srgbClr val="1F3A5F"/>
                </a:solidFill>
                <a:latin typeface="Barlow Condensed"/>
              </a:rPr>
              <a:t>Spurious does not mean imaginary</a:t>
            </a:r>
          </a:p>
        </p:txBody>
      </p:sp>
      <p:sp>
        <p:nvSpPr>
          <p:cNvPr id="4" name="Rounded Rectangle 3"/>
          <p:cNvSpPr/>
          <p:nvPr/>
        </p:nvSpPr>
        <p:spPr>
          <a:xfrm>
            <a:off x="658368" y="1389888"/>
            <a:ext cx="5349240" cy="3429000"/>
          </a:xfrm>
          <a:prstGeom prst="roundRect">
            <a:avLst>
              <a:gd name="adj" fmla="val 3500"/>
            </a:avLst>
          </a:prstGeom>
          <a:solidFill>
            <a:srgbClr val="F4F6F8"/>
          </a:solidFill>
          <a:ln w="15875">
            <a:solidFill>
              <a:srgbClr val="E6E8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1609344"/>
            <a:ext cx="4800600"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1F3A5F"/>
                </a:solidFill>
                <a:latin typeface="Barlow Condensed"/>
              </a:rPr>
              <a:t>REAL ASSOCIATION</a:t>
            </a:r>
          </a:p>
        </p:txBody>
      </p:sp>
      <p:sp>
        <p:nvSpPr>
          <p:cNvPr id="6" name="TextBox 5"/>
          <p:cNvSpPr txBox="1"/>
          <p:nvPr/>
        </p:nvSpPr>
        <p:spPr>
          <a:xfrm>
            <a:off x="932688" y="2048256"/>
            <a:ext cx="4800600" cy="2514600"/>
          </a:xfrm>
          <a:prstGeom prst="rect">
            <a:avLst/>
          </a:prstGeom>
          <a:noFill/>
        </p:spPr>
        <p:txBody>
          <a:bodyPr wrap="square" anchor="t" lIns="0" rIns="0" tIns="0" bIns="0">
            <a:spAutoFit/>
          </a:bodyPr>
          <a:lstStyle/>
          <a:p>
            <a:pPr algn="l">
              <a:lnSpc>
                <a:spcPct val="118000"/>
              </a:lnSpc>
              <a:spcAft>
                <a:spcPts val="700"/>
              </a:spcAft>
            </a:pPr>
            <a:r>
              <a:rPr sz="1800" b="0" i="0">
                <a:solidFill>
                  <a:srgbClr val="2B2F36"/>
                </a:solidFill>
                <a:latin typeface="Arial"/>
              </a:rPr>
              <a:t>Date and strain can move together</a:t>
            </a:r>
          </a:p>
          <a:p>
            <a:pPr algn="l">
              <a:lnSpc>
                <a:spcPct val="118000"/>
              </a:lnSpc>
              <a:spcAft>
                <a:spcPts val="700"/>
              </a:spcAft>
            </a:pPr>
            <a:r>
              <a:rPr sz="1800" b="0" i="0">
                <a:solidFill>
                  <a:srgbClr val="2B2F36"/>
                </a:solidFill>
                <a:latin typeface="Arial"/>
              </a:rPr>
              <a:t>The fitted line can be computed correctly</a:t>
            </a:r>
          </a:p>
        </p:txBody>
      </p:sp>
      <p:sp>
        <p:nvSpPr>
          <p:cNvPr id="7" name="Rounded Rectangle 6"/>
          <p:cNvSpPr/>
          <p:nvPr/>
        </p:nvSpPr>
        <p:spPr>
          <a:xfrm>
            <a:off x="6144768" y="1389888"/>
            <a:ext cx="5367528" cy="3429000"/>
          </a:xfrm>
          <a:prstGeom prst="roundRect">
            <a:avLst>
              <a:gd name="adj" fmla="val 3500"/>
            </a:avLst>
          </a:prstGeom>
          <a:solidFill>
            <a:srgbClr val="FFF1E8"/>
          </a:solidFill>
          <a:ln w="15875">
            <a:solidFill>
              <a:srgbClr val="F26B1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19088" y="1609344"/>
            <a:ext cx="4818888"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F26B1D"/>
                </a:solidFill>
                <a:latin typeface="Barlow Condensed"/>
              </a:rPr>
              <a:t>MISLEADING CLAIM</a:t>
            </a:r>
          </a:p>
        </p:txBody>
      </p:sp>
      <p:sp>
        <p:nvSpPr>
          <p:cNvPr id="9" name="TextBox 8"/>
          <p:cNvSpPr txBox="1"/>
          <p:nvPr/>
        </p:nvSpPr>
        <p:spPr>
          <a:xfrm>
            <a:off x="6419088" y="2048256"/>
            <a:ext cx="4818888" cy="2514600"/>
          </a:xfrm>
          <a:prstGeom prst="rect">
            <a:avLst/>
          </a:prstGeom>
          <a:noFill/>
        </p:spPr>
        <p:txBody>
          <a:bodyPr wrap="square" anchor="t" lIns="0" rIns="0" tIns="0" bIns="0">
            <a:spAutoFit/>
          </a:bodyPr>
          <a:lstStyle/>
          <a:p>
            <a:pPr algn="l">
              <a:lnSpc>
                <a:spcPct val="118000"/>
              </a:lnSpc>
              <a:spcAft>
                <a:spcPts val="700"/>
              </a:spcAft>
            </a:pPr>
            <a:r>
              <a:rPr sz="1800" b="0" i="0">
                <a:solidFill>
                  <a:srgbClr val="2B2F36"/>
                </a:solidFill>
                <a:latin typeface="Arial"/>
              </a:rPr>
              <a:t>Date may proxy another variable</a:t>
            </a:r>
          </a:p>
          <a:p>
            <a:pPr algn="l">
              <a:lnSpc>
                <a:spcPct val="118000"/>
              </a:lnSpc>
              <a:spcAft>
                <a:spcPts val="700"/>
              </a:spcAft>
            </a:pPr>
            <a:r>
              <a:rPr sz="1800" b="0" i="0">
                <a:solidFill>
                  <a:srgbClr val="2B2F36"/>
                </a:solidFill>
                <a:latin typeface="Arial"/>
              </a:rPr>
              <a:t>The association does not establish deterioration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86000"/>
            <a:ext cx="1828800" cy="914400"/>
          </a:xfrm>
          <a:prstGeom prst="rect">
            <a:avLst/>
          </a:prstGeom>
          <a:noFill/>
        </p:spPr>
        <p:txBody>
          <a:bodyPr wrap="square" anchor="t" lIns="0" rIns="0" tIns="0" bIns="0">
            <a:spAutoFit/>
          </a:bodyPr>
          <a:lstStyle/>
          <a:p>
            <a:pPr algn="l">
              <a:lnSpc>
                <a:spcPct val="90000"/>
              </a:lnSpc>
              <a:spcAft>
                <a:spcPts val="600"/>
              </a:spcAft>
            </a:pPr>
            <a:r>
              <a:rPr sz="9000" b="1" i="0">
                <a:solidFill>
                  <a:srgbClr val="F26B1D"/>
                </a:solidFill>
                <a:latin typeface="Barlow Condensed"/>
              </a:rPr>
              <a:t>2</a:t>
            </a:r>
          </a:p>
        </p:txBody>
      </p:sp>
      <p:sp>
        <p:nvSpPr>
          <p:cNvPr id="4" name="TextBox 3"/>
          <p:cNvSpPr txBox="1"/>
          <p:nvPr/>
        </p:nvSpPr>
        <p:spPr>
          <a:xfrm>
            <a:off x="914400" y="3291840"/>
            <a:ext cx="10058400" cy="1280160"/>
          </a:xfrm>
          <a:prstGeom prst="rect">
            <a:avLst/>
          </a:prstGeom>
          <a:noFill/>
        </p:spPr>
        <p:txBody>
          <a:bodyPr wrap="square" anchor="t" lIns="0" rIns="0" tIns="0" bIns="0">
            <a:spAutoFit/>
          </a:bodyPr>
          <a:lstStyle/>
          <a:p>
            <a:pPr algn="l">
              <a:lnSpc>
                <a:spcPct val="100000"/>
              </a:lnSpc>
              <a:spcAft>
                <a:spcPts val="600"/>
              </a:spcAft>
            </a:pPr>
            <a:r>
              <a:rPr sz="4600" b="1" i="0">
                <a:solidFill>
                  <a:srgbClr val="FFFFFF"/>
                </a:solidFill>
                <a:latin typeface="Barlow Condensed"/>
              </a:rPr>
              <a:t>Hunt the confound</a:t>
            </a:r>
          </a:p>
        </p:txBody>
      </p:sp>
      <p:sp>
        <p:nvSpPr>
          <p:cNvPr id="5" name="TextBox 4"/>
          <p:cNvSpPr txBox="1"/>
          <p:nvPr/>
        </p:nvSpPr>
        <p:spPr>
          <a:xfrm>
            <a:off x="914400" y="4572000"/>
            <a:ext cx="9144000" cy="731520"/>
          </a:xfrm>
          <a:prstGeom prst="rect">
            <a:avLst/>
          </a:prstGeom>
          <a:noFill/>
        </p:spPr>
        <p:txBody>
          <a:bodyPr wrap="square" anchor="t" lIns="0" rIns="0" tIns="0" bIns="0">
            <a:spAutoFit/>
          </a:bodyPr>
          <a:lstStyle/>
          <a:p>
            <a:pPr algn="l">
              <a:lnSpc>
                <a:spcPct val="120000"/>
              </a:lnSpc>
              <a:spcAft>
                <a:spcPts val="600"/>
              </a:spcAft>
            </a:pPr>
            <a:r>
              <a:rPr sz="1900" b="0" i="0">
                <a:solidFill>
                  <a:srgbClr val="6F8FAF"/>
                </a:solidFill>
                <a:latin typeface="Arial"/>
              </a:rPr>
              <a:t>Use the weather record, then name the mechanism</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508760"/>
          </a:xfrm>
          <a:prstGeom prst="rect">
            <a:avLst/>
          </a:prstGeom>
          <a:solidFill>
            <a:srgbClr val="F2C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8595360" cy="457200"/>
          </a:xfrm>
          <a:prstGeom prst="rect">
            <a:avLst/>
          </a:prstGeom>
          <a:noFill/>
        </p:spPr>
        <p:txBody>
          <a:bodyPr wrap="square" anchor="t" lIns="0" rIns="0" tIns="0" bIns="0">
            <a:spAutoFit/>
          </a:bodyPr>
          <a:lstStyle/>
          <a:p>
            <a:pPr algn="l">
              <a:lnSpc>
                <a:spcPct val="100000"/>
              </a:lnSpc>
              <a:spcAft>
                <a:spcPts val="600"/>
              </a:spcAft>
            </a:pPr>
            <a:r>
              <a:rPr sz="1500" b="1" i="0">
                <a:solidFill>
                  <a:srgbClr val="2B2F36"/>
                </a:solidFill>
                <a:latin typeface="Barlow Condensed"/>
              </a:rPr>
              <a:t>IN CLASS — DO THIS NOW</a:t>
            </a:r>
          </a:p>
        </p:txBody>
      </p:sp>
      <p:sp>
        <p:nvSpPr>
          <p:cNvPr id="5" name="TextBox 4"/>
          <p:cNvSpPr txBox="1"/>
          <p:nvPr/>
        </p:nvSpPr>
        <p:spPr>
          <a:xfrm>
            <a:off x="658368" y="713232"/>
            <a:ext cx="8595360" cy="640080"/>
          </a:xfrm>
          <a:prstGeom prst="rect">
            <a:avLst/>
          </a:prstGeom>
          <a:noFill/>
        </p:spPr>
        <p:txBody>
          <a:bodyPr wrap="square" anchor="t" lIns="0" rIns="0" tIns="0" bIns="0">
            <a:spAutoFit/>
          </a:bodyPr>
          <a:lstStyle/>
          <a:p>
            <a:pPr algn="l">
              <a:lnSpc>
                <a:spcPct val="100000"/>
              </a:lnSpc>
              <a:spcAft>
                <a:spcPts val="600"/>
              </a:spcAft>
            </a:pPr>
            <a:r>
              <a:rPr sz="3400" b="1" i="0">
                <a:solidFill>
                  <a:srgbClr val="2B2F36"/>
                </a:solidFill>
                <a:latin typeface="Barlow Condensed"/>
              </a:rPr>
              <a:t>Reproduce FOREMAN's model</a:t>
            </a:r>
          </a:p>
        </p:txBody>
      </p:sp>
      <p:sp>
        <p:nvSpPr>
          <p:cNvPr id="6" name="Rounded Rectangle 5"/>
          <p:cNvSpPr/>
          <p:nvPr/>
        </p:nvSpPr>
        <p:spPr>
          <a:xfrm>
            <a:off x="9966960" y="384048"/>
            <a:ext cx="1572768" cy="749808"/>
          </a:xfrm>
          <a:prstGeom prst="roundRect">
            <a:avLst>
              <a:gd name="adj" fmla="val 12000"/>
            </a:avLst>
          </a:prstGeom>
          <a:solidFill>
            <a:srgbClr val="2B2F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966960" y="475488"/>
            <a:ext cx="1572768" cy="566928"/>
          </a:xfrm>
          <a:prstGeom prst="rect">
            <a:avLst/>
          </a:prstGeom>
          <a:noFill/>
        </p:spPr>
        <p:txBody>
          <a:bodyPr wrap="square" anchor="t" lIns="0" rIns="0" tIns="0" bIns="0">
            <a:spAutoFit/>
          </a:bodyPr>
          <a:lstStyle/>
          <a:p>
            <a:pPr algn="ctr">
              <a:lnSpc>
                <a:spcPct val="100000"/>
              </a:lnSpc>
              <a:spcAft>
                <a:spcPts val="600"/>
              </a:spcAft>
            </a:pPr>
            <a:r>
              <a:rPr sz="2600" b="1" i="0">
                <a:solidFill>
                  <a:srgbClr val="F2C230"/>
                </a:solidFill>
                <a:latin typeface="Barlow Condensed"/>
              </a:rPr>
              <a:t>8 min</a:t>
            </a:r>
          </a:p>
        </p:txBody>
      </p:sp>
      <p:sp>
        <p:nvSpPr>
          <p:cNvPr id="8" name="Rounded Rectangle 7"/>
          <p:cNvSpPr/>
          <p:nvPr/>
        </p:nvSpPr>
        <p:spPr>
          <a:xfrm>
            <a:off x="685800" y="1965960"/>
            <a:ext cx="420624" cy="420624"/>
          </a:xfrm>
          <a:prstGeom prst="roundRect">
            <a:avLst>
              <a:gd name="adj" fmla="val 50000"/>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2029967"/>
            <a:ext cx="420624" cy="310896"/>
          </a:xfrm>
          <a:prstGeom prst="rect">
            <a:avLst/>
          </a:prstGeom>
          <a:noFill/>
        </p:spPr>
        <p:txBody>
          <a:bodyPr wrap="square" anchor="t" lIns="0" rIns="0" tIns="0" bIns="0">
            <a:spAutoFit/>
          </a:bodyPr>
          <a:lstStyle/>
          <a:p>
            <a:pPr algn="ctr">
              <a:lnSpc>
                <a:spcPct val="100000"/>
              </a:lnSpc>
              <a:spcAft>
                <a:spcPts val="600"/>
              </a:spcAft>
            </a:pPr>
            <a:r>
              <a:rPr sz="1900" b="1" i="0">
                <a:solidFill>
                  <a:srgbClr val="FFFFFF"/>
                </a:solidFill>
                <a:latin typeface="Barlow Condensed"/>
              </a:rPr>
              <a:t>1</a:t>
            </a:r>
          </a:p>
        </p:txBody>
      </p:sp>
      <p:sp>
        <p:nvSpPr>
          <p:cNvPr id="10" name="TextBox 9"/>
          <p:cNvSpPr txBox="1"/>
          <p:nvPr/>
        </p:nvSpPr>
        <p:spPr>
          <a:xfrm>
            <a:off x="1298448" y="1984248"/>
            <a:ext cx="9966960" cy="731520"/>
          </a:xfrm>
          <a:prstGeom prst="rect">
            <a:avLst/>
          </a:prstGeom>
          <a:noFill/>
        </p:spPr>
        <p:txBody>
          <a:bodyPr wrap="square" anchor="t" lIns="0" rIns="0" tIns="0" bIns="0">
            <a:spAutoFit/>
          </a:bodyPr>
          <a:lstStyle/>
          <a:p>
            <a:pPr algn="l">
              <a:lnSpc>
                <a:spcPct val="114000"/>
              </a:lnSpc>
              <a:spcAft>
                <a:spcPts val="600"/>
              </a:spcAft>
            </a:pPr>
            <a:r>
              <a:rPr sz="1800" b="0" i="0">
                <a:solidFill>
                  <a:srgbClr val="2B2F36"/>
                </a:solidFill>
                <a:latin typeface="Arial"/>
              </a:rPr>
              <a:t>Open feed.csv and plot corrected strain against date_index.</a:t>
            </a:r>
          </a:p>
        </p:txBody>
      </p:sp>
      <p:sp>
        <p:nvSpPr>
          <p:cNvPr id="11" name="Rounded Rectangle 10"/>
          <p:cNvSpPr/>
          <p:nvPr/>
        </p:nvSpPr>
        <p:spPr>
          <a:xfrm>
            <a:off x="685800" y="2441448"/>
            <a:ext cx="420624" cy="420624"/>
          </a:xfrm>
          <a:prstGeom prst="roundRect">
            <a:avLst>
              <a:gd name="adj" fmla="val 50000"/>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2505456"/>
            <a:ext cx="420624" cy="310896"/>
          </a:xfrm>
          <a:prstGeom prst="rect">
            <a:avLst/>
          </a:prstGeom>
          <a:noFill/>
        </p:spPr>
        <p:txBody>
          <a:bodyPr wrap="square" anchor="t" lIns="0" rIns="0" tIns="0" bIns="0">
            <a:spAutoFit/>
          </a:bodyPr>
          <a:lstStyle/>
          <a:p>
            <a:pPr algn="ctr">
              <a:lnSpc>
                <a:spcPct val="100000"/>
              </a:lnSpc>
              <a:spcAft>
                <a:spcPts val="600"/>
              </a:spcAft>
            </a:pPr>
            <a:r>
              <a:rPr sz="1900" b="1" i="0">
                <a:solidFill>
                  <a:srgbClr val="FFFFFF"/>
                </a:solidFill>
                <a:latin typeface="Barlow Condensed"/>
              </a:rPr>
              <a:t>2</a:t>
            </a:r>
          </a:p>
        </p:txBody>
      </p:sp>
      <p:sp>
        <p:nvSpPr>
          <p:cNvPr id="13" name="TextBox 12"/>
          <p:cNvSpPr txBox="1"/>
          <p:nvPr/>
        </p:nvSpPr>
        <p:spPr>
          <a:xfrm>
            <a:off x="1298448" y="2459736"/>
            <a:ext cx="9966960" cy="731520"/>
          </a:xfrm>
          <a:prstGeom prst="rect">
            <a:avLst/>
          </a:prstGeom>
          <a:noFill/>
        </p:spPr>
        <p:txBody>
          <a:bodyPr wrap="square" anchor="t" lIns="0" rIns="0" tIns="0" bIns="0">
            <a:spAutoFit/>
          </a:bodyPr>
          <a:lstStyle/>
          <a:p>
            <a:pPr algn="l">
              <a:lnSpc>
                <a:spcPct val="114000"/>
              </a:lnSpc>
              <a:spcAft>
                <a:spcPts val="600"/>
              </a:spcAft>
            </a:pPr>
            <a:r>
              <a:rPr sz="1800" b="0" i="0">
                <a:solidFill>
                  <a:srgbClr val="2B2F36"/>
                </a:solidFill>
                <a:latin typeface="Arial"/>
              </a:rPr>
              <a:t>Fit a linear trendline; record slope and R² in H8-02.</a:t>
            </a:r>
          </a:p>
        </p:txBody>
      </p:sp>
      <p:sp>
        <p:nvSpPr>
          <p:cNvPr id="14" name="Rounded Rectangle 13"/>
          <p:cNvSpPr/>
          <p:nvPr/>
        </p:nvSpPr>
        <p:spPr>
          <a:xfrm>
            <a:off x="685800" y="2916936"/>
            <a:ext cx="420624" cy="420624"/>
          </a:xfrm>
          <a:prstGeom prst="roundRect">
            <a:avLst>
              <a:gd name="adj" fmla="val 50000"/>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2980944"/>
            <a:ext cx="420624" cy="310896"/>
          </a:xfrm>
          <a:prstGeom prst="rect">
            <a:avLst/>
          </a:prstGeom>
          <a:noFill/>
        </p:spPr>
        <p:txBody>
          <a:bodyPr wrap="square" anchor="t" lIns="0" rIns="0" tIns="0" bIns="0">
            <a:spAutoFit/>
          </a:bodyPr>
          <a:lstStyle/>
          <a:p>
            <a:pPr algn="ctr">
              <a:lnSpc>
                <a:spcPct val="100000"/>
              </a:lnSpc>
              <a:spcAft>
                <a:spcPts val="600"/>
              </a:spcAft>
            </a:pPr>
            <a:r>
              <a:rPr sz="1900" b="1" i="0">
                <a:solidFill>
                  <a:srgbClr val="FFFFFF"/>
                </a:solidFill>
                <a:latin typeface="Barlow Condensed"/>
              </a:rPr>
              <a:t>3</a:t>
            </a:r>
          </a:p>
        </p:txBody>
      </p:sp>
      <p:sp>
        <p:nvSpPr>
          <p:cNvPr id="16" name="TextBox 15"/>
          <p:cNvSpPr txBox="1"/>
          <p:nvPr/>
        </p:nvSpPr>
        <p:spPr>
          <a:xfrm>
            <a:off x="1298448" y="2935224"/>
            <a:ext cx="9966960" cy="731520"/>
          </a:xfrm>
          <a:prstGeom prst="rect">
            <a:avLst/>
          </a:prstGeom>
          <a:noFill/>
        </p:spPr>
        <p:txBody>
          <a:bodyPr wrap="square" anchor="t" lIns="0" rIns="0" tIns="0" bIns="0">
            <a:spAutoFit/>
          </a:bodyPr>
          <a:lstStyle/>
          <a:p>
            <a:pPr algn="l">
              <a:lnSpc>
                <a:spcPct val="114000"/>
              </a:lnSpc>
              <a:spcAft>
                <a:spcPts val="600"/>
              </a:spcAft>
            </a:pPr>
            <a:r>
              <a:rPr sz="1800" b="0" i="0">
                <a:solidFill>
                  <a:srgbClr val="2B2F36"/>
                </a:solidFill>
                <a:latin typeface="Arial"/>
              </a:rPr>
              <a:t>Write one sentence the model supports without using a causal verb.</a:t>
            </a:r>
          </a:p>
        </p:txBody>
      </p:sp>
      <p:sp>
        <p:nvSpPr>
          <p:cNvPr id="17" name="TextBox 16"/>
          <p:cNvSpPr txBox="1"/>
          <p:nvPr/>
        </p:nvSpPr>
        <p:spPr>
          <a:xfrm>
            <a:off x="685800" y="5897880"/>
            <a:ext cx="10789920" cy="548640"/>
          </a:xfrm>
          <a:prstGeom prst="rect">
            <a:avLst/>
          </a:prstGeom>
          <a:noFill/>
        </p:spPr>
        <p:txBody>
          <a:bodyPr wrap="square" anchor="t" lIns="0" rIns="0" tIns="0" bIns="0">
            <a:spAutoFit/>
          </a:bodyPr>
          <a:lstStyle/>
          <a:p>
            <a:pPr algn="l">
              <a:lnSpc>
                <a:spcPct val="115000"/>
              </a:lnSpc>
              <a:spcAft>
                <a:spcPts val="600"/>
              </a:spcAft>
            </a:pPr>
            <a:r>
              <a:rPr sz="1500" b="0" i="1">
                <a:solidFill>
                  <a:srgbClr val="6B7280"/>
                </a:solidFill>
                <a:latin typeface="Arial"/>
              </a:rPr>
              <a:t>A reproduced statistic can still support an overclaimed interpretation.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508760"/>
          </a:xfrm>
          <a:prstGeom prst="rect">
            <a:avLst/>
          </a:prstGeom>
          <a:solidFill>
            <a:srgbClr val="F2C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8595360" cy="457200"/>
          </a:xfrm>
          <a:prstGeom prst="rect">
            <a:avLst/>
          </a:prstGeom>
          <a:noFill/>
        </p:spPr>
        <p:txBody>
          <a:bodyPr wrap="square" anchor="t" lIns="0" rIns="0" tIns="0" bIns="0">
            <a:spAutoFit/>
          </a:bodyPr>
          <a:lstStyle/>
          <a:p>
            <a:pPr algn="l">
              <a:lnSpc>
                <a:spcPct val="100000"/>
              </a:lnSpc>
              <a:spcAft>
                <a:spcPts val="600"/>
              </a:spcAft>
            </a:pPr>
            <a:r>
              <a:rPr sz="1500" b="1" i="0">
                <a:solidFill>
                  <a:srgbClr val="2B2F36"/>
                </a:solidFill>
                <a:latin typeface="Barlow Condensed"/>
              </a:rPr>
              <a:t>IN CLASS — DO THIS NOW</a:t>
            </a:r>
          </a:p>
        </p:txBody>
      </p:sp>
      <p:sp>
        <p:nvSpPr>
          <p:cNvPr id="5" name="TextBox 4"/>
          <p:cNvSpPr txBox="1"/>
          <p:nvPr/>
        </p:nvSpPr>
        <p:spPr>
          <a:xfrm>
            <a:off x="658368" y="713232"/>
            <a:ext cx="8595360" cy="640080"/>
          </a:xfrm>
          <a:prstGeom prst="rect">
            <a:avLst/>
          </a:prstGeom>
          <a:noFill/>
        </p:spPr>
        <p:txBody>
          <a:bodyPr wrap="square" anchor="t" lIns="0" rIns="0" tIns="0" bIns="0">
            <a:spAutoFit/>
          </a:bodyPr>
          <a:lstStyle/>
          <a:p>
            <a:pPr algn="l">
              <a:lnSpc>
                <a:spcPct val="100000"/>
              </a:lnSpc>
              <a:spcAft>
                <a:spcPts val="600"/>
              </a:spcAft>
            </a:pPr>
            <a:r>
              <a:rPr sz="3400" b="1" i="0">
                <a:solidFill>
                  <a:srgbClr val="2B2F36"/>
                </a:solidFill>
                <a:latin typeface="Barlow Condensed"/>
              </a:rPr>
              <a:t>Join the weather record</a:t>
            </a:r>
          </a:p>
        </p:txBody>
      </p:sp>
      <p:sp>
        <p:nvSpPr>
          <p:cNvPr id="6" name="Rounded Rectangle 5"/>
          <p:cNvSpPr/>
          <p:nvPr/>
        </p:nvSpPr>
        <p:spPr>
          <a:xfrm>
            <a:off x="9966960" y="384048"/>
            <a:ext cx="1572768" cy="749808"/>
          </a:xfrm>
          <a:prstGeom prst="roundRect">
            <a:avLst>
              <a:gd name="adj" fmla="val 12000"/>
            </a:avLst>
          </a:prstGeom>
          <a:solidFill>
            <a:srgbClr val="2B2F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966960" y="475488"/>
            <a:ext cx="1572768" cy="566928"/>
          </a:xfrm>
          <a:prstGeom prst="rect">
            <a:avLst/>
          </a:prstGeom>
          <a:noFill/>
        </p:spPr>
        <p:txBody>
          <a:bodyPr wrap="square" anchor="t" lIns="0" rIns="0" tIns="0" bIns="0">
            <a:spAutoFit/>
          </a:bodyPr>
          <a:lstStyle/>
          <a:p>
            <a:pPr algn="ctr">
              <a:lnSpc>
                <a:spcPct val="100000"/>
              </a:lnSpc>
              <a:spcAft>
                <a:spcPts val="600"/>
              </a:spcAft>
            </a:pPr>
            <a:r>
              <a:rPr sz="2600" b="1" i="0">
                <a:solidFill>
                  <a:srgbClr val="F2C230"/>
                </a:solidFill>
                <a:latin typeface="Barlow Condensed"/>
              </a:rPr>
              <a:t>10 min</a:t>
            </a:r>
          </a:p>
        </p:txBody>
      </p:sp>
      <p:sp>
        <p:nvSpPr>
          <p:cNvPr id="8" name="Rounded Rectangle 7"/>
          <p:cNvSpPr/>
          <p:nvPr/>
        </p:nvSpPr>
        <p:spPr>
          <a:xfrm>
            <a:off x="685800" y="1965960"/>
            <a:ext cx="420624" cy="420624"/>
          </a:xfrm>
          <a:prstGeom prst="roundRect">
            <a:avLst>
              <a:gd name="adj" fmla="val 50000"/>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2029967"/>
            <a:ext cx="420624" cy="310896"/>
          </a:xfrm>
          <a:prstGeom prst="rect">
            <a:avLst/>
          </a:prstGeom>
          <a:noFill/>
        </p:spPr>
        <p:txBody>
          <a:bodyPr wrap="square" anchor="t" lIns="0" rIns="0" tIns="0" bIns="0">
            <a:spAutoFit/>
          </a:bodyPr>
          <a:lstStyle/>
          <a:p>
            <a:pPr algn="ctr">
              <a:lnSpc>
                <a:spcPct val="100000"/>
              </a:lnSpc>
              <a:spcAft>
                <a:spcPts val="600"/>
              </a:spcAft>
            </a:pPr>
            <a:r>
              <a:rPr sz="1900" b="1" i="0">
                <a:solidFill>
                  <a:srgbClr val="FFFFFF"/>
                </a:solidFill>
                <a:latin typeface="Barlow Condensed"/>
              </a:rPr>
              <a:t>1</a:t>
            </a:r>
          </a:p>
        </p:txBody>
      </p:sp>
      <p:sp>
        <p:nvSpPr>
          <p:cNvPr id="10" name="TextBox 9"/>
          <p:cNvSpPr txBox="1"/>
          <p:nvPr/>
        </p:nvSpPr>
        <p:spPr>
          <a:xfrm>
            <a:off x="1298448" y="1984248"/>
            <a:ext cx="9966960" cy="731520"/>
          </a:xfrm>
          <a:prstGeom prst="rect">
            <a:avLst/>
          </a:prstGeom>
          <a:noFill/>
        </p:spPr>
        <p:txBody>
          <a:bodyPr wrap="square" anchor="t" lIns="0" rIns="0" tIns="0" bIns="0">
            <a:spAutoFit/>
          </a:bodyPr>
          <a:lstStyle/>
          <a:p>
            <a:pPr algn="l">
              <a:lnSpc>
                <a:spcPct val="114000"/>
              </a:lnSpc>
              <a:spcAft>
                <a:spcPts val="600"/>
              </a:spcAft>
            </a:pPr>
            <a:r>
              <a:rPr sz="1800" b="0" i="0">
                <a:solidFill>
                  <a:srgbClr val="2B2F36"/>
                </a:solidFill>
                <a:latin typeface="Arial"/>
              </a:rPr>
              <a:t>Use timestamp_cst to join feed.csv and weather_station.csv.</a:t>
            </a:r>
          </a:p>
        </p:txBody>
      </p:sp>
      <p:sp>
        <p:nvSpPr>
          <p:cNvPr id="11" name="Rounded Rectangle 10"/>
          <p:cNvSpPr/>
          <p:nvPr/>
        </p:nvSpPr>
        <p:spPr>
          <a:xfrm>
            <a:off x="685800" y="2441448"/>
            <a:ext cx="420624" cy="420624"/>
          </a:xfrm>
          <a:prstGeom prst="roundRect">
            <a:avLst>
              <a:gd name="adj" fmla="val 50000"/>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2505456"/>
            <a:ext cx="420624" cy="310896"/>
          </a:xfrm>
          <a:prstGeom prst="rect">
            <a:avLst/>
          </a:prstGeom>
          <a:noFill/>
        </p:spPr>
        <p:txBody>
          <a:bodyPr wrap="square" anchor="t" lIns="0" rIns="0" tIns="0" bIns="0">
            <a:spAutoFit/>
          </a:bodyPr>
          <a:lstStyle/>
          <a:p>
            <a:pPr algn="ctr">
              <a:lnSpc>
                <a:spcPct val="100000"/>
              </a:lnSpc>
              <a:spcAft>
                <a:spcPts val="600"/>
              </a:spcAft>
            </a:pPr>
            <a:r>
              <a:rPr sz="1900" b="1" i="0">
                <a:solidFill>
                  <a:srgbClr val="FFFFFF"/>
                </a:solidFill>
                <a:latin typeface="Barlow Condensed"/>
              </a:rPr>
              <a:t>2</a:t>
            </a:r>
          </a:p>
        </p:txBody>
      </p:sp>
      <p:sp>
        <p:nvSpPr>
          <p:cNvPr id="13" name="TextBox 12"/>
          <p:cNvSpPr txBox="1"/>
          <p:nvPr/>
        </p:nvSpPr>
        <p:spPr>
          <a:xfrm>
            <a:off x="1298448" y="2459736"/>
            <a:ext cx="9966960" cy="731520"/>
          </a:xfrm>
          <a:prstGeom prst="rect">
            <a:avLst/>
          </a:prstGeom>
          <a:noFill/>
        </p:spPr>
        <p:txBody>
          <a:bodyPr wrap="square" anchor="t" lIns="0" rIns="0" tIns="0" bIns="0">
            <a:spAutoFit/>
          </a:bodyPr>
          <a:lstStyle/>
          <a:p>
            <a:pPr algn="l">
              <a:lnSpc>
                <a:spcPct val="114000"/>
              </a:lnSpc>
              <a:spcAft>
                <a:spcPts val="600"/>
              </a:spcAft>
            </a:pPr>
            <a:r>
              <a:rPr sz="1800" b="0" i="0">
                <a:solidFill>
                  <a:srgbClr val="2B2F36"/>
                </a:solidFill>
                <a:latin typeface="Arial"/>
              </a:rPr>
              <a:t>Check row counts, unmatched timestamps, duplicates, and °C units.</a:t>
            </a:r>
          </a:p>
        </p:txBody>
      </p:sp>
      <p:sp>
        <p:nvSpPr>
          <p:cNvPr id="14" name="Rounded Rectangle 13"/>
          <p:cNvSpPr/>
          <p:nvPr/>
        </p:nvSpPr>
        <p:spPr>
          <a:xfrm>
            <a:off x="685800" y="2916936"/>
            <a:ext cx="420624" cy="420624"/>
          </a:xfrm>
          <a:prstGeom prst="roundRect">
            <a:avLst>
              <a:gd name="adj" fmla="val 50000"/>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2980944"/>
            <a:ext cx="420624" cy="310896"/>
          </a:xfrm>
          <a:prstGeom prst="rect">
            <a:avLst/>
          </a:prstGeom>
          <a:noFill/>
        </p:spPr>
        <p:txBody>
          <a:bodyPr wrap="square" anchor="t" lIns="0" rIns="0" tIns="0" bIns="0">
            <a:spAutoFit/>
          </a:bodyPr>
          <a:lstStyle/>
          <a:p>
            <a:pPr algn="ctr">
              <a:lnSpc>
                <a:spcPct val="100000"/>
              </a:lnSpc>
              <a:spcAft>
                <a:spcPts val="600"/>
              </a:spcAft>
            </a:pPr>
            <a:r>
              <a:rPr sz="1900" b="1" i="0">
                <a:solidFill>
                  <a:srgbClr val="FFFFFF"/>
                </a:solidFill>
                <a:latin typeface="Barlow Condensed"/>
              </a:rPr>
              <a:t>3</a:t>
            </a:r>
          </a:p>
        </p:txBody>
      </p:sp>
      <p:sp>
        <p:nvSpPr>
          <p:cNvPr id="16" name="TextBox 15"/>
          <p:cNvSpPr txBox="1"/>
          <p:nvPr/>
        </p:nvSpPr>
        <p:spPr>
          <a:xfrm>
            <a:off x="1298448" y="2935224"/>
            <a:ext cx="9966960" cy="731520"/>
          </a:xfrm>
          <a:prstGeom prst="rect">
            <a:avLst/>
          </a:prstGeom>
          <a:noFill/>
        </p:spPr>
        <p:txBody>
          <a:bodyPr wrap="square" anchor="t" lIns="0" rIns="0" tIns="0" bIns="0">
            <a:spAutoFit/>
          </a:bodyPr>
          <a:lstStyle/>
          <a:p>
            <a:pPr algn="l">
              <a:lnSpc>
                <a:spcPct val="114000"/>
              </a:lnSpc>
              <a:spcAft>
                <a:spcPts val="600"/>
              </a:spcAft>
            </a:pPr>
            <a:r>
              <a:rPr sz="1800" b="0" i="0">
                <a:solidFill>
                  <a:srgbClr val="2B2F36"/>
                </a:solidFill>
                <a:latin typeface="Arial"/>
              </a:rPr>
              <a:t>Plot strain against air_temperature_c; fit the second line.</a:t>
            </a:r>
          </a:p>
        </p:txBody>
      </p:sp>
      <p:sp>
        <p:nvSpPr>
          <p:cNvPr id="17" name="Rounded Rectangle 16"/>
          <p:cNvSpPr/>
          <p:nvPr/>
        </p:nvSpPr>
        <p:spPr>
          <a:xfrm>
            <a:off x="685800" y="3392424"/>
            <a:ext cx="420624" cy="420624"/>
          </a:xfrm>
          <a:prstGeom prst="roundRect">
            <a:avLst>
              <a:gd name="adj" fmla="val 50000"/>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3456432"/>
            <a:ext cx="420624" cy="310896"/>
          </a:xfrm>
          <a:prstGeom prst="rect">
            <a:avLst/>
          </a:prstGeom>
          <a:noFill/>
        </p:spPr>
        <p:txBody>
          <a:bodyPr wrap="square" anchor="t" lIns="0" rIns="0" tIns="0" bIns="0">
            <a:spAutoFit/>
          </a:bodyPr>
          <a:lstStyle/>
          <a:p>
            <a:pPr algn="ctr">
              <a:lnSpc>
                <a:spcPct val="100000"/>
              </a:lnSpc>
              <a:spcAft>
                <a:spcPts val="600"/>
              </a:spcAft>
            </a:pPr>
            <a:r>
              <a:rPr sz="1900" b="1" i="0">
                <a:solidFill>
                  <a:srgbClr val="FFFFFF"/>
                </a:solidFill>
                <a:latin typeface="Barlow Condensed"/>
              </a:rPr>
              <a:t>4</a:t>
            </a:r>
          </a:p>
        </p:txBody>
      </p:sp>
      <p:sp>
        <p:nvSpPr>
          <p:cNvPr id="19" name="TextBox 18"/>
          <p:cNvSpPr txBox="1"/>
          <p:nvPr/>
        </p:nvSpPr>
        <p:spPr>
          <a:xfrm>
            <a:off x="1298448" y="3410712"/>
            <a:ext cx="9966960" cy="731520"/>
          </a:xfrm>
          <a:prstGeom prst="rect">
            <a:avLst/>
          </a:prstGeom>
          <a:noFill/>
        </p:spPr>
        <p:txBody>
          <a:bodyPr wrap="square" anchor="t" lIns="0" rIns="0" tIns="0" bIns="0">
            <a:spAutoFit/>
          </a:bodyPr>
          <a:lstStyle/>
          <a:p>
            <a:pPr algn="l">
              <a:lnSpc>
                <a:spcPct val="114000"/>
              </a:lnSpc>
              <a:spcAft>
                <a:spcPts val="600"/>
              </a:spcAft>
            </a:pPr>
            <a:r>
              <a:rPr sz="1800" b="0" i="0">
                <a:solidFill>
                  <a:srgbClr val="2B2F36"/>
                </a:solidFill>
                <a:latin typeface="Arial"/>
              </a:rPr>
              <a:t>Compare direction, slope units, and R² with the date model.</a:t>
            </a:r>
          </a:p>
        </p:txBody>
      </p:sp>
      <p:sp>
        <p:nvSpPr>
          <p:cNvPr id="20" name="TextBox 19"/>
          <p:cNvSpPr txBox="1"/>
          <p:nvPr/>
        </p:nvSpPr>
        <p:spPr>
          <a:xfrm>
            <a:off x="685800" y="5897880"/>
            <a:ext cx="10789920" cy="548640"/>
          </a:xfrm>
          <a:prstGeom prst="rect">
            <a:avLst/>
          </a:prstGeom>
          <a:noFill/>
        </p:spPr>
        <p:txBody>
          <a:bodyPr wrap="square" anchor="t" lIns="0" rIns="0" tIns="0" bIns="0">
            <a:spAutoFit/>
          </a:bodyPr>
          <a:lstStyle/>
          <a:p>
            <a:pPr algn="l">
              <a:lnSpc>
                <a:spcPct val="115000"/>
              </a:lnSpc>
              <a:spcAft>
                <a:spcPts val="600"/>
              </a:spcAft>
            </a:pPr>
            <a:r>
              <a:rPr sz="1500" b="0" i="1">
                <a:solidFill>
                  <a:srgbClr val="6B7280"/>
                </a:solidFill>
                <a:latin typeface="Arial"/>
              </a:rPr>
              <a:t>A clean join is part of the evidence, not clerical overhead.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508760"/>
          </a:xfrm>
          <a:prstGeom prst="rect">
            <a:avLst/>
          </a:prstGeom>
          <a:solidFill>
            <a:srgbClr val="F2C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8595360" cy="457200"/>
          </a:xfrm>
          <a:prstGeom prst="rect">
            <a:avLst/>
          </a:prstGeom>
          <a:noFill/>
        </p:spPr>
        <p:txBody>
          <a:bodyPr wrap="square" anchor="t" lIns="0" rIns="0" tIns="0" bIns="0">
            <a:spAutoFit/>
          </a:bodyPr>
          <a:lstStyle/>
          <a:p>
            <a:pPr algn="l">
              <a:lnSpc>
                <a:spcPct val="100000"/>
              </a:lnSpc>
              <a:spcAft>
                <a:spcPts val="600"/>
              </a:spcAft>
            </a:pPr>
            <a:r>
              <a:rPr sz="1500" b="1" i="0">
                <a:solidFill>
                  <a:srgbClr val="2B2F36"/>
                </a:solidFill>
                <a:latin typeface="Barlow Condensed"/>
              </a:rPr>
              <a:t>IN CLASS — DO THIS NOW</a:t>
            </a:r>
          </a:p>
        </p:txBody>
      </p:sp>
      <p:sp>
        <p:nvSpPr>
          <p:cNvPr id="5" name="TextBox 4"/>
          <p:cNvSpPr txBox="1"/>
          <p:nvPr/>
        </p:nvSpPr>
        <p:spPr>
          <a:xfrm>
            <a:off x="658368" y="713232"/>
            <a:ext cx="8595360" cy="640080"/>
          </a:xfrm>
          <a:prstGeom prst="rect">
            <a:avLst/>
          </a:prstGeom>
          <a:noFill/>
        </p:spPr>
        <p:txBody>
          <a:bodyPr wrap="square" anchor="t" lIns="0" rIns="0" tIns="0" bIns="0">
            <a:spAutoFit/>
          </a:bodyPr>
          <a:lstStyle/>
          <a:p>
            <a:pPr algn="l">
              <a:lnSpc>
                <a:spcPct val="100000"/>
              </a:lnSpc>
              <a:spcAft>
                <a:spcPts val="600"/>
              </a:spcAft>
            </a:pPr>
            <a:r>
              <a:rPr sz="3400" b="1" i="0">
                <a:solidFill>
                  <a:srgbClr val="2B2F36"/>
                </a:solidFill>
                <a:latin typeface="Barlow Condensed"/>
              </a:rPr>
              <a:t>Name the mechanism; set the boundary</a:t>
            </a:r>
          </a:p>
        </p:txBody>
      </p:sp>
      <p:sp>
        <p:nvSpPr>
          <p:cNvPr id="6" name="Rounded Rectangle 5"/>
          <p:cNvSpPr/>
          <p:nvPr/>
        </p:nvSpPr>
        <p:spPr>
          <a:xfrm>
            <a:off x="9966960" y="384048"/>
            <a:ext cx="1572768" cy="749808"/>
          </a:xfrm>
          <a:prstGeom prst="roundRect">
            <a:avLst>
              <a:gd name="adj" fmla="val 12000"/>
            </a:avLst>
          </a:prstGeom>
          <a:solidFill>
            <a:srgbClr val="2B2F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966960" y="475488"/>
            <a:ext cx="1572768" cy="566928"/>
          </a:xfrm>
          <a:prstGeom prst="rect">
            <a:avLst/>
          </a:prstGeom>
          <a:noFill/>
        </p:spPr>
        <p:txBody>
          <a:bodyPr wrap="square" anchor="t" lIns="0" rIns="0" tIns="0" bIns="0">
            <a:spAutoFit/>
          </a:bodyPr>
          <a:lstStyle/>
          <a:p>
            <a:pPr algn="ctr">
              <a:lnSpc>
                <a:spcPct val="100000"/>
              </a:lnSpc>
              <a:spcAft>
                <a:spcPts val="600"/>
              </a:spcAft>
            </a:pPr>
            <a:r>
              <a:rPr sz="2600" b="1" i="0">
                <a:solidFill>
                  <a:srgbClr val="F2C230"/>
                </a:solidFill>
                <a:latin typeface="Barlow Condensed"/>
              </a:rPr>
              <a:t>8 min</a:t>
            </a:r>
          </a:p>
        </p:txBody>
      </p:sp>
      <p:sp>
        <p:nvSpPr>
          <p:cNvPr id="8" name="Rounded Rectangle 7"/>
          <p:cNvSpPr/>
          <p:nvPr/>
        </p:nvSpPr>
        <p:spPr>
          <a:xfrm>
            <a:off x="685800" y="1965960"/>
            <a:ext cx="420624" cy="420624"/>
          </a:xfrm>
          <a:prstGeom prst="roundRect">
            <a:avLst>
              <a:gd name="adj" fmla="val 50000"/>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2029967"/>
            <a:ext cx="420624" cy="310896"/>
          </a:xfrm>
          <a:prstGeom prst="rect">
            <a:avLst/>
          </a:prstGeom>
          <a:noFill/>
        </p:spPr>
        <p:txBody>
          <a:bodyPr wrap="square" anchor="t" lIns="0" rIns="0" tIns="0" bIns="0">
            <a:spAutoFit/>
          </a:bodyPr>
          <a:lstStyle/>
          <a:p>
            <a:pPr algn="ctr">
              <a:lnSpc>
                <a:spcPct val="100000"/>
              </a:lnSpc>
              <a:spcAft>
                <a:spcPts val="600"/>
              </a:spcAft>
            </a:pPr>
            <a:r>
              <a:rPr sz="1900" b="1" i="0">
                <a:solidFill>
                  <a:srgbClr val="FFFFFF"/>
                </a:solidFill>
                <a:latin typeface="Barlow Condensed"/>
              </a:rPr>
              <a:t>1</a:t>
            </a:r>
          </a:p>
        </p:txBody>
      </p:sp>
      <p:sp>
        <p:nvSpPr>
          <p:cNvPr id="10" name="TextBox 9"/>
          <p:cNvSpPr txBox="1"/>
          <p:nvPr/>
        </p:nvSpPr>
        <p:spPr>
          <a:xfrm>
            <a:off x="1298448" y="1984248"/>
            <a:ext cx="9966960" cy="731520"/>
          </a:xfrm>
          <a:prstGeom prst="rect">
            <a:avLst/>
          </a:prstGeom>
          <a:noFill/>
        </p:spPr>
        <p:txBody>
          <a:bodyPr wrap="square" anchor="t" lIns="0" rIns="0" tIns="0" bIns="0">
            <a:spAutoFit/>
          </a:bodyPr>
          <a:lstStyle/>
          <a:p>
            <a:pPr algn="l">
              <a:lnSpc>
                <a:spcPct val="114000"/>
              </a:lnSpc>
              <a:spcAft>
                <a:spcPts val="600"/>
              </a:spcAft>
            </a:pPr>
            <a:r>
              <a:rPr sz="1800" b="0" i="0">
                <a:solidFill>
                  <a:srgbClr val="2B2F36"/>
                </a:solidFill>
                <a:latin typeface="Arial"/>
              </a:rPr>
              <a:t>Explain what warming does to steel and a restrained sensor location.</a:t>
            </a:r>
          </a:p>
        </p:txBody>
      </p:sp>
      <p:sp>
        <p:nvSpPr>
          <p:cNvPr id="11" name="Rounded Rectangle 10"/>
          <p:cNvSpPr/>
          <p:nvPr/>
        </p:nvSpPr>
        <p:spPr>
          <a:xfrm>
            <a:off x="685800" y="2441448"/>
            <a:ext cx="420624" cy="420624"/>
          </a:xfrm>
          <a:prstGeom prst="roundRect">
            <a:avLst>
              <a:gd name="adj" fmla="val 50000"/>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2505456"/>
            <a:ext cx="420624" cy="310896"/>
          </a:xfrm>
          <a:prstGeom prst="rect">
            <a:avLst/>
          </a:prstGeom>
          <a:noFill/>
        </p:spPr>
        <p:txBody>
          <a:bodyPr wrap="square" anchor="t" lIns="0" rIns="0" tIns="0" bIns="0">
            <a:spAutoFit/>
          </a:bodyPr>
          <a:lstStyle/>
          <a:p>
            <a:pPr algn="ctr">
              <a:lnSpc>
                <a:spcPct val="100000"/>
              </a:lnSpc>
              <a:spcAft>
                <a:spcPts val="600"/>
              </a:spcAft>
            </a:pPr>
            <a:r>
              <a:rPr sz="1900" b="1" i="0">
                <a:solidFill>
                  <a:srgbClr val="FFFFFF"/>
                </a:solidFill>
                <a:latin typeface="Barlow Condensed"/>
              </a:rPr>
              <a:t>2</a:t>
            </a:r>
          </a:p>
        </p:txBody>
      </p:sp>
      <p:sp>
        <p:nvSpPr>
          <p:cNvPr id="13" name="TextBox 12"/>
          <p:cNvSpPr txBox="1"/>
          <p:nvPr/>
        </p:nvSpPr>
        <p:spPr>
          <a:xfrm>
            <a:off x="1298448" y="2459736"/>
            <a:ext cx="9966960" cy="731520"/>
          </a:xfrm>
          <a:prstGeom prst="rect">
            <a:avLst/>
          </a:prstGeom>
          <a:noFill/>
        </p:spPr>
        <p:txBody>
          <a:bodyPr wrap="square" anchor="t" lIns="0" rIns="0" tIns="0" bIns="0">
            <a:spAutoFit/>
          </a:bodyPr>
          <a:lstStyle/>
          <a:p>
            <a:pPr algn="l">
              <a:lnSpc>
                <a:spcPct val="114000"/>
              </a:lnSpc>
              <a:spcAft>
                <a:spcPts val="600"/>
              </a:spcAft>
            </a:pPr>
            <a:r>
              <a:rPr sz="1800" b="0" i="0">
                <a:solidFill>
                  <a:srgbClr val="2B2F36"/>
                </a:solidFill>
                <a:latin typeface="Arial"/>
              </a:rPr>
              <a:t>Draw date → temperature → measured strain on H8-03.</a:t>
            </a:r>
          </a:p>
        </p:txBody>
      </p:sp>
      <p:sp>
        <p:nvSpPr>
          <p:cNvPr id="14" name="Rounded Rectangle 13"/>
          <p:cNvSpPr/>
          <p:nvPr/>
        </p:nvSpPr>
        <p:spPr>
          <a:xfrm>
            <a:off x="685800" y="2916936"/>
            <a:ext cx="420624" cy="420624"/>
          </a:xfrm>
          <a:prstGeom prst="roundRect">
            <a:avLst>
              <a:gd name="adj" fmla="val 50000"/>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2980944"/>
            <a:ext cx="420624" cy="310896"/>
          </a:xfrm>
          <a:prstGeom prst="rect">
            <a:avLst/>
          </a:prstGeom>
          <a:noFill/>
        </p:spPr>
        <p:txBody>
          <a:bodyPr wrap="square" anchor="t" lIns="0" rIns="0" tIns="0" bIns="0">
            <a:spAutoFit/>
          </a:bodyPr>
          <a:lstStyle/>
          <a:p>
            <a:pPr algn="ctr">
              <a:lnSpc>
                <a:spcPct val="100000"/>
              </a:lnSpc>
              <a:spcAft>
                <a:spcPts val="600"/>
              </a:spcAft>
            </a:pPr>
            <a:r>
              <a:rPr sz="1900" b="1" i="0">
                <a:solidFill>
                  <a:srgbClr val="FFFFFF"/>
                </a:solidFill>
                <a:latin typeface="Barlow Condensed"/>
              </a:rPr>
              <a:t>3</a:t>
            </a:r>
          </a:p>
        </p:txBody>
      </p:sp>
      <p:sp>
        <p:nvSpPr>
          <p:cNvPr id="16" name="TextBox 15"/>
          <p:cNvSpPr txBox="1"/>
          <p:nvPr/>
        </p:nvSpPr>
        <p:spPr>
          <a:xfrm>
            <a:off x="1298448" y="2935224"/>
            <a:ext cx="9966960" cy="731520"/>
          </a:xfrm>
          <a:prstGeom prst="rect">
            <a:avLst/>
          </a:prstGeom>
          <a:noFill/>
        </p:spPr>
        <p:txBody>
          <a:bodyPr wrap="square" anchor="t" lIns="0" rIns="0" tIns="0" bIns="0">
            <a:spAutoFit/>
          </a:bodyPr>
          <a:lstStyle/>
          <a:p>
            <a:pPr algn="l">
              <a:lnSpc>
                <a:spcPct val="114000"/>
              </a:lnSpc>
              <a:spcAft>
                <a:spcPts val="600"/>
              </a:spcAft>
            </a:pPr>
            <a:r>
              <a:rPr sz="1800" b="0" i="0">
                <a:solidFill>
                  <a:srgbClr val="2B2F36"/>
                </a:solidFill>
                <a:latin typeface="Arial"/>
              </a:rPr>
              <a:t>State why the date fit alone cannot distinguish thermal response from damage.</a:t>
            </a:r>
          </a:p>
        </p:txBody>
      </p:sp>
      <p:sp>
        <p:nvSpPr>
          <p:cNvPr id="17" name="Rounded Rectangle 16"/>
          <p:cNvSpPr/>
          <p:nvPr/>
        </p:nvSpPr>
        <p:spPr>
          <a:xfrm>
            <a:off x="685800" y="3392424"/>
            <a:ext cx="420624" cy="420624"/>
          </a:xfrm>
          <a:prstGeom prst="roundRect">
            <a:avLst>
              <a:gd name="adj" fmla="val 50000"/>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3456432"/>
            <a:ext cx="420624" cy="310896"/>
          </a:xfrm>
          <a:prstGeom prst="rect">
            <a:avLst/>
          </a:prstGeom>
          <a:noFill/>
        </p:spPr>
        <p:txBody>
          <a:bodyPr wrap="square" anchor="t" lIns="0" rIns="0" tIns="0" bIns="0">
            <a:spAutoFit/>
          </a:bodyPr>
          <a:lstStyle/>
          <a:p>
            <a:pPr algn="ctr">
              <a:lnSpc>
                <a:spcPct val="100000"/>
              </a:lnSpc>
              <a:spcAft>
                <a:spcPts val="600"/>
              </a:spcAft>
            </a:pPr>
            <a:r>
              <a:rPr sz="1900" b="1" i="0">
                <a:solidFill>
                  <a:srgbClr val="FFFFFF"/>
                </a:solidFill>
                <a:latin typeface="Barlow Condensed"/>
              </a:rPr>
              <a:t>4</a:t>
            </a:r>
          </a:p>
        </p:txBody>
      </p:sp>
      <p:sp>
        <p:nvSpPr>
          <p:cNvPr id="19" name="TextBox 18"/>
          <p:cNvSpPr txBox="1"/>
          <p:nvPr/>
        </p:nvSpPr>
        <p:spPr>
          <a:xfrm>
            <a:off x="1298448" y="3410712"/>
            <a:ext cx="9966960" cy="731520"/>
          </a:xfrm>
          <a:prstGeom prst="rect">
            <a:avLst/>
          </a:prstGeom>
          <a:noFill/>
        </p:spPr>
        <p:txBody>
          <a:bodyPr wrap="square" anchor="t" lIns="0" rIns="0" tIns="0" bIns="0">
            <a:spAutoFit/>
          </a:bodyPr>
          <a:lstStyle/>
          <a:p>
            <a:pPr algn="l">
              <a:lnSpc>
                <a:spcPct val="114000"/>
              </a:lnSpc>
              <a:spcAft>
                <a:spcPts val="600"/>
              </a:spcAft>
            </a:pPr>
            <a:r>
              <a:rPr sz="1800" b="0" i="0">
                <a:solidFill>
                  <a:srgbClr val="2B2F36"/>
                </a:solidFill>
                <a:latin typeface="Arial"/>
              </a:rPr>
              <a:t>List evidence still needed before claiming structural deterioration.</a:t>
            </a:r>
          </a:p>
        </p:txBody>
      </p:sp>
      <p:sp>
        <p:nvSpPr>
          <p:cNvPr id="20" name="TextBox 19"/>
          <p:cNvSpPr txBox="1"/>
          <p:nvPr/>
        </p:nvSpPr>
        <p:spPr>
          <a:xfrm>
            <a:off x="685800" y="5897880"/>
            <a:ext cx="10789920" cy="548640"/>
          </a:xfrm>
          <a:prstGeom prst="rect">
            <a:avLst/>
          </a:prstGeom>
          <a:noFill/>
        </p:spPr>
        <p:txBody>
          <a:bodyPr wrap="square" anchor="t" lIns="0" rIns="0" tIns="0" bIns="0">
            <a:spAutoFit/>
          </a:bodyPr>
          <a:lstStyle/>
          <a:p>
            <a:pPr algn="l">
              <a:lnSpc>
                <a:spcPct val="115000"/>
              </a:lnSpc>
              <a:spcAft>
                <a:spcPts val="600"/>
              </a:spcAft>
            </a:pPr>
            <a:r>
              <a:rPr sz="1500" b="0" i="1">
                <a:solidFill>
                  <a:srgbClr val="6B7280"/>
                </a:solidFill>
                <a:latin typeface="Arial"/>
              </a:rPr>
              <a:t>A second correlation becomes useful when it has a plausible physical mechanism.</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508760"/>
          </a:xfrm>
          <a:prstGeom prst="rect">
            <a:avLst/>
          </a:prstGeom>
          <a:solidFill>
            <a:srgbClr val="F2C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8595360" cy="457200"/>
          </a:xfrm>
          <a:prstGeom prst="rect">
            <a:avLst/>
          </a:prstGeom>
          <a:noFill/>
        </p:spPr>
        <p:txBody>
          <a:bodyPr wrap="square" anchor="t" lIns="0" rIns="0" tIns="0" bIns="0">
            <a:spAutoFit/>
          </a:bodyPr>
          <a:lstStyle/>
          <a:p>
            <a:pPr algn="l">
              <a:lnSpc>
                <a:spcPct val="100000"/>
              </a:lnSpc>
              <a:spcAft>
                <a:spcPts val="600"/>
              </a:spcAft>
            </a:pPr>
            <a:r>
              <a:rPr sz="1500" b="1" i="0">
                <a:solidFill>
                  <a:srgbClr val="2B2F36"/>
                </a:solidFill>
                <a:latin typeface="Barlow Condensed"/>
              </a:rPr>
              <a:t>IN CLASS — DO THIS NOW</a:t>
            </a:r>
          </a:p>
        </p:txBody>
      </p:sp>
      <p:sp>
        <p:nvSpPr>
          <p:cNvPr id="5" name="TextBox 4"/>
          <p:cNvSpPr txBox="1"/>
          <p:nvPr/>
        </p:nvSpPr>
        <p:spPr>
          <a:xfrm>
            <a:off x="658368" y="713232"/>
            <a:ext cx="8595360" cy="640080"/>
          </a:xfrm>
          <a:prstGeom prst="rect">
            <a:avLst/>
          </a:prstGeom>
          <a:noFill/>
        </p:spPr>
        <p:txBody>
          <a:bodyPr wrap="square" anchor="t" lIns="0" rIns="0" tIns="0" bIns="0">
            <a:spAutoFit/>
          </a:bodyPr>
          <a:lstStyle/>
          <a:p>
            <a:pPr algn="l">
              <a:lnSpc>
                <a:spcPct val="100000"/>
              </a:lnSpc>
              <a:spcAft>
                <a:spcPts val="600"/>
              </a:spcAft>
            </a:pPr>
            <a:r>
              <a:rPr sz="3400" b="1" i="0">
                <a:solidFill>
                  <a:srgbClr val="2B2F36"/>
                </a:solidFill>
                <a:latin typeface="Barlow Condensed"/>
              </a:rPr>
              <a:t>Set up the correction</a:t>
            </a:r>
          </a:p>
        </p:txBody>
      </p:sp>
      <p:sp>
        <p:nvSpPr>
          <p:cNvPr id="6" name="Rounded Rectangle 5"/>
          <p:cNvSpPr/>
          <p:nvPr/>
        </p:nvSpPr>
        <p:spPr>
          <a:xfrm>
            <a:off x="9966960" y="384048"/>
            <a:ext cx="1572768" cy="749808"/>
          </a:xfrm>
          <a:prstGeom prst="roundRect">
            <a:avLst>
              <a:gd name="adj" fmla="val 12000"/>
            </a:avLst>
          </a:prstGeom>
          <a:solidFill>
            <a:srgbClr val="2B2F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966960" y="475488"/>
            <a:ext cx="1572768" cy="566928"/>
          </a:xfrm>
          <a:prstGeom prst="rect">
            <a:avLst/>
          </a:prstGeom>
          <a:noFill/>
        </p:spPr>
        <p:txBody>
          <a:bodyPr wrap="square" anchor="t" lIns="0" rIns="0" tIns="0" bIns="0">
            <a:spAutoFit/>
          </a:bodyPr>
          <a:lstStyle/>
          <a:p>
            <a:pPr algn="ctr">
              <a:lnSpc>
                <a:spcPct val="100000"/>
              </a:lnSpc>
              <a:spcAft>
                <a:spcPts val="600"/>
              </a:spcAft>
            </a:pPr>
            <a:r>
              <a:rPr sz="2600" b="1" i="0">
                <a:solidFill>
                  <a:srgbClr val="F2C230"/>
                </a:solidFill>
                <a:latin typeface="Barlow Condensed"/>
              </a:rPr>
              <a:t>4 min</a:t>
            </a:r>
          </a:p>
        </p:txBody>
      </p:sp>
      <p:sp>
        <p:nvSpPr>
          <p:cNvPr id="8" name="Rounded Rectangle 7"/>
          <p:cNvSpPr/>
          <p:nvPr/>
        </p:nvSpPr>
        <p:spPr>
          <a:xfrm>
            <a:off x="685800" y="1965960"/>
            <a:ext cx="420624" cy="420624"/>
          </a:xfrm>
          <a:prstGeom prst="roundRect">
            <a:avLst>
              <a:gd name="adj" fmla="val 50000"/>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2029967"/>
            <a:ext cx="420624" cy="310896"/>
          </a:xfrm>
          <a:prstGeom prst="rect">
            <a:avLst/>
          </a:prstGeom>
          <a:noFill/>
        </p:spPr>
        <p:txBody>
          <a:bodyPr wrap="square" anchor="t" lIns="0" rIns="0" tIns="0" bIns="0">
            <a:spAutoFit/>
          </a:bodyPr>
          <a:lstStyle/>
          <a:p>
            <a:pPr algn="ctr">
              <a:lnSpc>
                <a:spcPct val="100000"/>
              </a:lnSpc>
              <a:spcAft>
                <a:spcPts val="600"/>
              </a:spcAft>
            </a:pPr>
            <a:r>
              <a:rPr sz="1900" b="1" i="0">
                <a:solidFill>
                  <a:srgbClr val="FFFFFF"/>
                </a:solidFill>
                <a:latin typeface="Barlow Condensed"/>
              </a:rPr>
              <a:t>1</a:t>
            </a:r>
          </a:p>
        </p:txBody>
      </p:sp>
      <p:sp>
        <p:nvSpPr>
          <p:cNvPr id="10" name="TextBox 9"/>
          <p:cNvSpPr txBox="1"/>
          <p:nvPr/>
        </p:nvSpPr>
        <p:spPr>
          <a:xfrm>
            <a:off x="1298448" y="1984248"/>
            <a:ext cx="9966960" cy="731520"/>
          </a:xfrm>
          <a:prstGeom prst="rect">
            <a:avLst/>
          </a:prstGeom>
          <a:noFill/>
        </p:spPr>
        <p:txBody>
          <a:bodyPr wrap="square" anchor="t" lIns="0" rIns="0" tIns="0" bIns="0">
            <a:spAutoFit/>
          </a:bodyPr>
          <a:lstStyle/>
          <a:p>
            <a:pPr algn="l">
              <a:lnSpc>
                <a:spcPct val="114000"/>
              </a:lnSpc>
              <a:spcAft>
                <a:spcPts val="600"/>
              </a:spcAft>
            </a:pPr>
            <a:r>
              <a:rPr sz="1800" b="0" i="0">
                <a:solidFill>
                  <a:srgbClr val="2B2F36"/>
                </a:solidFill>
                <a:latin typeface="Arial"/>
              </a:rPr>
              <a:t>Use the temperature model to calculate predicted strain.</a:t>
            </a:r>
          </a:p>
        </p:txBody>
      </p:sp>
      <p:sp>
        <p:nvSpPr>
          <p:cNvPr id="11" name="Rounded Rectangle 10"/>
          <p:cNvSpPr/>
          <p:nvPr/>
        </p:nvSpPr>
        <p:spPr>
          <a:xfrm>
            <a:off x="685800" y="2441448"/>
            <a:ext cx="420624" cy="420624"/>
          </a:xfrm>
          <a:prstGeom prst="roundRect">
            <a:avLst>
              <a:gd name="adj" fmla="val 50000"/>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2505456"/>
            <a:ext cx="420624" cy="310896"/>
          </a:xfrm>
          <a:prstGeom prst="rect">
            <a:avLst/>
          </a:prstGeom>
          <a:noFill/>
        </p:spPr>
        <p:txBody>
          <a:bodyPr wrap="square" anchor="t" lIns="0" rIns="0" tIns="0" bIns="0">
            <a:spAutoFit/>
          </a:bodyPr>
          <a:lstStyle/>
          <a:p>
            <a:pPr algn="ctr">
              <a:lnSpc>
                <a:spcPct val="100000"/>
              </a:lnSpc>
              <a:spcAft>
                <a:spcPts val="600"/>
              </a:spcAft>
            </a:pPr>
            <a:r>
              <a:rPr sz="1900" b="1" i="0">
                <a:solidFill>
                  <a:srgbClr val="FFFFFF"/>
                </a:solidFill>
                <a:latin typeface="Barlow Condensed"/>
              </a:rPr>
              <a:t>2</a:t>
            </a:r>
          </a:p>
        </p:txBody>
      </p:sp>
      <p:sp>
        <p:nvSpPr>
          <p:cNvPr id="13" name="TextBox 12"/>
          <p:cNvSpPr txBox="1"/>
          <p:nvPr/>
        </p:nvSpPr>
        <p:spPr>
          <a:xfrm>
            <a:off x="1298448" y="2459736"/>
            <a:ext cx="9966960" cy="731520"/>
          </a:xfrm>
          <a:prstGeom prst="rect">
            <a:avLst/>
          </a:prstGeom>
          <a:noFill/>
        </p:spPr>
        <p:txBody>
          <a:bodyPr wrap="square" anchor="t" lIns="0" rIns="0" tIns="0" bIns="0">
            <a:spAutoFit/>
          </a:bodyPr>
          <a:lstStyle/>
          <a:p>
            <a:pPr algn="l">
              <a:lnSpc>
                <a:spcPct val="114000"/>
              </a:lnSpc>
              <a:spcAft>
                <a:spcPts val="600"/>
              </a:spcAft>
            </a:pPr>
            <a:r>
              <a:rPr sz="1800" b="0" i="0">
                <a:solidFill>
                  <a:srgbClr val="2B2F36"/>
                </a:solidFill>
                <a:latin typeface="Arial"/>
              </a:rPr>
              <a:t>Residual = observed strain − predicted temperature-linked strain.</a:t>
            </a:r>
          </a:p>
        </p:txBody>
      </p:sp>
      <p:sp>
        <p:nvSpPr>
          <p:cNvPr id="14" name="Rounded Rectangle 13"/>
          <p:cNvSpPr/>
          <p:nvPr/>
        </p:nvSpPr>
        <p:spPr>
          <a:xfrm>
            <a:off x="685800" y="2916936"/>
            <a:ext cx="420624" cy="420624"/>
          </a:xfrm>
          <a:prstGeom prst="roundRect">
            <a:avLst>
              <a:gd name="adj" fmla="val 50000"/>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2980944"/>
            <a:ext cx="420624" cy="310896"/>
          </a:xfrm>
          <a:prstGeom prst="rect">
            <a:avLst/>
          </a:prstGeom>
          <a:noFill/>
        </p:spPr>
        <p:txBody>
          <a:bodyPr wrap="square" anchor="t" lIns="0" rIns="0" tIns="0" bIns="0">
            <a:spAutoFit/>
          </a:bodyPr>
          <a:lstStyle/>
          <a:p>
            <a:pPr algn="ctr">
              <a:lnSpc>
                <a:spcPct val="100000"/>
              </a:lnSpc>
              <a:spcAft>
                <a:spcPts val="600"/>
              </a:spcAft>
            </a:pPr>
            <a:r>
              <a:rPr sz="1900" b="1" i="0">
                <a:solidFill>
                  <a:srgbClr val="FFFFFF"/>
                </a:solidFill>
                <a:latin typeface="Barlow Condensed"/>
              </a:rPr>
              <a:t>3</a:t>
            </a:r>
          </a:p>
        </p:txBody>
      </p:sp>
      <p:sp>
        <p:nvSpPr>
          <p:cNvPr id="16" name="TextBox 15"/>
          <p:cNvSpPr txBox="1"/>
          <p:nvPr/>
        </p:nvSpPr>
        <p:spPr>
          <a:xfrm>
            <a:off x="1298448" y="2935224"/>
            <a:ext cx="9966960" cy="731520"/>
          </a:xfrm>
          <a:prstGeom prst="rect">
            <a:avLst/>
          </a:prstGeom>
          <a:noFill/>
        </p:spPr>
        <p:txBody>
          <a:bodyPr wrap="square" anchor="t" lIns="0" rIns="0" tIns="0" bIns="0">
            <a:spAutoFit/>
          </a:bodyPr>
          <a:lstStyle/>
          <a:p>
            <a:pPr algn="l">
              <a:lnSpc>
                <a:spcPct val="114000"/>
              </a:lnSpc>
              <a:spcAft>
                <a:spcPts val="600"/>
              </a:spcAft>
            </a:pPr>
            <a:r>
              <a:rPr sz="1800" b="0" i="0">
                <a:solidFill>
                  <a:srgbClr val="2B2F36"/>
                </a:solidFill>
                <a:latin typeface="Arial"/>
              </a:rPr>
              <a:t>Plot the residual against date and identify the claim that test can support.</a:t>
            </a:r>
          </a:p>
        </p:txBody>
      </p:sp>
      <p:sp>
        <p:nvSpPr>
          <p:cNvPr id="17" name="TextBox 16"/>
          <p:cNvSpPr txBox="1"/>
          <p:nvPr/>
        </p:nvSpPr>
        <p:spPr>
          <a:xfrm>
            <a:off x="685800" y="5897880"/>
            <a:ext cx="10789920" cy="548640"/>
          </a:xfrm>
          <a:prstGeom prst="rect">
            <a:avLst/>
          </a:prstGeom>
          <a:noFill/>
        </p:spPr>
        <p:txBody>
          <a:bodyPr wrap="square" anchor="t" lIns="0" rIns="0" tIns="0" bIns="0">
            <a:spAutoFit/>
          </a:bodyPr>
          <a:lstStyle/>
          <a:p>
            <a:pPr algn="l">
              <a:lnSpc>
                <a:spcPct val="115000"/>
              </a:lnSpc>
              <a:spcAft>
                <a:spcPts val="600"/>
              </a:spcAft>
            </a:pPr>
            <a:r>
              <a:rPr sz="1500" b="0" i="1">
                <a:solidFill>
                  <a:srgbClr val="6B7280"/>
                </a:solidFill>
                <a:latin typeface="Arial"/>
              </a:rPr>
              <a:t>Complete the full calculation in HW4; do not claim that one correction proves no damage.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57200"/>
            <a:ext cx="10881360" cy="777240"/>
          </a:xfrm>
          <a:prstGeom prst="rect">
            <a:avLst/>
          </a:prstGeom>
          <a:noFill/>
        </p:spPr>
        <p:txBody>
          <a:bodyPr wrap="square" anchor="t" lIns="0" rIns="0" tIns="0" bIns="0">
            <a:spAutoFit/>
          </a:bodyPr>
          <a:lstStyle/>
          <a:p>
            <a:pPr algn="l">
              <a:lnSpc>
                <a:spcPct val="98000"/>
              </a:lnSpc>
              <a:spcAft>
                <a:spcPts val="600"/>
              </a:spcAft>
            </a:pPr>
            <a:r>
              <a:rPr sz="3800" b="1" i="0">
                <a:solidFill>
                  <a:srgbClr val="1F3A5F"/>
                </a:solidFill>
                <a:latin typeface="Barlow Condensed"/>
              </a:rPr>
              <a:t>Write Unit 2 Note v2</a:t>
            </a:r>
          </a:p>
        </p:txBody>
      </p:sp>
      <p:sp>
        <p:nvSpPr>
          <p:cNvPr id="4" name="TextBox 3"/>
          <p:cNvSpPr txBox="1"/>
          <p:nvPr/>
        </p:nvSpPr>
        <p:spPr>
          <a:xfrm>
            <a:off x="658368" y="1207008"/>
            <a:ext cx="10881360" cy="457200"/>
          </a:xfrm>
          <a:prstGeom prst="rect">
            <a:avLst/>
          </a:prstGeom>
          <a:noFill/>
        </p:spPr>
        <p:txBody>
          <a:bodyPr wrap="square" anchor="t" lIns="0" rIns="0" tIns="0" bIns="0">
            <a:spAutoFit/>
          </a:bodyPr>
          <a:lstStyle/>
          <a:p>
            <a:pPr algn="l">
              <a:lnSpc>
                <a:spcPct val="115000"/>
              </a:lnSpc>
              <a:spcAft>
                <a:spcPts val="600"/>
              </a:spcAft>
            </a:pPr>
            <a:r>
              <a:rPr sz="1700" b="0" i="0">
                <a:solidFill>
                  <a:srgbClr val="6B7280"/>
                </a:solidFill>
                <a:latin typeface="Arial"/>
              </a:rPr>
              <a:t>Claim · check · result</a:t>
            </a:r>
          </a:p>
        </p:txBody>
      </p:sp>
      <p:sp>
        <p:nvSpPr>
          <p:cNvPr id="5" name="Rounded Rectangle 4"/>
          <p:cNvSpPr/>
          <p:nvPr/>
        </p:nvSpPr>
        <p:spPr>
          <a:xfrm>
            <a:off x="658368" y="1956816"/>
            <a:ext cx="3429000" cy="3337560"/>
          </a:xfrm>
          <a:prstGeom prst="roundRect">
            <a:avLst>
              <a:gd name="adj" fmla="val 3500"/>
            </a:avLst>
          </a:prstGeom>
          <a:solidFill>
            <a:srgbClr val="FFF1E8"/>
          </a:solidFill>
          <a:ln w="15875">
            <a:solidFill>
              <a:srgbClr val="F26B1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32688" y="2176272"/>
            <a:ext cx="2880360"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F26B1D"/>
                </a:solidFill>
                <a:latin typeface="Barlow Condensed"/>
              </a:rPr>
              <a:t>CLAIM</a:t>
            </a:r>
          </a:p>
        </p:txBody>
      </p:sp>
      <p:sp>
        <p:nvSpPr>
          <p:cNvPr id="7" name="TextBox 6"/>
          <p:cNvSpPr txBox="1"/>
          <p:nvPr/>
        </p:nvSpPr>
        <p:spPr>
          <a:xfrm>
            <a:off x="932688" y="2615184"/>
            <a:ext cx="2880360" cy="2423160"/>
          </a:xfrm>
          <a:prstGeom prst="rect">
            <a:avLst/>
          </a:prstGeom>
          <a:noFill/>
        </p:spPr>
        <p:txBody>
          <a:bodyPr wrap="square" anchor="t" lIns="0" rIns="0" tIns="0" bIns="0">
            <a:spAutoFit/>
          </a:bodyPr>
          <a:lstStyle/>
          <a:p>
            <a:pPr algn="l">
              <a:lnSpc>
                <a:spcPct val="118000"/>
              </a:lnSpc>
              <a:spcAft>
                <a:spcPts val="700"/>
              </a:spcAft>
            </a:pPr>
            <a:r>
              <a:rPr sz="1700" b="0" i="0">
                <a:solidFill>
                  <a:srgbClr val="2B2F36"/>
                </a:solidFill>
                <a:latin typeface="Arial"/>
              </a:rPr>
              <a:t>State FOREMAN's exact deterioration inference.</a:t>
            </a:r>
          </a:p>
        </p:txBody>
      </p:sp>
      <p:sp>
        <p:nvSpPr>
          <p:cNvPr id="8" name="Rounded Rectangle 7"/>
          <p:cNvSpPr/>
          <p:nvPr/>
        </p:nvSpPr>
        <p:spPr>
          <a:xfrm>
            <a:off x="4379976" y="1956816"/>
            <a:ext cx="3429000" cy="3337560"/>
          </a:xfrm>
          <a:prstGeom prst="roundRect">
            <a:avLst>
              <a:gd name="adj" fmla="val 3500"/>
            </a:avLst>
          </a:prstGeom>
          <a:solidFill>
            <a:srgbClr val="F4F6F8"/>
          </a:solidFill>
          <a:ln w="15875">
            <a:solidFill>
              <a:srgbClr val="E6E8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54296" y="2176272"/>
            <a:ext cx="2880360"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1F3A5F"/>
                </a:solidFill>
                <a:latin typeface="Barlow Condensed"/>
              </a:rPr>
              <a:t>CHECK</a:t>
            </a:r>
          </a:p>
        </p:txBody>
      </p:sp>
      <p:sp>
        <p:nvSpPr>
          <p:cNvPr id="10" name="TextBox 9"/>
          <p:cNvSpPr txBox="1"/>
          <p:nvPr/>
        </p:nvSpPr>
        <p:spPr>
          <a:xfrm>
            <a:off x="4654296" y="2615184"/>
            <a:ext cx="2880360" cy="2423160"/>
          </a:xfrm>
          <a:prstGeom prst="rect">
            <a:avLst/>
          </a:prstGeom>
          <a:noFill/>
        </p:spPr>
        <p:txBody>
          <a:bodyPr wrap="square" anchor="t" lIns="0" rIns="0" tIns="0" bIns="0">
            <a:spAutoFit/>
          </a:bodyPr>
          <a:lstStyle/>
          <a:p>
            <a:pPr algn="l">
              <a:lnSpc>
                <a:spcPct val="118000"/>
              </a:lnSpc>
              <a:spcAft>
                <a:spcPts val="700"/>
              </a:spcAft>
            </a:pPr>
            <a:r>
              <a:rPr sz="1700" b="0" i="0">
                <a:solidFill>
                  <a:srgbClr val="2B2F36"/>
                </a:solidFill>
                <a:latin typeface="Arial"/>
              </a:rPr>
              <a:t>Name the weather join, model comparison, and mechanism.</a:t>
            </a:r>
          </a:p>
        </p:txBody>
      </p:sp>
      <p:sp>
        <p:nvSpPr>
          <p:cNvPr id="11" name="Rounded Rectangle 10"/>
          <p:cNvSpPr/>
          <p:nvPr/>
        </p:nvSpPr>
        <p:spPr>
          <a:xfrm>
            <a:off x="8101583" y="1956816"/>
            <a:ext cx="3429000" cy="3337560"/>
          </a:xfrm>
          <a:prstGeom prst="roundRect">
            <a:avLst>
              <a:gd name="adj" fmla="val 3500"/>
            </a:avLst>
          </a:prstGeom>
          <a:solidFill>
            <a:srgbClr val="FFF6E5"/>
          </a:solidFill>
          <a:ln w="15875">
            <a:solidFill>
              <a:srgbClr val="F2C2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75904" y="2176272"/>
            <a:ext cx="2880360"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2B2F36"/>
                </a:solidFill>
                <a:latin typeface="Barlow Condensed"/>
              </a:rPr>
              <a:t>RESULT</a:t>
            </a:r>
          </a:p>
        </p:txBody>
      </p:sp>
      <p:sp>
        <p:nvSpPr>
          <p:cNvPr id="13" name="TextBox 12"/>
          <p:cNvSpPr txBox="1"/>
          <p:nvPr/>
        </p:nvSpPr>
        <p:spPr>
          <a:xfrm>
            <a:off x="8375904" y="2615184"/>
            <a:ext cx="2880360" cy="2423160"/>
          </a:xfrm>
          <a:prstGeom prst="rect">
            <a:avLst/>
          </a:prstGeom>
          <a:noFill/>
        </p:spPr>
        <p:txBody>
          <a:bodyPr wrap="square" anchor="t" lIns="0" rIns="0" tIns="0" bIns="0">
            <a:spAutoFit/>
          </a:bodyPr>
          <a:lstStyle/>
          <a:p>
            <a:pPr algn="l">
              <a:lnSpc>
                <a:spcPct val="118000"/>
              </a:lnSpc>
              <a:spcAft>
                <a:spcPts val="700"/>
              </a:spcAft>
            </a:pPr>
            <a:r>
              <a:rPr sz="1700" b="0" i="0">
                <a:solidFill>
                  <a:srgbClr val="2B2F36"/>
                </a:solidFill>
                <a:latin typeface="Arial"/>
              </a:rPr>
              <a:t>Bound what the uncorrected trend can support.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85800"/>
            <a:ext cx="10424160" cy="731520"/>
          </a:xfrm>
          <a:prstGeom prst="rect">
            <a:avLst/>
          </a:prstGeom>
          <a:noFill/>
        </p:spPr>
        <p:txBody>
          <a:bodyPr wrap="square" anchor="t" lIns="0" rIns="0" tIns="0" bIns="0">
            <a:spAutoFit/>
          </a:bodyPr>
          <a:lstStyle/>
          <a:p>
            <a:pPr algn="l">
              <a:lnSpc>
                <a:spcPct val="100000"/>
              </a:lnSpc>
              <a:spcAft>
                <a:spcPts val="600"/>
              </a:spcAft>
            </a:pPr>
            <a:r>
              <a:rPr sz="3800" b="1" i="0">
                <a:solidFill>
                  <a:srgbClr val="FFFFFF"/>
                </a:solidFill>
                <a:latin typeface="Barlow Condensed"/>
              </a:rPr>
              <a:t>Before the gated reveal</a:t>
            </a:r>
          </a:p>
        </p:txBody>
      </p:sp>
      <p:sp>
        <p:nvSpPr>
          <p:cNvPr id="4" name="TextBox 3"/>
          <p:cNvSpPr txBox="1"/>
          <p:nvPr/>
        </p:nvSpPr>
        <p:spPr>
          <a:xfrm>
            <a:off x="868680" y="1737360"/>
            <a:ext cx="2743200" cy="457200"/>
          </a:xfrm>
          <a:prstGeom prst="rect">
            <a:avLst/>
          </a:prstGeom>
          <a:noFill/>
        </p:spPr>
        <p:txBody>
          <a:bodyPr wrap="square" anchor="t" lIns="0" rIns="0" tIns="0" bIns="0">
            <a:spAutoFit/>
          </a:bodyPr>
          <a:lstStyle/>
          <a:p>
            <a:pPr algn="l">
              <a:lnSpc>
                <a:spcPct val="100000"/>
              </a:lnSpc>
              <a:spcAft>
                <a:spcPts val="600"/>
              </a:spcAft>
            </a:pPr>
            <a:r>
              <a:rPr sz="1900" b="1" i="0">
                <a:solidFill>
                  <a:srgbClr val="F26B1D"/>
                </a:solidFill>
                <a:latin typeface="Barlow Condensed"/>
              </a:rPr>
              <a:t>HAND IN</a:t>
            </a:r>
          </a:p>
        </p:txBody>
      </p:sp>
      <p:sp>
        <p:nvSpPr>
          <p:cNvPr id="5" name="TextBox 4"/>
          <p:cNvSpPr txBox="1"/>
          <p:nvPr/>
        </p:nvSpPr>
        <p:spPr>
          <a:xfrm>
            <a:off x="3749039" y="1700784"/>
            <a:ext cx="7589520" cy="822960"/>
          </a:xfrm>
          <a:prstGeom prst="rect">
            <a:avLst/>
          </a:prstGeom>
          <a:noFill/>
        </p:spPr>
        <p:txBody>
          <a:bodyPr wrap="square" anchor="t" lIns="0" rIns="0" tIns="0" bIns="0">
            <a:spAutoFit/>
          </a:bodyPr>
          <a:lstStyle/>
          <a:p>
            <a:pPr algn="l">
              <a:lnSpc>
                <a:spcPct val="115000"/>
              </a:lnSpc>
              <a:spcAft>
                <a:spcPts val="600"/>
              </a:spcAft>
            </a:pPr>
            <a:r>
              <a:rPr sz="1800" b="0" i="0">
                <a:solidFill>
                  <a:srgbClr val="FFFFFF"/>
                </a:solidFill>
                <a:latin typeface="Arial"/>
              </a:rPr>
              <a:t>H8-02 regression hunt and H8-05 Note version 2.</a:t>
            </a:r>
          </a:p>
        </p:txBody>
      </p:sp>
      <p:sp>
        <p:nvSpPr>
          <p:cNvPr id="6" name="TextBox 5"/>
          <p:cNvSpPr txBox="1"/>
          <p:nvPr/>
        </p:nvSpPr>
        <p:spPr>
          <a:xfrm>
            <a:off x="868680" y="2606039"/>
            <a:ext cx="2743200" cy="457200"/>
          </a:xfrm>
          <a:prstGeom prst="rect">
            <a:avLst/>
          </a:prstGeom>
          <a:noFill/>
        </p:spPr>
        <p:txBody>
          <a:bodyPr wrap="square" anchor="t" lIns="0" rIns="0" tIns="0" bIns="0">
            <a:spAutoFit/>
          </a:bodyPr>
          <a:lstStyle/>
          <a:p>
            <a:pPr algn="l">
              <a:lnSpc>
                <a:spcPct val="100000"/>
              </a:lnSpc>
              <a:spcAft>
                <a:spcPts val="600"/>
              </a:spcAft>
            </a:pPr>
            <a:r>
              <a:rPr sz="1900" b="1" i="0">
                <a:solidFill>
                  <a:srgbClr val="F26B1D"/>
                </a:solidFill>
                <a:latin typeface="Barlow Condensed"/>
              </a:rPr>
              <a:t>ASSIGNED</a:t>
            </a:r>
          </a:p>
        </p:txBody>
      </p:sp>
      <p:sp>
        <p:nvSpPr>
          <p:cNvPr id="7" name="TextBox 6"/>
          <p:cNvSpPr txBox="1"/>
          <p:nvPr/>
        </p:nvSpPr>
        <p:spPr>
          <a:xfrm>
            <a:off x="3749039" y="2569463"/>
            <a:ext cx="7589520" cy="822960"/>
          </a:xfrm>
          <a:prstGeom prst="rect">
            <a:avLst/>
          </a:prstGeom>
          <a:noFill/>
        </p:spPr>
        <p:txBody>
          <a:bodyPr wrap="square" anchor="t" lIns="0" rIns="0" tIns="0" bIns="0">
            <a:spAutoFit/>
          </a:bodyPr>
          <a:lstStyle/>
          <a:p>
            <a:pPr algn="l">
              <a:lnSpc>
                <a:spcPct val="115000"/>
              </a:lnSpc>
              <a:spcAft>
                <a:spcPts val="600"/>
              </a:spcAft>
            </a:pPr>
            <a:r>
              <a:rPr sz="1800" b="0" i="0">
                <a:solidFill>
                  <a:srgbClr val="FFFFFF"/>
                </a:solidFill>
                <a:latin typeface="Arial"/>
              </a:rPr>
              <a:t>HW4: temperature-corrected strain trend.</a:t>
            </a:r>
          </a:p>
        </p:txBody>
      </p:sp>
      <p:sp>
        <p:nvSpPr>
          <p:cNvPr id="8" name="TextBox 7"/>
          <p:cNvSpPr txBox="1"/>
          <p:nvPr/>
        </p:nvSpPr>
        <p:spPr>
          <a:xfrm>
            <a:off x="868680" y="3474720"/>
            <a:ext cx="2743200" cy="457200"/>
          </a:xfrm>
          <a:prstGeom prst="rect">
            <a:avLst/>
          </a:prstGeom>
          <a:noFill/>
        </p:spPr>
        <p:txBody>
          <a:bodyPr wrap="square" anchor="t" lIns="0" rIns="0" tIns="0" bIns="0">
            <a:spAutoFit/>
          </a:bodyPr>
          <a:lstStyle/>
          <a:p>
            <a:pPr algn="l">
              <a:lnSpc>
                <a:spcPct val="100000"/>
              </a:lnSpc>
              <a:spcAft>
                <a:spcPts val="600"/>
              </a:spcAft>
            </a:pPr>
            <a:r>
              <a:rPr sz="1900" b="1" i="0">
                <a:solidFill>
                  <a:srgbClr val="F26B1D"/>
                </a:solidFill>
                <a:latin typeface="Barlow Condensed"/>
              </a:rPr>
              <a:t>RECORD</a:t>
            </a:r>
          </a:p>
        </p:txBody>
      </p:sp>
      <p:sp>
        <p:nvSpPr>
          <p:cNvPr id="9" name="TextBox 8"/>
          <p:cNvSpPr txBox="1"/>
          <p:nvPr/>
        </p:nvSpPr>
        <p:spPr>
          <a:xfrm>
            <a:off x="3749039" y="3438144"/>
            <a:ext cx="7589520" cy="822960"/>
          </a:xfrm>
          <a:prstGeom prst="rect">
            <a:avLst/>
          </a:prstGeom>
          <a:noFill/>
        </p:spPr>
        <p:txBody>
          <a:bodyPr wrap="square" anchor="t" lIns="0" rIns="0" tIns="0" bIns="0">
            <a:spAutoFit/>
          </a:bodyPr>
          <a:lstStyle/>
          <a:p>
            <a:pPr algn="l">
              <a:lnSpc>
                <a:spcPct val="115000"/>
              </a:lnSpc>
              <a:spcAft>
                <a:spcPts val="600"/>
              </a:spcAft>
            </a:pPr>
            <a:r>
              <a:rPr sz="1800" b="0" i="0">
                <a:solidFill>
                  <a:srgbClr val="FFFFFF"/>
                </a:solidFill>
                <a:latin typeface="Arial"/>
              </a:rPr>
              <a:t>Project-hour choice and anything accepted unverified.</a:t>
            </a:r>
          </a:p>
        </p:txBody>
      </p:sp>
      <p:sp>
        <p:nvSpPr>
          <p:cNvPr id="10" name="TextBox 9"/>
          <p:cNvSpPr txBox="1"/>
          <p:nvPr/>
        </p:nvSpPr>
        <p:spPr>
          <a:xfrm>
            <a:off x="868680" y="4343400"/>
            <a:ext cx="2743200" cy="457200"/>
          </a:xfrm>
          <a:prstGeom prst="rect">
            <a:avLst/>
          </a:prstGeom>
          <a:noFill/>
        </p:spPr>
        <p:txBody>
          <a:bodyPr wrap="square" anchor="t" lIns="0" rIns="0" tIns="0" bIns="0">
            <a:spAutoFit/>
          </a:bodyPr>
          <a:lstStyle/>
          <a:p>
            <a:pPr algn="l">
              <a:lnSpc>
                <a:spcPct val="100000"/>
              </a:lnSpc>
              <a:spcAft>
                <a:spcPts val="600"/>
              </a:spcAft>
            </a:pPr>
            <a:r>
              <a:rPr sz="1900" b="1" i="0">
                <a:solidFill>
                  <a:srgbClr val="F26B1D"/>
                </a:solidFill>
                <a:latin typeface="Barlow Condensed"/>
              </a:rPr>
              <a:t>BOUNDARY</a:t>
            </a:r>
          </a:p>
        </p:txBody>
      </p:sp>
      <p:sp>
        <p:nvSpPr>
          <p:cNvPr id="11" name="TextBox 10"/>
          <p:cNvSpPr txBox="1"/>
          <p:nvPr/>
        </p:nvSpPr>
        <p:spPr>
          <a:xfrm>
            <a:off x="3749039" y="4306824"/>
            <a:ext cx="7589520" cy="822960"/>
          </a:xfrm>
          <a:prstGeom prst="rect">
            <a:avLst/>
          </a:prstGeom>
          <a:noFill/>
        </p:spPr>
        <p:txBody>
          <a:bodyPr wrap="square" anchor="t" lIns="0" rIns="0" tIns="0" bIns="0">
            <a:spAutoFit/>
          </a:bodyPr>
          <a:lstStyle/>
          <a:p>
            <a:pPr algn="l">
              <a:lnSpc>
                <a:spcPct val="115000"/>
              </a:lnSpc>
              <a:spcAft>
                <a:spcPts val="600"/>
              </a:spcAft>
            </a:pPr>
            <a:r>
              <a:rPr sz="1800" b="0" i="0">
                <a:solidFill>
                  <a:srgbClr val="FFFFFF"/>
                </a:solidFill>
                <a:latin typeface="Arial"/>
              </a:rPr>
              <a:t>This meeting tests the trend claim; it does not settle bridge condition.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2027-02-25T12:00:00Z</dcterms:created>
  <dcterms:modified xsi:type="dcterms:W3CDTF">2027-02-25T12:00:00Z</dcterms:modified>
  <cp:category/>
</cp:coreProperties>
</file>