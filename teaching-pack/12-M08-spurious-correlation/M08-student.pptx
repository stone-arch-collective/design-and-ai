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STORY/SAY STATUS: PENDING CLOUD PASS — DO NOT TREAT THIS HOOK AS CANON SAY.</a:t>
            </a:r>
          </a:p>
          <a:p/>
          <a:p>
            <a:r>
              <a:t>PASTE APPROVED SAY HERE, preserving the instructional action below.</a:t>
            </a:r>
          </a:p>
          <a:p/>
          <a:p>
            <a:r>
              <a:t>TITLE HOOK — Introduce M08 and Unit 2's next designed error. Preserve the distinction between a strong relationship and damage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STORY/SAY STATUS: PENDING CLOUD PASS — DO NOT TREAT THIS HOOK AS CANON SAY.</a:t>
            </a:r>
          </a:p>
          <a:p/>
          <a:p>
            <a:r>
              <a:t>PASTE APPROVED SAY HERE, preserving the instructional action below.</a:t>
            </a:r>
          </a:p>
          <a:p/>
          <a:p>
            <a:r>
              <a:t>INBOX HOOK — Deliver the approved FOREMAN/Diane/Wes story beat here. Preserve: date-model R², deterioration overclaim, Diane in believer mode. Do not add later bearing-wear or exam details.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STORY/SAY STATUS: PENDING CLOUD PASS — DO NOT TREAT THIS HOOK AS CANON SAY.</a:t>
            </a:r>
          </a:p>
          <a:p/>
          <a:p>
            <a:r>
              <a:t>PASTE APPROVED SAY HERE, preserving the instructional action below.</a:t>
            </a:r>
          </a:p>
          <a:p/>
          <a:p>
            <a:r>
              <a:t>HUNT HOOK — Frame the four student actions without disclosing temperature as the answer before the hunt begins.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STORY/SAY STATUS: PENDING CLOUD PASS — DO NOT TREAT THIS HOOK AS CANON SAY.</a:t>
            </a:r>
          </a:p>
          <a:p/>
          <a:p>
            <a:r>
              <a:t>PASTE APPROVED SAY HERE, preserving the instructional action below.</a:t>
            </a:r>
          </a:p>
          <a:p/>
          <a:p>
            <a:r>
              <a:t>TEACH TRANSITION HOOK — Move from story evidence into scatter plots.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STORY/SAY STATUS: PENDING CLOUD PASS — DO NOT TREAT THIS HOOK AS CANON SAY.</a:t>
            </a:r>
          </a:p>
          <a:p/>
          <a:p>
            <a:r>
              <a:t>PASTE APPROVED SAY HERE, preserving the instructional action below.</a:t>
            </a:r>
          </a:p>
          <a:p/>
          <a:p>
            <a:r>
              <a:t>TEACH HOOK — Ask students what they inspect before calculating a coefficient.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STORY/SAY STATUS: PENDING CLOUD PASS — DO NOT TREAT THIS HOOK AS CANON SAY.</a:t>
            </a:r>
          </a:p>
          <a:p/>
          <a:p>
            <a:r>
              <a:t>PASTE APPROVED SAY HERE, preserving the instructional action below.</a:t>
            </a:r>
          </a:p>
          <a:p/>
          <a:p>
            <a:r>
              <a:t>TEACH HOOK — Define correlation coefficient and explicitly separate association from mechanism.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STORY/SAY STATUS: PENDING CLOUD PASS — DO NOT TREAT THIS HOOK AS CANON SAY.</a:t>
            </a:r>
          </a:p>
          <a:p/>
          <a:p>
            <a:r>
              <a:t>PASTE APPROVED SAY HERE, preserving the instructional action below.</a:t>
            </a:r>
          </a:p>
          <a:p/>
          <a:p>
            <a:r>
              <a:t>TEACH HOOK — Connect slope units to an engineering interpretation.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STORY/SAY STATUS: PENDING CLOUD PASS — DO NOT TREAT THIS HOOK AS CANON SAY.</a:t>
            </a:r>
          </a:p>
          <a:p/>
          <a:p>
            <a:r>
              <a:t>PASTE APPROVED SAY HERE, preserving the instructional action below.</a:t>
            </a:r>
          </a:p>
          <a:p/>
          <a:p>
            <a:r>
              <a:t>TEACH HOOK — State that R² is fit in a sample, not a causation 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STORY/SAY STATUS: PENDING CLOUD PASS — DO NOT TREAT THIS HOOK AS CANON SAY.</a:t>
            </a:r>
          </a:p>
          <a:p/>
          <a:p>
            <a:r>
              <a:t>PASTE APPROVED SAY HERE, preserving the instructional action below.</a:t>
            </a:r>
          </a:p>
          <a:p/>
          <a:p>
            <a:r>
              <a:t>TEACH HOOK — Invite an example of a fitted line that could still tell the wrong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STORY/SAY STATUS: PENDING CLOUD PASS — DO NOT TREAT THIS HOOK AS CANON SAY.</a:t>
            </a:r>
          </a:p>
          <a:p/>
          <a:p>
            <a:r>
              <a:t>PASTE APPROVED SAY HERE, preserving the instructional action below.</a:t>
            </a:r>
          </a:p>
          <a:p/>
          <a:p>
            <a:r>
              <a:t>TEACH HOOK — Define spurious correlation as a misleading inference, not fabricated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STORY/SAY STATUS: PENDING CLOUD PASS — DO NOT TREAT THIS HOOK AS CANON SAY.</a:t>
            </a:r>
          </a:p>
          <a:p/>
          <a:p>
            <a:r>
              <a:t>PASTE APPROVED SAY HERE, preserving the instructional action below.</a:t>
            </a:r>
          </a:p>
          <a:p/>
          <a:p>
            <a:r>
              <a:t>LAB TRANSITION HOOK — Open the investigation without naming the temperature mechanism.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STORY/SAY STATUS: PENDING CLOUD PASS — DO NOT TREAT THIS HOOK AS CANON SAY.</a:t>
            </a:r>
          </a:p>
          <a:p/>
          <a:p>
            <a:r>
              <a:t>PASTE APPROVED SAY HERE, preserving the instructional action below.</a:t>
            </a:r>
          </a:p>
          <a:p/>
          <a:p>
            <a:r>
              <a:t>LAB A HOOK — Students reproduce FOREMAN's date model and write a noncausal description.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STORY/SAY STATUS: PENDING CLOUD PASS — DO NOT TREAT THIS HOOK AS CANON SAY.</a:t>
            </a:r>
          </a:p>
          <a:p/>
          <a:p>
            <a:r>
              <a:t>PASTE APPROVED SAY HERE, preserving the instructional action below.</a:t>
            </a:r>
          </a:p>
          <a:p/>
          <a:p>
            <a:r>
              <a:t>LAB B HOOK — Release weather_station.csv. Require timestamp and unit checks before modeling.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STORY/SAY STATUS: PENDING CLOUD PASS — DO NOT TREAT THIS HOOK AS CANON SAY.</a:t>
            </a:r>
          </a:p>
          <a:p/>
          <a:p>
            <a:r>
              <a:t>PASTE APPROVED SAY HERE, preserving the instructional action below.</a:t>
            </a:r>
          </a:p>
          <a:p/>
          <a:p>
            <a:r>
              <a:t>LAB C HOOK — After students see the temperature relationship, elicit the thermal expansion mechanism.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STORY/SAY STATUS: PENDING CLOUD PASS — DO NOT TREAT THIS HOOK AS CANON SAY.</a:t>
            </a:r>
          </a:p>
          <a:p/>
          <a:p>
            <a:r>
              <a:t>PASTE APPROVED SAY HERE, preserving the instructional action below.</a:t>
            </a:r>
          </a:p>
          <a:p/>
          <a:p>
            <a:r>
              <a:t>LAB D HOOK — Set up residual correction as HW4's method; preserve the distinction between 'not evidence of damage' and 'proof of no damage.'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STORY/SAY STATUS: PENDING CLOUD PASS — DO NOT TREAT THIS HOOK AS CANON SAY.</a:t>
            </a:r>
          </a:p>
          <a:p/>
          <a:p>
            <a:r>
              <a:t>PASTE APPROVED SAY HERE, preserving the instructional action below.</a:t>
            </a:r>
          </a:p>
          <a:p/>
          <a:p>
            <a:r>
              <a:t>NOTE HOOK — Students commit claim/check/result before the reveal.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STORY/SAY STATUS: PENDING CLOUD PASS — DO NOT TREAT THIS HOOK AS CANON SAY.</a:t>
            </a:r>
          </a:p>
          <a:p/>
          <a:p>
            <a:r>
              <a:t>PASTE APPROVED SAY HERE, preserving the instructional action below.</a:t>
            </a:r>
          </a:p>
          <a:p/>
          <a:p>
            <a:r>
              <a:t>CLOSE HOOK — Assign HW4 here. Insert approved story close when available; do not preview later Unit 2 revelations.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cmejob-mark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96012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2606040"/>
            <a:ext cx="7863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F26B1D"/>
                </a:solidFill>
                <a:latin typeface="Barlow Condensed"/>
              </a:rPr>
              <a:t>MEETING 08  ·  UNIT 2: DOUBT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9718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600"/>
              </a:spcAft>
            </a:pPr>
            <a:r>
              <a:rPr sz="5800" b="1" i="0">
                <a:solidFill>
                  <a:srgbClr val="FFFFFF"/>
                </a:solidFill>
                <a:latin typeface="Barlow Condensed"/>
              </a:rPr>
              <a:t>A strong fit can still mislead.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572000"/>
            <a:ext cx="9326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0" i="0">
                <a:solidFill>
                  <a:srgbClr val="6F8FAF"/>
                </a:solidFill>
                <a:latin typeface="Arial"/>
              </a:rPr>
              <a:t>Correlation, regression, mechanism, and a temperature confound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943600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6B7280"/>
                </a:solidFill>
                <a:latin typeface="Barlow Condensed"/>
              </a:rPr>
              <a:t>Thursday, February 25, 2027  ·  SEIS 201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The interim 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FOREMAN modeled G4 strain against date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11095"/>
            <a:ext cx="10853928" cy="1691640"/>
          </a:xfrm>
          <a:prstGeom prst="roundRect">
            <a:avLst>
              <a:gd name="adj" fmla="val 3500"/>
            </a:avLst>
          </a:prstGeom>
          <a:solidFill>
            <a:srgbClr val="FFF1E8"/>
          </a:solidFill>
          <a:ln w="15875">
            <a:solidFill>
              <a:srgbClr val="F26B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130552"/>
            <a:ext cx="103052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26B1D"/>
                </a:solidFill>
                <a:latin typeface="Barlow Condensed"/>
              </a:rPr>
              <a:t>FOREMAN · FINAL OUTPUT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569463"/>
            <a:ext cx="1030528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Midspan strain rises with date. R² = 0.87.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Conclusion entered in the draft: progressive structural deterioration.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877056"/>
            <a:ext cx="10853928" cy="1325880"/>
          </a:xfrm>
          <a:prstGeom prst="roundRect">
            <a:avLst>
              <a:gd name="adj" fmla="val 3500"/>
            </a:avLst>
          </a:prstGeom>
          <a:solidFill>
            <a:srgbClr val="FFF6E5"/>
          </a:solidFill>
          <a:ln w="15875">
            <a:solidFill>
              <a:srgbClr val="F2C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4096512"/>
            <a:ext cx="103052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6B7280"/>
                </a:solidFill>
                <a:latin typeface="Barlow Condensed"/>
              </a:rPr>
              <a:t>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535424"/>
            <a:ext cx="10305288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Does this relationship support a damage claim—or is date standing in for something else?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The hunt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Reproduce · compare · explain · correct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56816"/>
            <a:ext cx="2514600" cy="338328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176272"/>
            <a:ext cx="1965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1  REPRODUCE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615184"/>
            <a:ext cx="196596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Plot strain against date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Fit the reported 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64992" y="1956816"/>
            <a:ext cx="2514600" cy="3383280"/>
          </a:xfrm>
          <a:prstGeom prst="roundRect">
            <a:avLst>
              <a:gd name="adj" fmla="val 3500"/>
            </a:avLst>
          </a:prstGeom>
          <a:solidFill>
            <a:srgbClr val="FFF6E5"/>
          </a:solidFill>
          <a:ln w="15875">
            <a:solidFill>
              <a:srgbClr val="F2C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9312" y="2176272"/>
            <a:ext cx="1965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2B2F36"/>
                </a:solidFill>
                <a:latin typeface="Barlow Condensed"/>
              </a:rPr>
              <a:t>2  COMPARE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9312" y="2615184"/>
            <a:ext cx="196596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Join weather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Plot strain against temperature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71616" y="1956816"/>
            <a:ext cx="2514600" cy="338328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45936" y="2176272"/>
            <a:ext cx="1965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3  EXPLAIN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5936" y="2615184"/>
            <a:ext cx="196596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Name a physical mechanism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Set the causal boundary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78240" y="1956816"/>
            <a:ext cx="2734056" cy="3383280"/>
          </a:xfrm>
          <a:prstGeom prst="roundRect">
            <a:avLst>
              <a:gd name="adj" fmla="val 3500"/>
            </a:avLst>
          </a:prstGeom>
          <a:solidFill>
            <a:srgbClr val="FFF1E8"/>
          </a:solidFill>
          <a:ln w="15875">
            <a:solidFill>
              <a:srgbClr val="F26B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2176272"/>
            <a:ext cx="218541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26B1D"/>
                </a:solidFill>
                <a:latin typeface="Barlow Condensed"/>
              </a:rPr>
              <a:t>4  CORRECT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2615184"/>
            <a:ext cx="2185416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Remove temperature-linked strain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Retest the date trend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9000" b="1" i="0">
                <a:solidFill>
                  <a:srgbClr val="F26B1D"/>
                </a:solidFill>
                <a:latin typeface="Barlow Condensed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Barlow Condensed"/>
              </a:rPr>
              <a:t>See the relationship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900" b="0" i="0">
                <a:solidFill>
                  <a:srgbClr val="6F8FAF"/>
                </a:solidFill>
                <a:latin typeface="Arial"/>
              </a:rPr>
              <a:t>A scatter plot comes before a coefficient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A scatter plot shows paired observations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1485900"/>
            <a:ext cx="77724" cy="77724"/>
          </a:xfrm>
          <a:prstGeom prst="ellipse">
            <a:avLst/>
          </a:prstGeom>
          <a:solidFill>
            <a:srgbClr val="3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" y="1389888"/>
            <a:ext cx="101406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Direction 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positive, negative, or no clear linear pattern.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1925320"/>
            <a:ext cx="77724" cy="77724"/>
          </a:xfrm>
          <a:prstGeom prst="ellipse">
            <a:avLst/>
          </a:prstGeom>
          <a:solidFill>
            <a:srgbClr val="3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829308"/>
            <a:ext cx="101406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Form 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linear, curved, clustered, or changing spread.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364740"/>
            <a:ext cx="77724" cy="77724"/>
          </a:xfrm>
          <a:prstGeom prst="ellipse">
            <a:avLst/>
          </a:prstGeom>
          <a:solidFill>
            <a:srgbClr val="3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268728"/>
            <a:ext cx="101406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Strength 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how tightly points follow the pattern.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804160"/>
            <a:ext cx="77724" cy="77724"/>
          </a:xfrm>
          <a:prstGeom prst="ellipse">
            <a:avLst/>
          </a:prstGeom>
          <a:solidFill>
            <a:srgbClr val="3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2708148"/>
            <a:ext cx="101406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Exceptions 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outliers, gaps, or groups that need explanation.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956048"/>
            <a:ext cx="10853928" cy="1188720"/>
          </a:xfrm>
          <a:prstGeom prst="roundRect">
            <a:avLst>
              <a:gd name="adj" fmla="val 3500"/>
            </a:avLst>
          </a:prstGeom>
          <a:solidFill>
            <a:srgbClr val="FFF6E5"/>
          </a:solidFill>
          <a:ln w="15875">
            <a:solidFill>
              <a:srgbClr val="F2C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5175504"/>
            <a:ext cx="103052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6B7280"/>
                </a:solidFill>
                <a:latin typeface="Barlow Condensed"/>
              </a:rPr>
              <a:t>FIRST MOVE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5614416"/>
            <a:ext cx="103052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00" b="0" i="0">
                <a:solidFill>
                  <a:srgbClr val="2B2F36"/>
                </a:solidFill>
                <a:latin typeface="Arial"/>
              </a:rPr>
              <a:t>Plot before interpreting a fitted statistic.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Correlation measures linear association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It does not identify the mechanism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56816"/>
            <a:ext cx="5349240" cy="342900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176272"/>
            <a:ext cx="4800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CORRELATION COEFFICIENT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615184"/>
            <a:ext cx="4800600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Ranges from −1 to +1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Sign gives direction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Magnitude gives linear strength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44768" y="1956816"/>
            <a:ext cx="5367528" cy="3429000"/>
          </a:xfrm>
          <a:prstGeom prst="roundRect">
            <a:avLst>
              <a:gd name="adj" fmla="val 3500"/>
            </a:avLst>
          </a:prstGeom>
          <a:solidFill>
            <a:srgbClr val="FFF6E5"/>
          </a:solidFill>
          <a:ln w="15875">
            <a:solidFill>
              <a:srgbClr val="F2C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2176272"/>
            <a:ext cx="48188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2B2F36"/>
                </a:solidFill>
                <a:latin typeface="Barlow Condensed"/>
              </a:rPr>
              <a:t>NOT INCLUDED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2615184"/>
            <a:ext cx="4818888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Proof of cause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Protection from a hidden variable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Engineering significance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Linear regression fits a prediction 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89888"/>
            <a:ext cx="5349240" cy="338328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609344"/>
            <a:ext cx="4800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048256"/>
            <a:ext cx="480060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response = intercept + slope × predictor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Slope: expected response change per predictor unit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44768" y="1389888"/>
            <a:ext cx="5367528" cy="3383280"/>
          </a:xfrm>
          <a:prstGeom prst="roundRect">
            <a:avLst>
              <a:gd name="adj" fmla="val 3500"/>
            </a:avLst>
          </a:prstGeom>
          <a:solidFill>
            <a:srgbClr val="FFF6E5"/>
          </a:solidFill>
          <a:ln w="15875">
            <a:solidFill>
              <a:srgbClr val="F2C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609344"/>
            <a:ext cx="48188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2B2F36"/>
                </a:solidFill>
                <a:latin typeface="Barlow Condensed"/>
              </a:rPr>
              <a:t>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2048256"/>
            <a:ext cx="4818888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Units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Range represented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Residual pattern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Variables omitted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R² describes fit—not cause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89888"/>
            <a:ext cx="5349240" cy="342900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609344"/>
            <a:ext cx="4800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R² CAN SAY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048256"/>
            <a:ext cx="4800600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900" b="0" i="0">
                <a:solidFill>
                  <a:srgbClr val="2B2F36"/>
                </a:solidFill>
                <a:latin typeface="Arial"/>
              </a:rPr>
              <a:t>How much response variation is described by this fitted model in this sample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44768" y="1389888"/>
            <a:ext cx="5367528" cy="3429000"/>
          </a:xfrm>
          <a:prstGeom prst="roundRect">
            <a:avLst>
              <a:gd name="adj" fmla="val 3500"/>
            </a:avLst>
          </a:prstGeom>
          <a:solidFill>
            <a:srgbClr val="FFF1E8"/>
          </a:solidFill>
          <a:ln w="15875">
            <a:solidFill>
              <a:srgbClr val="F26B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609344"/>
            <a:ext cx="48188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26B1D"/>
                </a:solidFill>
                <a:latin typeface="Barlow Condensed"/>
              </a:rPr>
              <a:t>R² CANNOT SAY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2048256"/>
            <a:ext cx="4818888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The predictor caused the response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The model is complete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Damage is progressing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03120"/>
            <a:ext cx="10149840" cy="2560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4300" b="1" i="0">
                <a:solidFill>
                  <a:srgbClr val="FFFFFF"/>
                </a:solidFill>
                <a:latin typeface="Barlow Condensed"/>
              </a:rPr>
              <a:t>A model can fit the observed points
and still tell the wrong story.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800600"/>
            <a:ext cx="10149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1">
                <a:solidFill>
                  <a:srgbClr val="6F8FAF"/>
                </a:solidFill>
                <a:latin typeface="Arial"/>
              </a:rPr>
              <a:t>The causal claim needs a mechanism and competing explanations.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Spurious does not mean imaginary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89888"/>
            <a:ext cx="5349240" cy="342900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609344"/>
            <a:ext cx="4800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REAL ASSOCIATION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048256"/>
            <a:ext cx="4800600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Date and strain can move together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The fitted line can be computed correctly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44768" y="1389888"/>
            <a:ext cx="5367528" cy="3429000"/>
          </a:xfrm>
          <a:prstGeom prst="roundRect">
            <a:avLst>
              <a:gd name="adj" fmla="val 3500"/>
            </a:avLst>
          </a:prstGeom>
          <a:solidFill>
            <a:srgbClr val="FFF1E8"/>
          </a:solidFill>
          <a:ln w="15875">
            <a:solidFill>
              <a:srgbClr val="F26B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609344"/>
            <a:ext cx="48188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26B1D"/>
                </a:solidFill>
                <a:latin typeface="Barlow Condensed"/>
              </a:rPr>
              <a:t>MISLEADING CLAIM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2048256"/>
            <a:ext cx="4818888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Date may proxy another variable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The association does not establish deterioration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9000" b="1" i="0">
                <a:solidFill>
                  <a:srgbClr val="F26B1D"/>
                </a:solidFill>
                <a:latin typeface="Barlow Condensed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Barlow Condensed"/>
              </a:rPr>
              <a:t>Hunt the confound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900" b="0" i="0">
                <a:solidFill>
                  <a:srgbClr val="6F8FAF"/>
                </a:solidFill>
                <a:latin typeface="Arial"/>
              </a:rPr>
              <a:t>Use the weather record, then name the mechanism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508760"/>
          </a:xfrm>
          <a:prstGeom prst="rect">
            <a:avLst/>
          </a:prstGeom>
          <a:solidFill>
            <a:srgbClr val="F2C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8595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2B2F36"/>
                </a:solidFill>
                <a:latin typeface="Barlow Condensed"/>
              </a:rPr>
              <a:t>IN CLASS — DO THIS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8595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2B2F36"/>
                </a:solidFill>
                <a:latin typeface="Barlow Condensed"/>
              </a:rPr>
              <a:t>Reproduce FOREMAN's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66960" y="384048"/>
            <a:ext cx="1572768" cy="749808"/>
          </a:xfrm>
          <a:prstGeom prst="roundRect">
            <a:avLst>
              <a:gd name="adj" fmla="val 12000"/>
            </a:avLst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0" y="475488"/>
            <a:ext cx="157276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F2C230"/>
                </a:solidFill>
                <a:latin typeface="Barlow Condensed"/>
              </a:rPr>
              <a:t>8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65960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29967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1984248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Open feed.csv and plot corrected strain against date_index.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4144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505456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459736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Fit a linear trendline; record slope and R² in H8-02.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916936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980944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2935224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Write one sentence the model supports without using a causal verb.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89788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1">
                <a:solidFill>
                  <a:srgbClr val="6B7280"/>
                </a:solidFill>
                <a:latin typeface="Arial"/>
              </a:rPr>
              <a:t>A reproduced statistic can still support an overclaimed interpretation.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508760"/>
          </a:xfrm>
          <a:prstGeom prst="rect">
            <a:avLst/>
          </a:prstGeom>
          <a:solidFill>
            <a:srgbClr val="F2C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8595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2B2F36"/>
                </a:solidFill>
                <a:latin typeface="Barlow Condensed"/>
              </a:rPr>
              <a:t>IN CLASS — DO THIS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8595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2B2F36"/>
                </a:solidFill>
                <a:latin typeface="Barlow Condensed"/>
              </a:rPr>
              <a:t>Join the weather record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66960" y="384048"/>
            <a:ext cx="1572768" cy="749808"/>
          </a:xfrm>
          <a:prstGeom prst="roundRect">
            <a:avLst>
              <a:gd name="adj" fmla="val 12000"/>
            </a:avLst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0" y="475488"/>
            <a:ext cx="157276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F2C230"/>
                </a:solidFill>
                <a:latin typeface="Barlow Condensed"/>
              </a:rPr>
              <a:t>10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65960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29967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1984248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Use timestamp_cst to join feed.csv and weather_station.csv.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4144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505456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459736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Check row counts, unmatched timestamps, duplicates, and °C units.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916936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980944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2935224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Plot strain against air_temperature_c; fit the second line.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9242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456432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3410712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Compare direction, slope units, and R² with the date model.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89788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1">
                <a:solidFill>
                  <a:srgbClr val="6B7280"/>
                </a:solidFill>
                <a:latin typeface="Arial"/>
              </a:rPr>
              <a:t>A clean join is part of the evidence, not clerical overhead.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508760"/>
          </a:xfrm>
          <a:prstGeom prst="rect">
            <a:avLst/>
          </a:prstGeom>
          <a:solidFill>
            <a:srgbClr val="F2C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8595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2B2F36"/>
                </a:solidFill>
                <a:latin typeface="Barlow Condensed"/>
              </a:rPr>
              <a:t>IN CLASS — DO THIS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8595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2B2F36"/>
                </a:solidFill>
                <a:latin typeface="Barlow Condensed"/>
              </a:rPr>
              <a:t>Name the mechanism; set the boundary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66960" y="384048"/>
            <a:ext cx="1572768" cy="749808"/>
          </a:xfrm>
          <a:prstGeom prst="roundRect">
            <a:avLst>
              <a:gd name="adj" fmla="val 12000"/>
            </a:avLst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0" y="475488"/>
            <a:ext cx="157276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F2C230"/>
                </a:solidFill>
                <a:latin typeface="Barlow Condensed"/>
              </a:rPr>
              <a:t>8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65960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29967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1984248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Explain what warming does to steel and a restrained sensor location.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4144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505456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459736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Draw date → temperature → measured strain on H8-03.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916936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980944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2935224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State why the date fit alone cannot distinguish thermal response from damage.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9242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456432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3410712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List evidence still needed before claiming structural deterioration.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89788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1">
                <a:solidFill>
                  <a:srgbClr val="6B7280"/>
                </a:solidFill>
                <a:latin typeface="Arial"/>
              </a:rPr>
              <a:t>A second correlation becomes useful when it has a plausible physical mechanism.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508760"/>
          </a:xfrm>
          <a:prstGeom prst="rect">
            <a:avLst/>
          </a:prstGeom>
          <a:solidFill>
            <a:srgbClr val="F2C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8595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2B2F36"/>
                </a:solidFill>
                <a:latin typeface="Barlow Condensed"/>
              </a:rPr>
              <a:t>IN CLASS — DO THIS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8595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2B2F36"/>
                </a:solidFill>
                <a:latin typeface="Barlow Condensed"/>
              </a:rPr>
              <a:t>Set up the correction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66960" y="384048"/>
            <a:ext cx="1572768" cy="749808"/>
          </a:xfrm>
          <a:prstGeom prst="roundRect">
            <a:avLst>
              <a:gd name="adj" fmla="val 12000"/>
            </a:avLst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0" y="475488"/>
            <a:ext cx="157276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F2C230"/>
                </a:solidFill>
                <a:latin typeface="Barlow Condensed"/>
              </a:rPr>
              <a:t>4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65960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29967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1984248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Use the temperature model to calculate predicted strain.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4144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505456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459736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Residual = observed strain − predicted temperature-linked strain.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916936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980944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2935224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Plot the residual against date and identify the claim that test can support.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89788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1">
                <a:solidFill>
                  <a:srgbClr val="6B7280"/>
                </a:solidFill>
                <a:latin typeface="Arial"/>
              </a:rPr>
              <a:t>Complete the full calculation in HW4; do not claim that one correction proves no damage.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Write Unit 2 Note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Claim · check · result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56816"/>
            <a:ext cx="3429000" cy="3337560"/>
          </a:xfrm>
          <a:prstGeom prst="roundRect">
            <a:avLst>
              <a:gd name="adj" fmla="val 3500"/>
            </a:avLst>
          </a:prstGeom>
          <a:solidFill>
            <a:srgbClr val="FFF1E8"/>
          </a:solidFill>
          <a:ln w="15875">
            <a:solidFill>
              <a:srgbClr val="F26B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176272"/>
            <a:ext cx="2880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26B1D"/>
                </a:solidFill>
                <a:latin typeface="Barlow Condensed"/>
              </a:rPr>
              <a:t>CLAIM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615184"/>
            <a:ext cx="288036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State FOREMAN's exact deterioration inference.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956816"/>
            <a:ext cx="3429000" cy="333756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54296" y="2176272"/>
            <a:ext cx="2880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4296" y="2615184"/>
            <a:ext cx="288036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Name the weather join, model comparison, and mechanism.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3" y="1956816"/>
            <a:ext cx="3429000" cy="3337560"/>
          </a:xfrm>
          <a:prstGeom prst="roundRect">
            <a:avLst>
              <a:gd name="adj" fmla="val 3500"/>
            </a:avLst>
          </a:prstGeom>
          <a:solidFill>
            <a:srgbClr val="FFF6E5"/>
          </a:solidFill>
          <a:ln w="15875">
            <a:solidFill>
              <a:srgbClr val="F2C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75904" y="2176272"/>
            <a:ext cx="2880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2B2F36"/>
                </a:solidFill>
                <a:latin typeface="Barlow Condensed"/>
              </a:rPr>
              <a:t>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75904" y="2615184"/>
            <a:ext cx="288036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Bound what the uncorrected trend can support.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8580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Barlow Condensed"/>
              </a:rPr>
              <a:t>Before the gated reveal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HAND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49039" y="1700784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H8-02 regression hunt and H8-05 Note version 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06039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ASSIGNED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2569463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HW4: temperature-corrected strain trend.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7472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RECORD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3438144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Project-hour choice and anything accepted unverified.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34340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BOUNDARY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4306824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This meeting tests the trend claim; it does not settle bridge condition.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2027-02-25T12:00:00Z</dcterms:created>
  <dcterms:modified xsi:type="dcterms:W3CDTF">2027-02-25T12:00:00Z</dcterms:modified>
  <cp:category/>
</cp:coreProperties>
</file>