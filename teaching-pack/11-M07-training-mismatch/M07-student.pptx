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INBOX — SAY: “The report is in. No defects found. High confidence. Let's move.” Establish that the report covers Otter Bend towers and machinery as well as familiar fixed-span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INBOX — DIANE: “It looked at 400 photos in a minute. Give me a reason not to use it.” WES: “I'm drafting the memo to accept the machinery rating based on the vendor summary.” STUDENT: “Wait, I need to check the training data source first.”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HUNT — SAY: “Read the training summary closely. Compare the 12 photos with the population the model actually saw. Your answer must name the gap, not merely distrust the tool.”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TRANSITION — SAY: “Bias begins before the answer: in what the examples include, omit, label, and measure.”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SAY: “Bias here is patterned limitation in examples, labels, evaluation, or deployment. It does not require intent.”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SAY: “A representative sample is representative of a particular population and task. Ask: representative of what?”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SAY: “The held-out score may honestly describe performance on the archive. It does not show that the archive resembles Otter Bend.”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SAY: “Distribution shift means the deployment differs from training in relevant ways. Shift is a reason to test applicability, not proof that every output is wrong.”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TEACH — SAY: “Out of domain marks a coverage boundary. A high class score does not tell you the system lacks the right experience or label.”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TRANSITION — INSTRUCTOR: “Read the vendor summary. Where were these photos taken?” EXPECT: “Warm states, highway girders only.” Then ask: “What does Otter Bend have that this data never saw?” EXPECT: “Lift machinery, freeze and thaw, road salt.”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TASK: Compare the 12 photos against the training-summary distribution. Complete the archive profile in H7-05. Do not reveal the final applicability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ACTION: Mark photos where Otter Bend's bridge type, machinery, freeze–thaw exposure, or road-salt context differs from training. Require an H7-01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LAB — OBSERVATION: Confidence remains high across the domain shift. Ask: “Why might the model fail to express uncertainty on an out-of-domain input?” Do not give the answer before students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NOTE — Students write Note version 2 only: claim, check, result. SAY: “Professional judgment sets the evidence boundary when the model record does not.”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CLOSE — Collect Note version 2 only. Light hook: “The conditions around a bridge do not stay fixed through the year.” Do not explain the M08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07  ·  UNIT 2: DOUBT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Does the confidence travel?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Audit training coverage before using FOREMAN's image 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Tuesday, February 23, 2027  ·  SEIS 201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interim report moved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FOREMAN screened 12 images in under a minute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11095"/>
            <a:ext cx="10853928" cy="16002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3055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FOREMAN v4.2 —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69463"/>
            <a:ext cx="1030528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900" b="0" i="0">
                <a:solidFill>
                  <a:srgbClr val="2B2F36"/>
                </a:solidFill>
                <a:latin typeface="Arial"/>
              </a:rPr>
              <a:t>“No significant defects detected in the submitted tower, span, or machinery-room images. Overall confidence: HIGH.”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694176"/>
            <a:ext cx="10853928" cy="132588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91363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DIANE HALVORSEN, 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352544"/>
            <a:ext cx="10305288" cy="411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“It looked at 12 images in under a minute. Give me a specific reason not to use it.”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294376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513832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TODAY'S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5952744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Which ratings, if any, can enter the interim report—and under what boundary?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The hunt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Do not diagnose a hidden defect; audit applicability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1 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What was represented in training and evaluation?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Which categories were absent?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2  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How does Otter Bend differ by bridge type, climate, and component?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3  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Where can a rating remain provisional? Where must FOREMAN abstain?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Bias begins before 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A model inherits what its examples include, omit, label, and measure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AI bias is patterned error—not machine intent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48590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" y="138988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Training-data bias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examples systematically overrepresent some conditions and underrepresent others.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9964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210362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Label bias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the available categories make some conditions visible and others impossible to name.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913380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817368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Evaluation bias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a test set resembles training but not the intended deployment.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627119"/>
            <a:ext cx="77724" cy="77724"/>
          </a:xfrm>
          <a:prstGeom prst="ellipse">
            <a:avLst/>
          </a:prstGeom>
          <a:solidFill>
            <a:srgbClr val="3A7D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531107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Deployment bias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people use a model for a population or task its evidence does not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956048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17550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AUDIT MOVE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614416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Ask which population the performance number describes.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Representative of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A large sample can still miss the intended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5349240" cy="342900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REPRESENTATIVE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480060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Resembles the population and task where the claim will be used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Covers relevant subgroups and operating conditions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Makes omissions visible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956816"/>
            <a:ext cx="5367528" cy="342900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2176272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NOT ENOUGH BY ITSELF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615184"/>
            <a:ext cx="4818888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large image count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random split from one archive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High average accuracy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confident score on a new category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Accuracy answers:
“How did it perform there?”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It does not answer: “Does there resemble here?”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Distribution shift changes the data relationship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The deployment distribution differs from training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05282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195681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Inputs shift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bridge configuration, image setting, climate, corrosion exposure.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6656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267055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Labels shift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deployment asks about components the training taxonomy did not name.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48030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38429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Frequencies shift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rare training conditions become common in deployment.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94048"/>
            <a:ext cx="77724" cy="77724"/>
          </a:xfrm>
          <a:prstGeom prst="ellipse">
            <a:avLst/>
          </a:prstGeom>
          <a:solidFill>
            <a:srgbClr val="F26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4098036"/>
            <a:ext cx="10186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2B2F36"/>
                </a:solidFill>
                <a:latin typeface="Arial"/>
              </a:rPr>
              <a:t>Consequence  </a:t>
            </a:r>
            <a:r>
              <a:rPr sz="1800" b="0" i="0">
                <a:solidFill>
                  <a:srgbClr val="2B2F36"/>
                </a:solidFill>
                <a:latin typeface="Arial"/>
              </a:rPr>
              <a:t>held-out performance and confidence may not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22975"/>
            <a:ext cx="10853928" cy="12344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5742431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IMPORTANT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6181343"/>
            <a:ext cx="103052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500" b="0" i="0">
                <a:solidFill>
                  <a:srgbClr val="2B2F36"/>
                </a:solidFill>
                <a:latin typeface="Arial"/>
              </a:rPr>
              <a:t>Shift is a reason to investigate performance—not proof that every rating is wrong.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Out of domain means the evidence boundary was crossed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5349240" cy="347472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COVERAGE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4800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A relevant category or condition is absent or too sparse to support the use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The correct response may be abstention, new validation, or qualified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1389888"/>
            <a:ext cx="5367528" cy="347472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609344"/>
            <a:ext cx="48188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HIGH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2048256"/>
            <a:ext cx="481888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Usually a model score among known labels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Not a detector of missing knowledge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Can remain high on unfamiliar inputs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9000" b="1" i="0">
                <a:solidFill>
                  <a:srgbClr val="F26B1D"/>
                </a:solidFill>
                <a:latin typeface="Barlow Condensed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Barlow Condensed"/>
              </a:rPr>
              <a:t>Compare before you conclude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6F8FAF"/>
                </a:solidFill>
                <a:latin typeface="Arial"/>
              </a:rPr>
              <a:t>Bridge type · climate · component labels · evaluation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Profile the training archive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H7-01 and underline the population behind 93.8%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Record bridge configurations, climate exposure, component labels, and evaluation split.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Circle every category that is absent or not recorded.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Complete the training column in H7-05 without opening the key.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A random split can be valid and still answer the wrong deployment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Map Otter Bend against that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H7-02, H7-03, and the CSV. Group all 12 records by fixed span, tower, and moving machinery.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157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79775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73405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Compare each group with the disclosed training taxonomy.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912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3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954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Mark each dimension match, shift, or gap; cite the exact line in H7-01.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667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3075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85031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Do not guess whether a hidden defect exists. Judge whether the rating is supportable.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The audit target is model applicability, not visual defect diagnosis.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08760"/>
          </a:xfrm>
          <a:prstGeom prst="rect">
            <a:avLst/>
          </a:prstGeom>
          <a:solidFill>
            <a:srgbClr val="F2C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9184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2B2F36"/>
                </a:solidFill>
                <a:latin typeface="Barlow Condensed"/>
              </a:rPr>
              <a:t>IN CLASS — DO THIS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2B2F36"/>
                </a:solidFill>
                <a:latin typeface="Barlow Condensed"/>
              </a:rPr>
              <a:t>Challenge the confidence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84048"/>
            <a:ext cx="1572768" cy="749808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475488"/>
            <a:ext cx="15727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2C230"/>
                </a:solidFill>
                <a:latin typeface="Barlow Condensed"/>
              </a:rPr>
              <a:t>10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29967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984248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Open H7-04 and identify what FOREMAN means by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41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505456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459736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Decide which image groups can remain provisional and which require abstention or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169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980944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35224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State what 93.8% supports—and what it cannot support at Otter Bend.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924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56432"/>
            <a:ext cx="420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Barlow Condense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410712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 i="0">
                <a:solidFill>
                  <a:srgbClr val="2B2F36"/>
                </a:solidFill>
                <a:latin typeface="Arial"/>
              </a:rPr>
              <a:t>Write a bounded recommendation before the reveal.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8978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1">
                <a:solidFill>
                  <a:srgbClr val="6B7280"/>
                </a:solidFill>
                <a:latin typeface="Arial"/>
              </a:rPr>
              <a:t>Blanket trust and blanket rejection both skip the coverage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Write Unit 2 note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0700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Arial"/>
              </a:rPr>
              <a:t>Three lines; claim, check,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CLAIM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State exactly what FOREMAN says and which records it covers.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Name the training-coverage evidence and dimensions you compared.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956816"/>
            <a:ext cx="3429000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176272"/>
            <a:ext cx="2880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2B2F36"/>
                </a:solidFill>
                <a:latin typeface="Barlow Condensed"/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2615184"/>
            <a:ext cx="288036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Say what can be used, withheld, or routed to qualified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Before the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H7-05 coverage audit and H7-06 Note version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Your proposed project-hour choice and what remains unverified.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PRESERVE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Wes's memo with the evidence packet; polished prose is not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M08 begins the next investigation as seasonal conditions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2027-02-23T12:00:00Z</dcterms:created>
  <dcterms:modified xsi:type="dcterms:W3CDTF">2027-02-23T12:00:00Z</dcterms:modified>
  <cp:category/>
</cp:coreProperties>
</file>