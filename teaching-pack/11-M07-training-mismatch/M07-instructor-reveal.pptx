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OLI CANON SAY — Cloud hard-review pass.</a:t>
            </a:r>
          </a:p>
          <a:p/>
          <a:p>
            <a:r>
              <a:t>REVEAL — SAY: “FOREMAN rated the machinery-room photos clean and high confidence even though its disclosed training contains no movable bridges or machinery labels.”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OLI CANON SAY — Cloud hard-review pass.</a:t>
            </a:r>
          </a:p>
          <a:p/>
          <a:p>
            <a:r>
              <a:t>REVEAL — SAY: “The training distribution is almost entirely highway girder bridges from warm states. Otter Bend adds a vertical-lift configuration, Minnesota freeze–thaw, and road-salt exposure.”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OLI CANON SAY — Cloud hard-review pass.</a:t>
            </a:r>
          </a:p>
          <a:p/>
          <a:p>
            <a:r>
              <a:t>REVEAL — SAY: “The 93.8 percent score answers performance on a same-archive holdout. It does not establish performance on Otter Bend.”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OLI CANON SAY — Cloud hard-review pass.</a:t>
            </a:r>
          </a:p>
          <a:p/>
          <a:p>
            <a:r>
              <a:t>REVEAL — SAY: “The familiar fixed-span records may remain provisional triage. Tower and machinery records cross the disclosed coverage boundary and require qualified review.”</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OLI CANON SAY — Cloud hard-review pass.</a:t>
            </a:r>
          </a:p>
          <a:p/>
          <a:p>
            <a:r>
              <a:t>REVEAL — INSTRUCTOR: “The AI rates the machinery room with the same confidence as the girder photos. It has no sign of uncertainty because it was never trained on them.” Clarify that confidence is not an ignorance detector.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OLI CANON SAY — Cloud hard-review pass.</a:t>
            </a:r>
          </a:p>
          <a:p/>
          <a:p>
            <a:r>
              <a:t>REVEAL — SAY: “Withhold the all-clear. This audit does not prove a defect; it proves that this model record cannot support the all-clear for the out-of-domain images.”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OLI CANON SAY — Cloud hard-review pass.</a:t>
            </a:r>
          </a:p>
          <a:p/>
          <a:p>
            <a:r>
              <a:t>SIDE BEAT — Wes polishes the accept-memo; Diane skims and passes it in BELIEVER mode. Preserve it only as liability color seeded inside M13's existing messy unit-mismatch handoff. Do not rewrite M13 as the memo's return.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OLI CANON SAY — Cloud hard-review pass.</a:t>
            </a:r>
          </a:p>
          <a:p/>
          <a:p>
            <a:r>
              <a:t>CLOSE — Collect Note version 2 only. Professional judgment overrides unsupported automated confidence. Lightly hook changing seasonal conditions without naming temperature-as-damage.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B2F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acmejob-mark-dark.png"/>
          <p:cNvPicPr>
            <a:picLocks noChangeAspect="1"/>
          </p:cNvPicPr>
          <p:nvPr/>
        </p:nvPicPr>
        <p:blipFill>
          <a:blip r:embed="rId2"/>
          <a:stretch>
            <a:fillRect/>
          </a:stretch>
        </p:blipFill>
        <p:spPr>
          <a:xfrm>
            <a:off x="868680" y="960120"/>
            <a:ext cx="1371600" cy="1371600"/>
          </a:xfrm>
          <a:prstGeom prst="rect">
            <a:avLst/>
          </a:prstGeom>
        </p:spPr>
      </p:pic>
      <p:sp>
        <p:nvSpPr>
          <p:cNvPr id="4" name="TextBox 3"/>
          <p:cNvSpPr txBox="1"/>
          <p:nvPr/>
        </p:nvSpPr>
        <p:spPr>
          <a:xfrm>
            <a:off x="868680" y="2606040"/>
            <a:ext cx="7863840" cy="384048"/>
          </a:xfrm>
          <a:prstGeom prst="rect">
            <a:avLst/>
          </a:prstGeom>
          <a:noFill/>
        </p:spPr>
        <p:txBody>
          <a:bodyPr wrap="square" anchor="t" lIns="0" rIns="0" tIns="0" bIns="0">
            <a:spAutoFit/>
          </a:bodyPr>
          <a:lstStyle/>
          <a:p>
            <a:pPr algn="l">
              <a:lnSpc>
                <a:spcPct val="100000"/>
              </a:lnSpc>
              <a:spcAft>
                <a:spcPts val="600"/>
              </a:spcAft>
            </a:pPr>
            <a:r>
              <a:rPr sz="1700" b="1" i="0">
                <a:solidFill>
                  <a:srgbClr val="F26B1D"/>
                </a:solidFill>
                <a:latin typeface="Barlow Condensed"/>
              </a:rPr>
              <a:t>MEETING 07  ·  INSTRUCTOR REVEAL</a:t>
            </a:r>
          </a:p>
        </p:txBody>
      </p:sp>
      <p:sp>
        <p:nvSpPr>
          <p:cNvPr id="5" name="TextBox 4"/>
          <p:cNvSpPr txBox="1"/>
          <p:nvPr/>
        </p:nvSpPr>
        <p:spPr>
          <a:xfrm>
            <a:off x="868680" y="2971800"/>
            <a:ext cx="10424160" cy="1463040"/>
          </a:xfrm>
          <a:prstGeom prst="rect">
            <a:avLst/>
          </a:prstGeom>
          <a:noFill/>
        </p:spPr>
        <p:txBody>
          <a:bodyPr wrap="square" anchor="t" lIns="0" rIns="0" tIns="0" bIns="0">
            <a:spAutoFit/>
          </a:bodyPr>
          <a:lstStyle/>
          <a:p>
            <a:pPr algn="l">
              <a:lnSpc>
                <a:spcPct val="96000"/>
              </a:lnSpc>
              <a:spcAft>
                <a:spcPts val="600"/>
              </a:spcAft>
            </a:pPr>
            <a:r>
              <a:rPr sz="5800" b="1" i="0">
                <a:solidFill>
                  <a:srgbClr val="FFFFFF"/>
                </a:solidFill>
                <a:latin typeface="Barlow Condensed"/>
              </a:rPr>
              <a:t>The confidence does not travel.</a:t>
            </a:r>
          </a:p>
        </p:txBody>
      </p:sp>
      <p:sp>
        <p:nvSpPr>
          <p:cNvPr id="6" name="TextBox 5"/>
          <p:cNvSpPr txBox="1"/>
          <p:nvPr/>
        </p:nvSpPr>
        <p:spPr>
          <a:xfrm>
            <a:off x="868680" y="4572000"/>
            <a:ext cx="9326880" cy="914400"/>
          </a:xfrm>
          <a:prstGeom prst="rect">
            <a:avLst/>
          </a:prstGeom>
          <a:noFill/>
        </p:spPr>
        <p:txBody>
          <a:bodyPr wrap="square" anchor="t" lIns="0" rIns="0" tIns="0" bIns="0">
            <a:spAutoFit/>
          </a:bodyPr>
          <a:lstStyle/>
          <a:p>
            <a:pPr algn="l">
              <a:lnSpc>
                <a:spcPct val="120000"/>
              </a:lnSpc>
              <a:spcAft>
                <a:spcPts val="600"/>
              </a:spcAft>
            </a:pPr>
            <a:r>
              <a:rPr sz="2200" b="0" i="0">
                <a:solidFill>
                  <a:srgbClr val="6F8FAF"/>
                </a:solidFill>
                <a:latin typeface="Arial"/>
              </a:rPr>
              <a:t>Open only after students submit the coverage audit</a:t>
            </a:r>
          </a:p>
        </p:txBody>
      </p:sp>
      <p:sp>
        <p:nvSpPr>
          <p:cNvPr id="7" name="TextBox 6"/>
          <p:cNvSpPr txBox="1"/>
          <p:nvPr/>
        </p:nvSpPr>
        <p:spPr>
          <a:xfrm>
            <a:off x="868680" y="5943600"/>
            <a:ext cx="9326880" cy="365760"/>
          </a:xfrm>
          <a:prstGeom prst="rect">
            <a:avLst/>
          </a:prstGeom>
          <a:noFill/>
        </p:spPr>
        <p:txBody>
          <a:bodyPr wrap="square" anchor="t" lIns="0" rIns="0" tIns="0" bIns="0">
            <a:spAutoFit/>
          </a:bodyPr>
          <a:lstStyle/>
          <a:p>
            <a:pPr algn="l">
              <a:lnSpc>
                <a:spcPct val="100000"/>
              </a:lnSpc>
              <a:spcAft>
                <a:spcPts val="600"/>
              </a:spcAft>
            </a:pPr>
            <a:r>
              <a:rPr sz="1400" b="0" i="0">
                <a:solidFill>
                  <a:srgbClr val="6B7280"/>
                </a:solidFill>
                <a:latin typeface="Barlow Condensed"/>
              </a:rPr>
              <a:t>M07 · Unit 2: Doubt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57200"/>
            <a:ext cx="10881360" cy="777240"/>
          </a:xfrm>
          <a:prstGeom prst="rect">
            <a:avLst/>
          </a:prstGeom>
          <a:noFill/>
        </p:spPr>
        <p:txBody>
          <a:bodyPr wrap="square" anchor="t" lIns="0" rIns="0" tIns="0" bIns="0">
            <a:spAutoFit/>
          </a:bodyPr>
          <a:lstStyle/>
          <a:p>
            <a:pPr algn="l">
              <a:lnSpc>
                <a:spcPct val="98000"/>
              </a:lnSpc>
              <a:spcAft>
                <a:spcPts val="600"/>
              </a:spcAft>
            </a:pPr>
            <a:r>
              <a:rPr sz="3800" b="1" i="0">
                <a:solidFill>
                  <a:srgbClr val="1F3A5F"/>
                </a:solidFill>
                <a:latin typeface="Barlow Condensed"/>
              </a:rPr>
              <a:t>The archive and the job differ on every major dimension</a:t>
            </a:r>
          </a:p>
        </p:txBody>
      </p:sp>
      <p:graphicFrame>
        <p:nvGraphicFramePr>
          <p:cNvPr id="4" name="Table 3"/>
          <p:cNvGraphicFramePr>
            <a:graphicFrameLocks noGrp="1"/>
          </p:cNvGraphicFramePr>
          <p:nvPr/>
        </p:nvGraphicFramePr>
        <p:xfrm>
          <a:off x="658368" y="1344168"/>
          <a:ext cx="10853928" cy="3108960"/>
        </p:xfrm>
        <a:graphic>
          <a:graphicData uri="http://schemas.openxmlformats.org/drawingml/2006/table">
            <a:tbl>
              <a:tblPr firstRow="1" bandRow="1">
                <a:tableStyleId>{5C22544A-7EE6-4342-B048-85BDC9FD1C3A}</a:tableStyleId>
              </a:tblPr>
              <a:tblGrid>
                <a:gridCol w="2011680"/>
                <a:gridCol w="4114800"/>
                <a:gridCol w="4727448"/>
              </a:tblGrid>
              <a:tr h="621792">
                <a:tc>
                  <a:txBody>
                    <a:bodyPr/>
                    <a:lstStyle/>
                    <a:p>
                      <a:r>
                        <a:rPr sz="1500" b="1">
                          <a:solidFill>
                            <a:srgbClr val="FFFFFF"/>
                          </a:solidFill>
                          <a:latin typeface="Barlow Condensed"/>
                        </a:rPr>
                        <a:t>Dimension</a:t>
                      </a:r>
                    </a:p>
                  </a:txBody>
                  <a:tcPr>
                    <a:solidFill>
                      <a:srgbClr val="1F3A5F"/>
                    </a:solidFill>
                  </a:tcPr>
                </a:tc>
                <a:tc>
                  <a:txBody>
                    <a:bodyPr/>
                    <a:lstStyle/>
                    <a:p>
                      <a:r>
                        <a:rPr sz="1500" b="1">
                          <a:solidFill>
                            <a:srgbClr val="FFFFFF"/>
                          </a:solidFill>
                          <a:latin typeface="Barlow Condensed"/>
                        </a:rPr>
                        <a:t>Training / evaluation</a:t>
                      </a:r>
                    </a:p>
                  </a:txBody>
                  <a:tcPr>
                    <a:solidFill>
                      <a:srgbClr val="1F3A5F"/>
                    </a:solidFill>
                  </a:tcPr>
                </a:tc>
                <a:tc>
                  <a:txBody>
                    <a:bodyPr/>
                    <a:lstStyle/>
                    <a:p>
                      <a:r>
                        <a:rPr sz="1500" b="1">
                          <a:solidFill>
                            <a:srgbClr val="FFFFFF"/>
                          </a:solidFill>
                          <a:latin typeface="Barlow Condensed"/>
                        </a:rPr>
                        <a:t>Otter Bend</a:t>
                      </a:r>
                    </a:p>
                  </a:txBody>
                  <a:tcPr>
                    <a:solidFill>
                      <a:srgbClr val="1F3A5F"/>
                    </a:solidFill>
                  </a:tcPr>
                </a:tc>
              </a:tr>
              <a:tr h="621792">
                <a:tc>
                  <a:txBody>
                    <a:bodyPr/>
                    <a:lstStyle/>
                    <a:p>
                      <a:r>
                        <a:rPr sz="1500" b="0">
                          <a:solidFill>
                            <a:srgbClr val="2B2F36"/>
                          </a:solidFill>
                          <a:latin typeface="Arial"/>
                        </a:rPr>
                        <a:t>Bridge</a:t>
                      </a:r>
                    </a:p>
                  </a:txBody>
                  <a:tcPr>
                    <a:solidFill>
                      <a:srgbClr val="FFFFFF"/>
                    </a:solidFill>
                  </a:tcPr>
                </a:tc>
                <a:tc>
                  <a:txBody>
                    <a:bodyPr/>
                    <a:lstStyle/>
                    <a:p>
                      <a:r>
                        <a:rPr sz="1500" b="0">
                          <a:solidFill>
                            <a:srgbClr val="2B2F36"/>
                          </a:solidFill>
                          <a:latin typeface="Arial"/>
                        </a:rPr>
                        <a:t>91% fixed highway girder</a:t>
                      </a:r>
                    </a:p>
                  </a:txBody>
                  <a:tcPr>
                    <a:solidFill>
                      <a:srgbClr val="FFFFFF"/>
                    </a:solidFill>
                  </a:tcPr>
                </a:tc>
                <a:tc>
                  <a:txBody>
                    <a:bodyPr/>
                    <a:lstStyle/>
                    <a:p>
                      <a:r>
                        <a:rPr sz="1500" b="0">
                          <a:solidFill>
                            <a:srgbClr val="2B2F36"/>
                          </a:solidFill>
                          <a:latin typeface="Arial"/>
                        </a:rPr>
                        <a:t>Vertical-lift bridge</a:t>
                      </a:r>
                    </a:p>
                  </a:txBody>
                  <a:tcPr>
                    <a:solidFill>
                      <a:srgbClr val="FFFFFF"/>
                    </a:solidFill>
                  </a:tcPr>
                </a:tc>
              </a:tr>
              <a:tr h="621792">
                <a:tc>
                  <a:txBody>
                    <a:bodyPr/>
                    <a:lstStyle/>
                    <a:p>
                      <a:r>
                        <a:rPr sz="1500" b="0">
                          <a:solidFill>
                            <a:srgbClr val="2B2F36"/>
                          </a:solidFill>
                          <a:latin typeface="Arial"/>
                        </a:rPr>
                        <a:t>Climate</a:t>
                      </a:r>
                    </a:p>
                  </a:txBody>
                  <a:tcPr>
                    <a:solidFill>
                      <a:srgbClr val="F4F6F8"/>
                    </a:solidFill>
                  </a:tcPr>
                </a:tc>
                <a:tc>
                  <a:txBody>
                    <a:bodyPr/>
                    <a:lstStyle/>
                    <a:p>
                      <a:r>
                        <a:rPr sz="1500" b="0">
                          <a:solidFill>
                            <a:srgbClr val="2B2F36"/>
                          </a:solidFill>
                          <a:latin typeface="Arial"/>
                        </a:rPr>
                        <a:t>Mostly warm / low freeze–thaw</a:t>
                      </a:r>
                    </a:p>
                  </a:txBody>
                  <a:tcPr>
                    <a:solidFill>
                      <a:srgbClr val="F4F6F8"/>
                    </a:solidFill>
                  </a:tcPr>
                </a:tc>
                <a:tc>
                  <a:txBody>
                    <a:bodyPr/>
                    <a:lstStyle/>
                    <a:p>
                      <a:r>
                        <a:rPr sz="1500" b="0">
                          <a:solidFill>
                            <a:srgbClr val="2B2F36"/>
                          </a:solidFill>
                          <a:latin typeface="Arial"/>
                        </a:rPr>
                        <a:t>Minnesota exposure</a:t>
                      </a:r>
                    </a:p>
                  </a:txBody>
                  <a:tcPr>
                    <a:solidFill>
                      <a:srgbClr val="F4F6F8"/>
                    </a:solidFill>
                  </a:tcPr>
                </a:tc>
              </a:tr>
              <a:tr h="621792">
                <a:tc>
                  <a:txBody>
                    <a:bodyPr/>
                    <a:lstStyle/>
                    <a:p>
                      <a:r>
                        <a:rPr sz="1500" b="0">
                          <a:solidFill>
                            <a:srgbClr val="2B2F36"/>
                          </a:solidFill>
                          <a:latin typeface="Arial"/>
                        </a:rPr>
                        <a:t>Labels</a:t>
                      </a:r>
                    </a:p>
                  </a:txBody>
                  <a:tcPr>
                    <a:solidFill>
                      <a:srgbClr val="FFFFFF"/>
                    </a:solidFill>
                  </a:tcPr>
                </a:tc>
                <a:tc>
                  <a:txBody>
                    <a:bodyPr/>
                    <a:lstStyle/>
                    <a:p>
                      <a:r>
                        <a:rPr sz="1500" b="0">
                          <a:solidFill>
                            <a:srgbClr val="2B2F36"/>
                          </a:solidFill>
                          <a:latin typeface="Arial"/>
                        </a:rPr>
                        <a:t>Fixed structural components</a:t>
                      </a:r>
                    </a:p>
                  </a:txBody>
                  <a:tcPr>
                    <a:solidFill>
                      <a:srgbClr val="FFFFFF"/>
                    </a:solidFill>
                  </a:tcPr>
                </a:tc>
                <a:tc>
                  <a:txBody>
                    <a:bodyPr/>
                    <a:lstStyle/>
                    <a:p>
                      <a:r>
                        <a:rPr sz="1500" b="0">
                          <a:solidFill>
                            <a:srgbClr val="2B2F36"/>
                          </a:solidFill>
                          <a:latin typeface="Arial"/>
                        </a:rPr>
                        <a:t>Towers + moving machinery</a:t>
                      </a:r>
                    </a:p>
                  </a:txBody>
                  <a:tcPr>
                    <a:solidFill>
                      <a:srgbClr val="FFFFFF"/>
                    </a:solidFill>
                  </a:tcPr>
                </a:tc>
              </a:tr>
              <a:tr h="621792">
                <a:tc>
                  <a:txBody>
                    <a:bodyPr/>
                    <a:lstStyle/>
                    <a:p>
                      <a:r>
                        <a:rPr sz="1500" b="0">
                          <a:solidFill>
                            <a:srgbClr val="2B2F36"/>
                          </a:solidFill>
                          <a:latin typeface="Arial"/>
                        </a:rPr>
                        <a:t>Machinery</a:t>
                      </a:r>
                    </a:p>
                  </a:txBody>
                  <a:tcPr>
                    <a:solidFill>
                      <a:srgbClr val="F4F6F8"/>
                    </a:solidFill>
                  </a:tcPr>
                </a:tc>
                <a:tc>
                  <a:txBody>
                    <a:bodyPr/>
                    <a:lstStyle/>
                    <a:p>
                      <a:r>
                        <a:rPr sz="1500" b="0">
                          <a:solidFill>
                            <a:srgbClr val="2B2F36"/>
                          </a:solidFill>
                          <a:latin typeface="Arial"/>
                        </a:rPr>
                        <a:t>No relevant labels</a:t>
                      </a:r>
                    </a:p>
                  </a:txBody>
                  <a:tcPr>
                    <a:solidFill>
                      <a:srgbClr val="F4F6F8"/>
                    </a:solidFill>
                  </a:tcPr>
                </a:tc>
                <a:tc>
                  <a:txBody>
                    <a:bodyPr/>
                    <a:lstStyle/>
                    <a:p>
                      <a:r>
                        <a:rPr sz="1500" b="0">
                          <a:solidFill>
                            <a:srgbClr val="2B2F36"/>
                          </a:solidFill>
                          <a:latin typeface="Arial"/>
                        </a:rPr>
                        <a:t>6 of 12 records</a:t>
                      </a:r>
                    </a:p>
                  </a:txBody>
                  <a:tcPr>
                    <a:solidFill>
                      <a:srgbClr val="F4F6F8"/>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57200"/>
            <a:ext cx="10881360" cy="777240"/>
          </a:xfrm>
          <a:prstGeom prst="rect">
            <a:avLst/>
          </a:prstGeom>
          <a:noFill/>
        </p:spPr>
        <p:txBody>
          <a:bodyPr wrap="square" anchor="t" lIns="0" rIns="0" tIns="0" bIns="0">
            <a:spAutoFit/>
          </a:bodyPr>
          <a:lstStyle/>
          <a:p>
            <a:pPr algn="l">
              <a:lnSpc>
                <a:spcPct val="98000"/>
              </a:lnSpc>
              <a:spcAft>
                <a:spcPts val="600"/>
              </a:spcAft>
            </a:pPr>
            <a:r>
              <a:rPr sz="3800" b="1" i="0">
                <a:solidFill>
                  <a:srgbClr val="1F3A5F"/>
                </a:solidFill>
                <a:latin typeface="Barlow Condensed"/>
              </a:rPr>
              <a:t>A same-archive test cannot validate a new domain</a:t>
            </a:r>
          </a:p>
        </p:txBody>
      </p:sp>
      <p:sp>
        <p:nvSpPr>
          <p:cNvPr id="4" name="TextBox 3"/>
          <p:cNvSpPr txBox="1"/>
          <p:nvPr/>
        </p:nvSpPr>
        <p:spPr>
          <a:xfrm>
            <a:off x="658368" y="1207008"/>
            <a:ext cx="10881360" cy="457200"/>
          </a:xfrm>
          <a:prstGeom prst="rect">
            <a:avLst/>
          </a:prstGeom>
          <a:noFill/>
        </p:spPr>
        <p:txBody>
          <a:bodyPr wrap="square" anchor="t" lIns="0" rIns="0" tIns="0" bIns="0">
            <a:spAutoFit/>
          </a:bodyPr>
          <a:lstStyle/>
          <a:p>
            <a:pPr algn="l">
              <a:lnSpc>
                <a:spcPct val="115000"/>
              </a:lnSpc>
              <a:spcAft>
                <a:spcPts val="600"/>
              </a:spcAft>
            </a:pPr>
            <a:r>
              <a:rPr sz="1700" b="0" i="0">
                <a:solidFill>
                  <a:srgbClr val="6B7280"/>
                </a:solidFill>
                <a:latin typeface="Arial"/>
              </a:rPr>
              <a:t>93.8% answers a narrower question</a:t>
            </a:r>
          </a:p>
        </p:txBody>
      </p:sp>
      <p:sp>
        <p:nvSpPr>
          <p:cNvPr id="5" name="Rounded Rectangle 4"/>
          <p:cNvSpPr/>
          <p:nvPr/>
        </p:nvSpPr>
        <p:spPr>
          <a:xfrm>
            <a:off x="658368" y="1956816"/>
            <a:ext cx="5349240" cy="3383280"/>
          </a:xfrm>
          <a:prstGeom prst="roundRect">
            <a:avLst>
              <a:gd name="adj" fmla="val 3500"/>
            </a:avLst>
          </a:prstGeom>
          <a:solidFill>
            <a:srgbClr val="F4F6F8"/>
          </a:solidFill>
          <a:ln w="15875">
            <a:solidFill>
              <a:srgbClr val="E6E8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2688" y="2176272"/>
            <a:ext cx="4800600"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1F3A5F"/>
                </a:solidFill>
                <a:latin typeface="Barlow Condensed"/>
              </a:rPr>
              <a:t>VALID CLAIM</a:t>
            </a:r>
          </a:p>
        </p:txBody>
      </p:sp>
      <p:sp>
        <p:nvSpPr>
          <p:cNvPr id="7" name="TextBox 6"/>
          <p:cNvSpPr txBox="1"/>
          <p:nvPr/>
        </p:nvSpPr>
        <p:spPr>
          <a:xfrm>
            <a:off x="932688" y="2615184"/>
            <a:ext cx="4800600" cy="2468880"/>
          </a:xfrm>
          <a:prstGeom prst="rect">
            <a:avLst/>
          </a:prstGeom>
          <a:noFill/>
        </p:spPr>
        <p:txBody>
          <a:bodyPr wrap="square" anchor="t" lIns="0" rIns="0" tIns="0" bIns="0">
            <a:spAutoFit/>
          </a:bodyPr>
          <a:lstStyle/>
          <a:p>
            <a:pPr algn="l">
              <a:lnSpc>
                <a:spcPct val="118000"/>
              </a:lnSpc>
              <a:spcAft>
                <a:spcPts val="700"/>
              </a:spcAft>
            </a:pPr>
            <a:r>
              <a:rPr sz="1900" b="0" i="0">
                <a:solidFill>
                  <a:srgbClr val="2B2F36"/>
                </a:solidFill>
                <a:latin typeface="Arial"/>
              </a:rPr>
              <a:t>The model scored 93.8% on held-out images sampled from its disclosed archive.</a:t>
            </a:r>
          </a:p>
        </p:txBody>
      </p:sp>
      <p:sp>
        <p:nvSpPr>
          <p:cNvPr id="8" name="Rounded Rectangle 7"/>
          <p:cNvSpPr/>
          <p:nvPr/>
        </p:nvSpPr>
        <p:spPr>
          <a:xfrm>
            <a:off x="6144768" y="1956816"/>
            <a:ext cx="5367528" cy="3383280"/>
          </a:xfrm>
          <a:prstGeom prst="roundRect">
            <a:avLst>
              <a:gd name="adj" fmla="val 3500"/>
            </a:avLst>
          </a:prstGeom>
          <a:solidFill>
            <a:srgbClr val="FFF1E8"/>
          </a:solidFill>
          <a:ln w="15875">
            <a:solidFill>
              <a:srgbClr val="F26B1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19088" y="2176272"/>
            <a:ext cx="4818888"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26B1D"/>
                </a:solidFill>
                <a:latin typeface="Barlow Condensed"/>
              </a:rPr>
              <a:t>UNSUPPORTED LEAP</a:t>
            </a:r>
          </a:p>
        </p:txBody>
      </p:sp>
      <p:sp>
        <p:nvSpPr>
          <p:cNvPr id="10" name="TextBox 9"/>
          <p:cNvSpPr txBox="1"/>
          <p:nvPr/>
        </p:nvSpPr>
        <p:spPr>
          <a:xfrm>
            <a:off x="6419088" y="2615184"/>
            <a:ext cx="4818888" cy="2468880"/>
          </a:xfrm>
          <a:prstGeom prst="rect">
            <a:avLst/>
          </a:prstGeom>
          <a:noFill/>
        </p:spPr>
        <p:txBody>
          <a:bodyPr wrap="square" anchor="t" lIns="0" rIns="0" tIns="0" bIns="0">
            <a:spAutoFit/>
          </a:bodyPr>
          <a:lstStyle/>
          <a:p>
            <a:pPr algn="l">
              <a:lnSpc>
                <a:spcPct val="118000"/>
              </a:lnSpc>
              <a:spcAft>
                <a:spcPts val="700"/>
              </a:spcAft>
            </a:pPr>
            <a:r>
              <a:rPr sz="1900" b="0" i="0">
                <a:solidFill>
                  <a:srgbClr val="2B2F36"/>
                </a:solidFill>
                <a:latin typeface="Arial"/>
              </a:rPr>
              <a:t>Therefore all 12 Minnesota lift-bridge ratings are reliable at 93–97%.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57200"/>
            <a:ext cx="10881360" cy="777240"/>
          </a:xfrm>
          <a:prstGeom prst="rect">
            <a:avLst/>
          </a:prstGeom>
          <a:noFill/>
        </p:spPr>
        <p:txBody>
          <a:bodyPr wrap="square" anchor="t" lIns="0" rIns="0" tIns="0" bIns="0">
            <a:spAutoFit/>
          </a:bodyPr>
          <a:lstStyle/>
          <a:p>
            <a:pPr algn="l">
              <a:lnSpc>
                <a:spcPct val="98000"/>
              </a:lnSpc>
              <a:spcAft>
                <a:spcPts val="600"/>
              </a:spcAft>
            </a:pPr>
            <a:r>
              <a:rPr sz="3800" b="1" i="0">
                <a:solidFill>
                  <a:srgbClr val="1F3A5F"/>
                </a:solidFill>
                <a:latin typeface="Barlow Condensed"/>
              </a:rPr>
              <a:t>The machinery ratings cross a hard coverage gap</a:t>
            </a:r>
          </a:p>
        </p:txBody>
      </p:sp>
      <p:sp>
        <p:nvSpPr>
          <p:cNvPr id="4" name="Rounded Rectangle 3"/>
          <p:cNvSpPr/>
          <p:nvPr/>
        </p:nvSpPr>
        <p:spPr>
          <a:xfrm>
            <a:off x="658368" y="1389888"/>
            <a:ext cx="5349240" cy="3429000"/>
          </a:xfrm>
          <a:prstGeom prst="roundRect">
            <a:avLst>
              <a:gd name="adj" fmla="val 3500"/>
            </a:avLst>
          </a:prstGeom>
          <a:solidFill>
            <a:srgbClr val="FFF6E5"/>
          </a:solidFill>
          <a:ln w="15875">
            <a:solidFill>
              <a:srgbClr val="F2C2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2688" y="1609344"/>
            <a:ext cx="4800600"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2B2F36"/>
                </a:solidFill>
                <a:latin typeface="Barlow Condensed"/>
              </a:rPr>
              <a:t>PROVISIONAL TRIAGE</a:t>
            </a:r>
          </a:p>
        </p:txBody>
      </p:sp>
      <p:sp>
        <p:nvSpPr>
          <p:cNvPr id="6" name="TextBox 5"/>
          <p:cNvSpPr txBox="1"/>
          <p:nvPr/>
        </p:nvSpPr>
        <p:spPr>
          <a:xfrm>
            <a:off x="932688" y="2048256"/>
            <a:ext cx="4800600" cy="2514600"/>
          </a:xfrm>
          <a:prstGeom prst="rect">
            <a:avLst/>
          </a:prstGeom>
          <a:noFill/>
        </p:spPr>
        <p:txBody>
          <a:bodyPr wrap="square" anchor="t" lIns="0" rIns="0" tIns="0" bIns="0">
            <a:spAutoFit/>
          </a:bodyPr>
          <a:lstStyle/>
          <a:p>
            <a:pPr algn="l">
              <a:lnSpc>
                <a:spcPct val="118000"/>
              </a:lnSpc>
              <a:spcAft>
                <a:spcPts val="700"/>
              </a:spcAft>
            </a:pPr>
            <a:r>
              <a:rPr sz="1700" b="0" i="0">
                <a:solidFill>
                  <a:srgbClr val="2B2F36"/>
                </a:solidFill>
                <a:latin typeface="Arial"/>
              </a:rPr>
              <a:t>001–004 use familiar fixed-girder or deck categories</a:t>
            </a:r>
          </a:p>
          <a:p>
            <a:pPr algn="l">
              <a:lnSpc>
                <a:spcPct val="118000"/>
              </a:lnSpc>
              <a:spcAft>
                <a:spcPts val="700"/>
              </a:spcAft>
            </a:pPr>
            <a:r>
              <a:rPr sz="1700" b="0" i="0">
                <a:solidFill>
                  <a:srgbClr val="2B2F36"/>
                </a:solidFill>
                <a:latin typeface="Arial"/>
              </a:rPr>
              <a:t>Climate and whole-asset shift still require an explicit limit</a:t>
            </a:r>
          </a:p>
        </p:txBody>
      </p:sp>
      <p:sp>
        <p:nvSpPr>
          <p:cNvPr id="7" name="Rounded Rectangle 6"/>
          <p:cNvSpPr/>
          <p:nvPr/>
        </p:nvSpPr>
        <p:spPr>
          <a:xfrm>
            <a:off x="6144768" y="1389888"/>
            <a:ext cx="5367528" cy="3429000"/>
          </a:xfrm>
          <a:prstGeom prst="roundRect">
            <a:avLst>
              <a:gd name="adj" fmla="val 3500"/>
            </a:avLst>
          </a:prstGeom>
          <a:solidFill>
            <a:srgbClr val="FFF1E8"/>
          </a:solidFill>
          <a:ln w="15875">
            <a:solidFill>
              <a:srgbClr val="F26B1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19088" y="1609344"/>
            <a:ext cx="4818888"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26B1D"/>
                </a:solidFill>
                <a:latin typeface="Barlow Condensed"/>
              </a:rPr>
              <a:t>WITHHOLD + REVIEW</a:t>
            </a:r>
          </a:p>
        </p:txBody>
      </p:sp>
      <p:sp>
        <p:nvSpPr>
          <p:cNvPr id="9" name="TextBox 8"/>
          <p:cNvSpPr txBox="1"/>
          <p:nvPr/>
        </p:nvSpPr>
        <p:spPr>
          <a:xfrm>
            <a:off x="6419088" y="2048256"/>
            <a:ext cx="4818888" cy="2514600"/>
          </a:xfrm>
          <a:prstGeom prst="rect">
            <a:avLst/>
          </a:prstGeom>
          <a:noFill/>
        </p:spPr>
        <p:txBody>
          <a:bodyPr wrap="square" anchor="t" lIns="0" rIns="0" tIns="0" bIns="0">
            <a:spAutoFit/>
          </a:bodyPr>
          <a:lstStyle/>
          <a:p>
            <a:pPr algn="l">
              <a:lnSpc>
                <a:spcPct val="118000"/>
              </a:lnSpc>
              <a:spcAft>
                <a:spcPts val="700"/>
              </a:spcAft>
            </a:pPr>
            <a:r>
              <a:rPr sz="1700" b="0" i="0">
                <a:solidFill>
                  <a:srgbClr val="2B2F36"/>
                </a:solidFill>
                <a:latin typeface="Arial"/>
              </a:rPr>
              <a:t>005–006 tower structure is outside the listed taxonomy</a:t>
            </a:r>
          </a:p>
          <a:p>
            <a:pPr algn="l">
              <a:lnSpc>
                <a:spcPct val="118000"/>
              </a:lnSpc>
              <a:spcAft>
                <a:spcPts val="700"/>
              </a:spcAft>
            </a:pPr>
            <a:r>
              <a:rPr sz="1700" b="0" i="0">
                <a:solidFill>
                  <a:srgbClr val="2B2F36"/>
                </a:solidFill>
                <a:latin typeface="Arial"/>
              </a:rPr>
              <a:t>007–012 machinery categories are absent from training labels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B2F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2103120"/>
            <a:ext cx="10149840" cy="2560320"/>
          </a:xfrm>
          <a:prstGeom prst="rect">
            <a:avLst/>
          </a:prstGeom>
          <a:noFill/>
        </p:spPr>
        <p:txBody>
          <a:bodyPr wrap="square" anchor="ctr" lIns="0" rIns="0" tIns="0" bIns="0">
            <a:spAutoFit/>
          </a:bodyPr>
          <a:lstStyle/>
          <a:p>
            <a:pPr algn="l">
              <a:lnSpc>
                <a:spcPct val="106000"/>
              </a:lnSpc>
              <a:spcAft>
                <a:spcPts val="600"/>
              </a:spcAft>
            </a:pPr>
            <a:r>
              <a:rPr sz="4200" b="1" i="0">
                <a:solidFill>
                  <a:srgbClr val="FFFFFF"/>
                </a:solidFill>
                <a:latin typeface="Barlow Condensed"/>
              </a:rPr>
              <a:t>High confidence can describe
an unsupported choice among known labels.</a:t>
            </a:r>
          </a:p>
        </p:txBody>
      </p:sp>
      <p:sp>
        <p:nvSpPr>
          <p:cNvPr id="4" name="TextBox 3"/>
          <p:cNvSpPr txBox="1"/>
          <p:nvPr/>
        </p:nvSpPr>
        <p:spPr>
          <a:xfrm>
            <a:off x="1005840" y="4800600"/>
            <a:ext cx="10149840" cy="457200"/>
          </a:xfrm>
          <a:prstGeom prst="rect">
            <a:avLst/>
          </a:prstGeom>
          <a:noFill/>
        </p:spPr>
        <p:txBody>
          <a:bodyPr wrap="square" anchor="t" lIns="0" rIns="0" tIns="0" bIns="0">
            <a:spAutoFit/>
          </a:bodyPr>
          <a:lstStyle/>
          <a:p>
            <a:pPr algn="l">
              <a:lnSpc>
                <a:spcPct val="100000"/>
              </a:lnSpc>
              <a:spcAft>
                <a:spcPts val="600"/>
              </a:spcAft>
            </a:pPr>
            <a:r>
              <a:rPr sz="1700" b="0" i="1">
                <a:solidFill>
                  <a:srgbClr val="6F8FAF"/>
                </a:solidFill>
                <a:latin typeface="Arial"/>
              </a:rPr>
              <a:t>The score does not measure what the model never learned.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57200"/>
            <a:ext cx="10881360" cy="777240"/>
          </a:xfrm>
          <a:prstGeom prst="rect">
            <a:avLst/>
          </a:prstGeom>
          <a:noFill/>
        </p:spPr>
        <p:txBody>
          <a:bodyPr wrap="square" anchor="t" lIns="0" rIns="0" tIns="0" bIns="0">
            <a:spAutoFit/>
          </a:bodyPr>
          <a:lstStyle/>
          <a:p>
            <a:pPr algn="l">
              <a:lnSpc>
                <a:spcPct val="98000"/>
              </a:lnSpc>
              <a:spcAft>
                <a:spcPts val="600"/>
              </a:spcAft>
            </a:pPr>
            <a:r>
              <a:rPr sz="3800" b="1" i="0">
                <a:solidFill>
                  <a:srgbClr val="1F3A5F"/>
                </a:solidFill>
                <a:latin typeface="Barlow Condensed"/>
              </a:rPr>
              <a:t>A bounded action preserves use without pretending</a:t>
            </a:r>
          </a:p>
        </p:txBody>
      </p:sp>
      <p:sp>
        <p:nvSpPr>
          <p:cNvPr id="4" name="Rounded Rectangle 3"/>
          <p:cNvSpPr/>
          <p:nvPr/>
        </p:nvSpPr>
        <p:spPr>
          <a:xfrm>
            <a:off x="658368" y="1389888"/>
            <a:ext cx="10853928" cy="2514600"/>
          </a:xfrm>
          <a:prstGeom prst="roundRect">
            <a:avLst>
              <a:gd name="adj" fmla="val 3500"/>
            </a:avLst>
          </a:prstGeom>
          <a:solidFill>
            <a:srgbClr val="EEF3F8"/>
          </a:solidFill>
          <a:ln w="15875">
            <a:solidFill>
              <a:srgbClr val="3A7D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2688" y="1609344"/>
            <a:ext cx="10305288"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1F3A5F"/>
                </a:solidFill>
                <a:latin typeface="Barlow Condensed"/>
              </a:rPr>
              <a:t>MODEL DECISION — NOT THE ONLY FULL-CREDIT WORDING</a:t>
            </a:r>
          </a:p>
        </p:txBody>
      </p:sp>
      <p:sp>
        <p:nvSpPr>
          <p:cNvPr id="6" name="TextBox 5"/>
          <p:cNvSpPr txBox="1"/>
          <p:nvPr/>
        </p:nvSpPr>
        <p:spPr>
          <a:xfrm>
            <a:off x="932688" y="2048256"/>
            <a:ext cx="10305288" cy="1600200"/>
          </a:xfrm>
          <a:prstGeom prst="rect">
            <a:avLst/>
          </a:prstGeom>
          <a:noFill/>
        </p:spPr>
        <p:txBody>
          <a:bodyPr wrap="square" anchor="t" lIns="0" rIns="0" tIns="0" bIns="0">
            <a:spAutoFit/>
          </a:bodyPr>
          <a:lstStyle/>
          <a:p>
            <a:pPr algn="l">
              <a:lnSpc>
                <a:spcPct val="118000"/>
              </a:lnSpc>
              <a:spcAft>
                <a:spcPts val="700"/>
              </a:spcAft>
            </a:pPr>
            <a:r>
              <a:rPr sz="1800" b="0" i="0">
                <a:solidFill>
                  <a:srgbClr val="2B2F36"/>
                </a:solidFill>
                <a:latin typeface="Arial"/>
              </a:rPr>
              <a:t>“Withhold the all-clear. The disclosed archive contains no movable bridges or moving-machinery labels and little comparable climate exposure. Route images 005–012 to qualified review; retain 001–004 only as provisional triage with the coverage limits visible.”</a:t>
            </a:r>
          </a:p>
        </p:txBody>
      </p:sp>
      <p:sp>
        <p:nvSpPr>
          <p:cNvPr id="7" name="Rounded Rectangle 6"/>
          <p:cNvSpPr/>
          <p:nvPr/>
        </p:nvSpPr>
        <p:spPr>
          <a:xfrm>
            <a:off x="658368" y="4224528"/>
            <a:ext cx="10853928" cy="1234440"/>
          </a:xfrm>
          <a:prstGeom prst="roundRect">
            <a:avLst>
              <a:gd name="adj" fmla="val 3500"/>
            </a:avLst>
          </a:prstGeom>
          <a:solidFill>
            <a:srgbClr val="FFF6E5"/>
          </a:solidFill>
          <a:ln w="15875">
            <a:solidFill>
              <a:srgbClr val="F2C2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32688" y="4443984"/>
            <a:ext cx="10305288"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6B7280"/>
                </a:solidFill>
                <a:latin typeface="Barlow Condensed"/>
              </a:rPr>
              <a:t>DO NOT CLAIM</a:t>
            </a:r>
          </a:p>
        </p:txBody>
      </p:sp>
      <p:sp>
        <p:nvSpPr>
          <p:cNvPr id="9" name="TextBox 8"/>
          <p:cNvSpPr txBox="1"/>
          <p:nvPr/>
        </p:nvSpPr>
        <p:spPr>
          <a:xfrm>
            <a:off x="932688" y="4882896"/>
            <a:ext cx="10305288" cy="320040"/>
          </a:xfrm>
          <a:prstGeom prst="rect">
            <a:avLst/>
          </a:prstGeom>
          <a:noFill/>
        </p:spPr>
        <p:txBody>
          <a:bodyPr wrap="square" anchor="t" lIns="0" rIns="0" tIns="0" bIns="0">
            <a:spAutoFit/>
          </a:bodyPr>
          <a:lstStyle/>
          <a:p>
            <a:pPr algn="l">
              <a:lnSpc>
                <a:spcPct val="118000"/>
              </a:lnSpc>
              <a:spcAft>
                <a:spcPts val="700"/>
              </a:spcAft>
            </a:pPr>
            <a:r>
              <a:rPr sz="1500" b="0" i="0">
                <a:solidFill>
                  <a:srgbClr val="2B2F36"/>
                </a:solidFill>
                <a:latin typeface="Arial"/>
              </a:rPr>
              <a:t>This audit proves a defect exists. It proves the all-clear is not supported by this model record.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57200"/>
            <a:ext cx="10881360" cy="777240"/>
          </a:xfrm>
          <a:prstGeom prst="rect">
            <a:avLst/>
          </a:prstGeom>
          <a:noFill/>
        </p:spPr>
        <p:txBody>
          <a:bodyPr wrap="square" anchor="t" lIns="0" rIns="0" tIns="0" bIns="0">
            <a:spAutoFit/>
          </a:bodyPr>
          <a:lstStyle/>
          <a:p>
            <a:pPr algn="l">
              <a:lnSpc>
                <a:spcPct val="98000"/>
              </a:lnSpc>
              <a:spcAft>
                <a:spcPts val="600"/>
              </a:spcAft>
            </a:pPr>
            <a:r>
              <a:rPr sz="3800" b="1" i="0">
                <a:solidFill>
                  <a:srgbClr val="1F3A5F"/>
                </a:solidFill>
                <a:latin typeface="Barlow Condensed"/>
              </a:rPr>
              <a:t>Wes's memo passed—and remains wrong</a:t>
            </a:r>
          </a:p>
        </p:txBody>
      </p:sp>
      <p:sp>
        <p:nvSpPr>
          <p:cNvPr id="4" name="Rounded Rectangle 3"/>
          <p:cNvSpPr/>
          <p:nvPr/>
        </p:nvSpPr>
        <p:spPr>
          <a:xfrm>
            <a:off x="658368" y="1389888"/>
            <a:ext cx="5349240" cy="3200400"/>
          </a:xfrm>
          <a:prstGeom prst="roundRect">
            <a:avLst>
              <a:gd name="adj" fmla="val 3500"/>
            </a:avLst>
          </a:prstGeom>
          <a:solidFill>
            <a:srgbClr val="EEF3F8"/>
          </a:solidFill>
          <a:ln w="15875">
            <a:solidFill>
              <a:srgbClr val="3A7D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2688" y="1609344"/>
            <a:ext cx="4800600"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1F3A5F"/>
                </a:solidFill>
                <a:latin typeface="Barlow Condensed"/>
              </a:rPr>
              <a:t>WES TANAKA, EIT</a:t>
            </a:r>
          </a:p>
        </p:txBody>
      </p:sp>
      <p:sp>
        <p:nvSpPr>
          <p:cNvPr id="6" name="TextBox 5"/>
          <p:cNvSpPr txBox="1"/>
          <p:nvPr/>
        </p:nvSpPr>
        <p:spPr>
          <a:xfrm>
            <a:off x="932688" y="2048256"/>
            <a:ext cx="4800600" cy="2286000"/>
          </a:xfrm>
          <a:prstGeom prst="rect">
            <a:avLst/>
          </a:prstGeom>
          <a:noFill/>
        </p:spPr>
        <p:txBody>
          <a:bodyPr wrap="square" anchor="t" lIns="0" rIns="0" tIns="0" bIns="0">
            <a:spAutoFit/>
          </a:bodyPr>
          <a:lstStyle/>
          <a:p>
            <a:pPr algn="l">
              <a:lnSpc>
                <a:spcPct val="118000"/>
              </a:lnSpc>
              <a:spcAft>
                <a:spcPts val="700"/>
              </a:spcAft>
            </a:pPr>
            <a:r>
              <a:rPr sz="1700" b="0" i="0">
                <a:solidFill>
                  <a:srgbClr val="2B2F36"/>
                </a:solidFill>
                <a:latin typeface="Arial"/>
              </a:rPr>
              <a:t>Polished summary</a:t>
            </a:r>
          </a:p>
          <a:p>
            <a:pPr algn="l">
              <a:lnSpc>
                <a:spcPct val="118000"/>
              </a:lnSpc>
              <a:spcAft>
                <a:spcPts val="700"/>
              </a:spcAft>
            </a:pPr>
            <a:r>
              <a:rPr sz="1700" b="0" i="0">
                <a:solidFill>
                  <a:srgbClr val="2B2F36"/>
                </a:solidFill>
                <a:latin typeface="Arial"/>
              </a:rPr>
              <a:t>Exact confidence range</a:t>
            </a:r>
          </a:p>
          <a:p>
            <a:pPr algn="l">
              <a:lnSpc>
                <a:spcPct val="118000"/>
              </a:lnSpc>
              <a:spcAft>
                <a:spcPts val="700"/>
              </a:spcAft>
            </a:pPr>
            <a:r>
              <a:rPr sz="1700" b="0" i="0">
                <a:solidFill>
                  <a:srgbClr val="2B2F36"/>
                </a:solidFill>
                <a:latin typeface="Arial"/>
              </a:rPr>
              <a:t>No coverage comparison</a:t>
            </a:r>
          </a:p>
          <a:p>
            <a:pPr algn="l">
              <a:lnSpc>
                <a:spcPct val="118000"/>
              </a:lnSpc>
              <a:spcAft>
                <a:spcPts val="700"/>
              </a:spcAft>
            </a:pPr>
            <a:r>
              <a:rPr sz="1700" b="0" i="0">
                <a:solidFill>
                  <a:srgbClr val="2B2F36"/>
                </a:solidFill>
                <a:latin typeface="Arial"/>
              </a:rPr>
              <a:t>Recommendation outruns evidence</a:t>
            </a:r>
          </a:p>
        </p:txBody>
      </p:sp>
      <p:sp>
        <p:nvSpPr>
          <p:cNvPr id="7" name="Rounded Rectangle 6"/>
          <p:cNvSpPr/>
          <p:nvPr/>
        </p:nvSpPr>
        <p:spPr>
          <a:xfrm>
            <a:off x="6144768" y="1389888"/>
            <a:ext cx="5367528" cy="3200400"/>
          </a:xfrm>
          <a:prstGeom prst="roundRect">
            <a:avLst>
              <a:gd name="adj" fmla="val 3500"/>
            </a:avLst>
          </a:prstGeom>
          <a:solidFill>
            <a:srgbClr val="EEF3F8"/>
          </a:solidFill>
          <a:ln w="15875">
            <a:solidFill>
              <a:srgbClr val="3A7D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19088" y="1609344"/>
            <a:ext cx="4818888"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1F3A5F"/>
                </a:solidFill>
                <a:latin typeface="Barlow Condensed"/>
              </a:rPr>
              <a:t>DIANE HALVORSEN, PE</a:t>
            </a:r>
          </a:p>
        </p:txBody>
      </p:sp>
      <p:sp>
        <p:nvSpPr>
          <p:cNvPr id="9" name="TextBox 8"/>
          <p:cNvSpPr txBox="1"/>
          <p:nvPr/>
        </p:nvSpPr>
        <p:spPr>
          <a:xfrm>
            <a:off x="6419088" y="2048256"/>
            <a:ext cx="4818888" cy="2286000"/>
          </a:xfrm>
          <a:prstGeom prst="rect">
            <a:avLst/>
          </a:prstGeom>
          <a:noFill/>
        </p:spPr>
        <p:txBody>
          <a:bodyPr wrap="square" anchor="t" lIns="0" rIns="0" tIns="0" bIns="0">
            <a:spAutoFit/>
          </a:bodyPr>
          <a:lstStyle/>
          <a:p>
            <a:pPr algn="l">
              <a:lnSpc>
                <a:spcPct val="118000"/>
              </a:lnSpc>
              <a:spcAft>
                <a:spcPts val="700"/>
              </a:spcAft>
            </a:pPr>
            <a:r>
              <a:rPr sz="1700" b="0" i="0">
                <a:solidFill>
                  <a:srgbClr val="2B2F36"/>
                </a:solidFill>
                <a:latin typeface="Arial"/>
              </a:rPr>
              <a:t>Believer mode</a:t>
            </a:r>
          </a:p>
          <a:p>
            <a:pPr algn="l">
              <a:lnSpc>
                <a:spcPct val="118000"/>
              </a:lnSpc>
              <a:spcAft>
                <a:spcPts val="700"/>
              </a:spcAft>
            </a:pPr>
            <a:r>
              <a:rPr sz="1700" b="0" i="0">
                <a:solidFill>
                  <a:srgbClr val="2B2F36"/>
                </a:solidFill>
                <a:latin typeface="Arial"/>
              </a:rPr>
              <a:t>Schedule pressure</a:t>
            </a:r>
          </a:p>
          <a:p>
            <a:pPr algn="l">
              <a:lnSpc>
                <a:spcPct val="118000"/>
              </a:lnSpc>
              <a:spcAft>
                <a:spcPts val="700"/>
              </a:spcAft>
            </a:pPr>
            <a:r>
              <a:rPr sz="1700" b="0" i="0">
                <a:solidFill>
                  <a:srgbClr val="2B2F36"/>
                </a:solidFill>
                <a:latin typeface="Arial"/>
              </a:rPr>
              <a:t>Approval is an organizational event</a:t>
            </a:r>
          </a:p>
          <a:p>
            <a:pPr algn="l">
              <a:lnSpc>
                <a:spcPct val="118000"/>
              </a:lnSpc>
              <a:spcAft>
                <a:spcPts val="700"/>
              </a:spcAft>
            </a:pPr>
            <a:r>
              <a:rPr sz="1700" b="0" i="0">
                <a:solidFill>
                  <a:srgbClr val="2B2F36"/>
                </a:solidFill>
                <a:latin typeface="Arial"/>
              </a:rPr>
              <a:t>Approval is not validation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685800"/>
            <a:ext cx="10424160" cy="731520"/>
          </a:xfrm>
          <a:prstGeom prst="rect">
            <a:avLst/>
          </a:prstGeom>
          <a:noFill/>
        </p:spPr>
        <p:txBody>
          <a:bodyPr wrap="square" anchor="t" lIns="0" rIns="0" tIns="0" bIns="0">
            <a:spAutoFit/>
          </a:bodyPr>
          <a:lstStyle/>
          <a:p>
            <a:pPr algn="l">
              <a:lnSpc>
                <a:spcPct val="100000"/>
              </a:lnSpc>
              <a:spcAft>
                <a:spcPts val="600"/>
              </a:spcAft>
            </a:pPr>
            <a:r>
              <a:rPr sz="3800" b="1" i="0">
                <a:solidFill>
                  <a:srgbClr val="FFFFFF"/>
                </a:solidFill>
                <a:latin typeface="Barlow Condensed"/>
              </a:rPr>
              <a:t>Close M07</a:t>
            </a:r>
          </a:p>
        </p:txBody>
      </p:sp>
      <p:sp>
        <p:nvSpPr>
          <p:cNvPr id="4" name="TextBox 3"/>
          <p:cNvSpPr txBox="1"/>
          <p:nvPr/>
        </p:nvSpPr>
        <p:spPr>
          <a:xfrm>
            <a:off x="868680" y="1737360"/>
            <a:ext cx="2743200" cy="457200"/>
          </a:xfrm>
          <a:prstGeom prst="rect">
            <a:avLst/>
          </a:prstGeom>
          <a:noFill/>
        </p:spPr>
        <p:txBody>
          <a:bodyPr wrap="square" anchor="t" lIns="0" rIns="0" tIns="0" bIns="0">
            <a:spAutoFit/>
          </a:bodyPr>
          <a:lstStyle/>
          <a:p>
            <a:pPr algn="l">
              <a:lnSpc>
                <a:spcPct val="100000"/>
              </a:lnSpc>
              <a:spcAft>
                <a:spcPts val="600"/>
              </a:spcAft>
            </a:pPr>
            <a:r>
              <a:rPr sz="1900" b="1" i="0">
                <a:solidFill>
                  <a:srgbClr val="F26B1D"/>
                </a:solidFill>
                <a:latin typeface="Barlow Condensed"/>
              </a:rPr>
              <a:t>NOTE v2</a:t>
            </a:r>
          </a:p>
        </p:txBody>
      </p:sp>
      <p:sp>
        <p:nvSpPr>
          <p:cNvPr id="5" name="TextBox 4"/>
          <p:cNvSpPr txBox="1"/>
          <p:nvPr/>
        </p:nvSpPr>
        <p:spPr>
          <a:xfrm>
            <a:off x="3749039" y="1700784"/>
            <a:ext cx="7589520" cy="822960"/>
          </a:xfrm>
          <a:prstGeom prst="rect">
            <a:avLst/>
          </a:prstGeom>
          <a:noFill/>
        </p:spPr>
        <p:txBody>
          <a:bodyPr wrap="square" anchor="t" lIns="0" rIns="0" tIns="0" bIns="0">
            <a:spAutoFit/>
          </a:bodyPr>
          <a:lstStyle/>
          <a:p>
            <a:pPr algn="l">
              <a:lnSpc>
                <a:spcPct val="115000"/>
              </a:lnSpc>
              <a:spcAft>
                <a:spcPts val="600"/>
              </a:spcAft>
            </a:pPr>
            <a:r>
              <a:rPr sz="1800" b="0" i="0">
                <a:solidFill>
                  <a:srgbClr val="FFFFFF"/>
                </a:solidFill>
                <a:latin typeface="Arial"/>
              </a:rPr>
              <a:t>Claim, check, result—the evidence boundary belongs in the record.</a:t>
            </a:r>
          </a:p>
        </p:txBody>
      </p:sp>
      <p:sp>
        <p:nvSpPr>
          <p:cNvPr id="6" name="TextBox 5"/>
          <p:cNvSpPr txBox="1"/>
          <p:nvPr/>
        </p:nvSpPr>
        <p:spPr>
          <a:xfrm>
            <a:off x="868680" y="2606039"/>
            <a:ext cx="2743200" cy="457200"/>
          </a:xfrm>
          <a:prstGeom prst="rect">
            <a:avLst/>
          </a:prstGeom>
          <a:noFill/>
        </p:spPr>
        <p:txBody>
          <a:bodyPr wrap="square" anchor="t" lIns="0" rIns="0" tIns="0" bIns="0">
            <a:spAutoFit/>
          </a:bodyPr>
          <a:lstStyle/>
          <a:p>
            <a:pPr algn="l">
              <a:lnSpc>
                <a:spcPct val="100000"/>
              </a:lnSpc>
              <a:spcAft>
                <a:spcPts val="600"/>
              </a:spcAft>
            </a:pPr>
            <a:r>
              <a:rPr sz="1900" b="1" i="0">
                <a:solidFill>
                  <a:srgbClr val="F26B1D"/>
                </a:solidFill>
                <a:latin typeface="Barlow Condensed"/>
              </a:rPr>
              <a:t>HOURS</a:t>
            </a:r>
          </a:p>
        </p:txBody>
      </p:sp>
      <p:sp>
        <p:nvSpPr>
          <p:cNvPr id="7" name="TextBox 6"/>
          <p:cNvSpPr txBox="1"/>
          <p:nvPr/>
        </p:nvSpPr>
        <p:spPr>
          <a:xfrm>
            <a:off x="3749039" y="2569463"/>
            <a:ext cx="7589520" cy="822960"/>
          </a:xfrm>
          <a:prstGeom prst="rect">
            <a:avLst/>
          </a:prstGeom>
          <a:noFill/>
        </p:spPr>
        <p:txBody>
          <a:bodyPr wrap="square" anchor="t" lIns="0" rIns="0" tIns="0" bIns="0">
            <a:spAutoFit/>
          </a:bodyPr>
          <a:lstStyle/>
          <a:p>
            <a:pPr algn="l">
              <a:lnSpc>
                <a:spcPct val="115000"/>
              </a:lnSpc>
              <a:spcAft>
                <a:spcPts val="600"/>
              </a:spcAft>
            </a:pPr>
            <a:r>
              <a:rPr sz="1800" b="0" i="0">
                <a:solidFill>
                  <a:srgbClr val="FFFFFF"/>
                </a:solidFill>
                <a:latin typeface="Arial"/>
              </a:rPr>
              <a:t>Choose the next check; project hours shape priority and are not points.</a:t>
            </a:r>
          </a:p>
        </p:txBody>
      </p:sp>
      <p:sp>
        <p:nvSpPr>
          <p:cNvPr id="8" name="TextBox 7"/>
          <p:cNvSpPr txBox="1"/>
          <p:nvPr/>
        </p:nvSpPr>
        <p:spPr>
          <a:xfrm>
            <a:off x="868680" y="3474720"/>
            <a:ext cx="2743200" cy="457200"/>
          </a:xfrm>
          <a:prstGeom prst="rect">
            <a:avLst/>
          </a:prstGeom>
          <a:noFill/>
        </p:spPr>
        <p:txBody>
          <a:bodyPr wrap="square" anchor="t" lIns="0" rIns="0" tIns="0" bIns="0">
            <a:spAutoFit/>
          </a:bodyPr>
          <a:lstStyle/>
          <a:p>
            <a:pPr algn="l">
              <a:lnSpc>
                <a:spcPct val="100000"/>
              </a:lnSpc>
              <a:spcAft>
                <a:spcPts val="600"/>
              </a:spcAft>
            </a:pPr>
            <a:r>
              <a:rPr sz="1900" b="1" i="0">
                <a:solidFill>
                  <a:srgbClr val="F26B1D"/>
                </a:solidFill>
                <a:latin typeface="Barlow Condensed"/>
              </a:rPr>
              <a:t>RETAIN</a:t>
            </a:r>
          </a:p>
        </p:txBody>
      </p:sp>
      <p:sp>
        <p:nvSpPr>
          <p:cNvPr id="9" name="TextBox 8"/>
          <p:cNvSpPr txBox="1"/>
          <p:nvPr/>
        </p:nvSpPr>
        <p:spPr>
          <a:xfrm>
            <a:off x="3749039" y="3438144"/>
            <a:ext cx="7589520" cy="822960"/>
          </a:xfrm>
          <a:prstGeom prst="rect">
            <a:avLst/>
          </a:prstGeom>
          <a:noFill/>
        </p:spPr>
        <p:txBody>
          <a:bodyPr wrap="square" anchor="t" lIns="0" rIns="0" tIns="0" bIns="0">
            <a:spAutoFit/>
          </a:bodyPr>
          <a:lstStyle/>
          <a:p>
            <a:pPr algn="l">
              <a:lnSpc>
                <a:spcPct val="115000"/>
              </a:lnSpc>
              <a:spcAft>
                <a:spcPts val="600"/>
              </a:spcAft>
            </a:pPr>
            <a:r>
              <a:rPr sz="1800" b="0" i="0">
                <a:solidFill>
                  <a:srgbClr val="FFFFFF"/>
                </a:solidFill>
                <a:latin typeface="Arial"/>
              </a:rPr>
              <a:t>Keep Wes's accepted memo as one seed inside the existing M13 messy handoff.</a:t>
            </a:r>
          </a:p>
        </p:txBody>
      </p:sp>
      <p:sp>
        <p:nvSpPr>
          <p:cNvPr id="10" name="TextBox 9"/>
          <p:cNvSpPr txBox="1"/>
          <p:nvPr/>
        </p:nvSpPr>
        <p:spPr>
          <a:xfrm>
            <a:off x="868680" y="4343400"/>
            <a:ext cx="2743200" cy="457200"/>
          </a:xfrm>
          <a:prstGeom prst="rect">
            <a:avLst/>
          </a:prstGeom>
          <a:noFill/>
        </p:spPr>
        <p:txBody>
          <a:bodyPr wrap="square" anchor="t" lIns="0" rIns="0" tIns="0" bIns="0">
            <a:spAutoFit/>
          </a:bodyPr>
          <a:lstStyle/>
          <a:p>
            <a:pPr algn="l">
              <a:lnSpc>
                <a:spcPct val="100000"/>
              </a:lnSpc>
              <a:spcAft>
                <a:spcPts val="600"/>
              </a:spcAft>
            </a:pPr>
            <a:r>
              <a:rPr sz="1900" b="1" i="0">
                <a:solidFill>
                  <a:srgbClr val="F26B1D"/>
                </a:solidFill>
                <a:latin typeface="Barlow Condensed"/>
              </a:rPr>
              <a:t>M08</a:t>
            </a:r>
          </a:p>
        </p:txBody>
      </p:sp>
      <p:sp>
        <p:nvSpPr>
          <p:cNvPr id="11" name="TextBox 10"/>
          <p:cNvSpPr txBox="1"/>
          <p:nvPr/>
        </p:nvSpPr>
        <p:spPr>
          <a:xfrm>
            <a:off x="3749039" y="4306824"/>
            <a:ext cx="7589520" cy="822960"/>
          </a:xfrm>
          <a:prstGeom prst="rect">
            <a:avLst/>
          </a:prstGeom>
          <a:noFill/>
        </p:spPr>
        <p:txBody>
          <a:bodyPr wrap="square" anchor="t" lIns="0" rIns="0" tIns="0" bIns="0">
            <a:spAutoFit/>
          </a:bodyPr>
          <a:lstStyle/>
          <a:p>
            <a:pPr algn="l">
              <a:lnSpc>
                <a:spcPct val="115000"/>
              </a:lnSpc>
              <a:spcAft>
                <a:spcPts val="600"/>
              </a:spcAft>
            </a:pPr>
            <a:r>
              <a:rPr sz="1800" b="0" i="0">
                <a:solidFill>
                  <a:srgbClr val="FFFFFF"/>
                </a:solidFill>
                <a:latin typeface="Arial"/>
              </a:rPr>
              <a:t>Lightly hook seasonal change; keep the temperature-as-damage mechanism hidden.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2027-02-23T12:00:00Z</dcterms:created>
  <dcterms:modified xsi:type="dcterms:W3CDTF">2027-02-23T12:00:00Z</dcterms:modified>
  <cp:category/>
</cp:coreProperties>
</file>