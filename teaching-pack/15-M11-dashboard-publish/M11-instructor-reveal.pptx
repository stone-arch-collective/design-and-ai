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OLI CANON SAY — Cloud hard-review PASS.</a:t>
            </a:r>
          </a:p>
          <a:p/>
          <a:p>
            <a:r>
              <a:t>REVEAL — Open only after students commit all five approve/fix/pull decisions and the board-level publish call.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OLI CANON SAY — Cloud hard-review PASS.</a:t>
            </a:r>
          </a:p>
          <a:p/>
          <a:p>
            <a:r>
              <a:t>REVEAL — Designed error one: 87 out of 100 has no definition, formula, inputs, source, or meaningful scale. An aggregate score without a definition is a red flag.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OLI CANON SAY — Cloud hard-review PASS.</a:t>
            </a:r>
          </a:p>
          <a:p/>
          <a:p>
            <a:r>
              <a:t>REVEAL — Designed error two: FOREMAN recycled the raw midspan strain trend from M08 with a red “worsening” arrow. Students already established that the M08 story was temperature, not progressive damage.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OLI CANON SAY — Cloud hard-review PASS.</a:t>
            </a:r>
          </a:p>
          <a:p/>
          <a:p>
            <a:r>
              <a:t>REVEAL — The other tiles can be approve-worthy because they expose definitions, units or denominators, sources, and timestamps. Source quality flags are not a bridge condition rating.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OLI CANON SAY — Cloud hard-review PASS.</a:t>
            </a:r>
          </a:p>
          <a:p/>
          <a:p>
            <a:r>
              <a:t>REVEAL — Compare decisions. Accept FIX or PULL on the two designed errors when the reason and release boundary are specific.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OLI CANON SAY — Cloud hard-review PASS.</a:t>
            </a:r>
          </a:p>
          <a:p/>
          <a:p>
            <a:r>
              <a:t>REVEAL — The strongest-looking claims are the weakest because polish and automation do not substitute for definition and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OLI CANON SAY — Cloud hard-review PASS.</a:t>
            </a:r>
          </a:p>
          <a:p/>
          <a:p>
            <a:r>
              <a:t>NOTE — Diane Halvorsen, PE’s skepticism is justified: the county would have seen an undefined score and a recycled false trend. Grade the record, not agreement with Diane.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OLI CANON SAY — Cloud hard-review PASS.</a:t>
            </a:r>
          </a:p>
          <a:p/>
          <a:p>
            <a:r>
              <a:t>CLOSE — Hand in the completed review form and Note version 2. Undefined aggregate scores and recycled bad trends do not ship to the county. Publish is a human decision.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2F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cmejob-mark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960120"/>
            <a:ext cx="1371600" cy="1371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8680" y="2606040"/>
            <a:ext cx="78638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F26B1D"/>
                </a:solidFill>
                <a:latin typeface="Barlow Condensed"/>
              </a:rPr>
              <a:t>MEETING 11  ·  INSTRUCTOR REVEAL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97180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6000"/>
              </a:lnSpc>
              <a:spcAft>
                <a:spcPts val="600"/>
              </a:spcAft>
            </a:pPr>
            <a:r>
              <a:rPr sz="5800" b="1" i="0">
                <a:solidFill>
                  <a:srgbClr val="FFFFFF"/>
                </a:solidFill>
                <a:latin typeface="Barlow Condensed"/>
              </a:rPr>
              <a:t>Two tiles do not ship.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572000"/>
            <a:ext cx="9326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200" b="0" i="0">
                <a:solidFill>
                  <a:srgbClr val="6F8FAF"/>
                </a:solidFill>
                <a:latin typeface="Arial"/>
              </a:rPr>
              <a:t>Open only after all five review decisions are committed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943600"/>
            <a:ext cx="9326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6B7280"/>
                </a:solidFill>
                <a:latin typeface="Barlow Condensed"/>
              </a:rPr>
              <a:t>M11 · Unit 2: Doubt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3800" b="1" i="0">
                <a:solidFill>
                  <a:srgbClr val="1F3A5F"/>
                </a:solidFill>
                <a:latin typeface="Barlow Condensed"/>
              </a:rPr>
              <a:t>Designed error 1 · an undefined aggregate score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389888"/>
            <a:ext cx="3657600" cy="3291840"/>
          </a:xfrm>
          <a:prstGeom prst="roundRect">
            <a:avLst>
              <a:gd name="adj" fmla="val 3500"/>
            </a:avLst>
          </a:prstGeom>
          <a:solidFill>
            <a:srgbClr val="FFF1E8"/>
          </a:solidFill>
          <a:ln w="15875">
            <a:solidFill>
              <a:srgbClr val="F26B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609344"/>
            <a:ext cx="3108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F26B1D"/>
                </a:solidFill>
                <a:latin typeface="Barlow Condensed"/>
              </a:rPr>
              <a:t>DISPLAYED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048256"/>
            <a:ext cx="31089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2400" b="0" i="0">
                <a:solidFill>
                  <a:srgbClr val="2B2F36"/>
                </a:solidFill>
                <a:latin typeface="Arial"/>
              </a:rPr>
              <a:t>Structural health score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2400" b="0" i="0">
                <a:solidFill>
                  <a:srgbClr val="2B2F36"/>
                </a:solidFill>
                <a:latin typeface="Arial"/>
              </a:rPr>
              <a:t>87 / 100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26280" y="1389888"/>
            <a:ext cx="6986016" cy="3291840"/>
          </a:xfrm>
          <a:prstGeom prst="roundRect">
            <a:avLst>
              <a:gd name="adj" fmla="val 3500"/>
            </a:avLst>
          </a:prstGeom>
          <a:solidFill>
            <a:srgbClr val="F4F6F8"/>
          </a:solidFill>
          <a:ln w="15875">
            <a:solidFill>
              <a:srgbClr val="E6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00600" y="1609344"/>
            <a:ext cx="643737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1F3A5F"/>
                </a:solidFill>
                <a:latin typeface="Barlow Condensed"/>
              </a:rPr>
              <a:t>MISSING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0600" y="2048256"/>
            <a:ext cx="6437376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Definition or formula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Inputs and weighting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Source and timestamp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700" b="0" i="0">
                <a:solidFill>
                  <a:srgbClr val="2B2F36"/>
                </a:solidFill>
                <a:latin typeface="Arial"/>
              </a:rPr>
              <a:t>Meaning of 87, 100, or any threshold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3800" b="1" i="0">
                <a:solidFill>
                  <a:srgbClr val="1F3A5F"/>
                </a:solidFill>
                <a:latin typeface="Barlow Condensed"/>
              </a:rPr>
              <a:t>Designed error 2 · the M08 claim was recycled</a:t>
            </a:r>
          </a:p>
        </p:txBody>
      </p:sp>
      <p:pic>
        <p:nvPicPr>
          <p:cNvPr id="4" name="Picture 3" descr="M11-five-tile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389888"/>
            <a:ext cx="6720840" cy="38404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726679" y="1481328"/>
            <a:ext cx="3767328" cy="3200400"/>
          </a:xfrm>
          <a:prstGeom prst="roundRect">
            <a:avLst>
              <a:gd name="adj" fmla="val 3500"/>
            </a:avLst>
          </a:prstGeom>
          <a:solidFill>
            <a:srgbClr val="FFF1E8"/>
          </a:solidFill>
          <a:ln w="15875">
            <a:solidFill>
              <a:srgbClr val="F26B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1000" y="1700784"/>
            <a:ext cx="32186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F26B1D"/>
                </a:solidFill>
                <a:latin typeface="Barlow Condensed"/>
              </a:rPr>
              <a:t>WHY IT FAILS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1000" y="2139696"/>
            <a:ext cx="3218688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600" b="0" i="0">
                <a:solidFill>
                  <a:srgbClr val="2B2F36"/>
                </a:solidFill>
                <a:latin typeface="Arial"/>
              </a:rPr>
              <a:t>Raw strain-versus-date trend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600" b="0" i="0">
                <a:solidFill>
                  <a:srgbClr val="2B2F36"/>
                </a:solidFill>
                <a:latin typeface="Arial"/>
              </a:rPr>
              <a:t>Red “worsening” arrow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600" b="0" i="0">
                <a:solidFill>
                  <a:srgbClr val="2B2F36"/>
                </a:solidFill>
                <a:latin typeface="Arial"/>
              </a:rPr>
              <a:t>Temperature-driven M08 story reused as damage evidence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3800" b="1" i="0">
                <a:solidFill>
                  <a:srgbClr val="1F3A5F"/>
                </a:solidFill>
                <a:latin typeface="Barlow Condensed"/>
              </a:rPr>
              <a:t>Three tiles have visible definitions and provenance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481328"/>
            <a:ext cx="3438144" cy="3337560"/>
          </a:xfrm>
          <a:prstGeom prst="roundRect">
            <a:avLst>
              <a:gd name="adj" fmla="val 3500"/>
            </a:avLst>
          </a:prstGeom>
          <a:solidFill>
            <a:srgbClr val="F4F6F8"/>
          </a:solidFill>
          <a:ln w="15875">
            <a:solidFill>
              <a:srgbClr val="E6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700784"/>
            <a:ext cx="288950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1F3A5F"/>
                </a:solidFill>
                <a:latin typeface="Barlow Condensed"/>
              </a:rPr>
              <a:t>WEATHER JOIN COVERAGE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139696"/>
            <a:ext cx="2889503" cy="2423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300" b="0" i="0">
                <a:solidFill>
                  <a:srgbClr val="2B2F36"/>
                </a:solidFill>
                <a:latin typeface="Arial"/>
              </a:rPr>
              <a:t>25 / 25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300" b="0" i="0">
                <a:solidFill>
                  <a:srgbClr val="2B2F36"/>
                </a:solidFill>
                <a:latin typeface="Arial"/>
              </a:rPr>
              <a:t>Exact timestamp matches between the M08 feed and airport weather extract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300" b="0" i="0">
                <a:solidFill>
                  <a:srgbClr val="2B2F36"/>
                </a:solidFill>
                <a:latin typeface="Arial"/>
              </a:rPr>
              <a:t>M08 feed.csv + weather_station.csv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81328"/>
            <a:ext cx="3438144" cy="3337560"/>
          </a:xfrm>
          <a:prstGeom prst="roundRect">
            <a:avLst>
              <a:gd name="adj" fmla="val 3500"/>
            </a:avLst>
          </a:prstGeom>
          <a:solidFill>
            <a:srgbClr val="FFF6E5"/>
          </a:solidFill>
          <a:ln w="15875">
            <a:solidFill>
              <a:srgbClr val="F2C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1700784"/>
            <a:ext cx="288950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1F3A5F"/>
                </a:solidFill>
                <a:latin typeface="Barlow Condensed"/>
              </a:rPr>
              <a:t>SOURCE QUALITY FLAGS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139696"/>
            <a:ext cx="2889503" cy="2423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300" b="0" i="0">
                <a:solidFill>
                  <a:srgbClr val="2B2F36"/>
                </a:solidFill>
                <a:latin typeface="Arial"/>
              </a:rPr>
              <a:t>25 / 25 OK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300" b="0" i="0">
                <a:solidFill>
                  <a:srgbClr val="2B2F36"/>
                </a:solidFill>
                <a:latin typeface="Arial"/>
              </a:rPr>
              <a:t>M08 feed rows whose source-system quality_flag equals OK; not a condition rating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300" b="0" i="0">
                <a:solidFill>
                  <a:srgbClr val="2B2F36"/>
                </a:solidFill>
                <a:latin typeface="Arial"/>
              </a:rPr>
              <a:t>M08 feed.csv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1481328"/>
            <a:ext cx="3438144" cy="3337560"/>
          </a:xfrm>
          <a:prstGeom prst="roundRect">
            <a:avLst>
              <a:gd name="adj" fmla="val 3500"/>
            </a:avLst>
          </a:prstGeom>
          <a:solidFill>
            <a:srgbClr val="F4F6F8"/>
          </a:solidFill>
          <a:ln w="15875">
            <a:solidFill>
              <a:srgbClr val="E6E8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94192" y="1700784"/>
            <a:ext cx="288950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1F3A5F"/>
                </a:solidFill>
                <a:latin typeface="Barlow Condensed"/>
              </a:rPr>
              <a:t>REPORTING WINDOW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94192" y="2139696"/>
            <a:ext cx="2889503" cy="2423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300" b="0" i="0">
                <a:solidFill>
                  <a:srgbClr val="2B2F36"/>
                </a:solidFill>
                <a:latin typeface="Arial"/>
              </a:rPr>
              <a:t>02-01 to 02-25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300" b="0" i="0">
                <a:solidFill>
                  <a:srgbClr val="2B2F36"/>
                </a:solidFill>
                <a:latin typeface="Arial"/>
              </a:rPr>
              <a:t>First and last dates in the daily M08 reference-reading extract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300" b="0" i="0">
                <a:solidFill>
                  <a:srgbClr val="2B2F36"/>
                </a:solidFill>
                <a:latin typeface="Arial"/>
              </a:rPr>
              <a:t>M08 feed.csv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3800" b="1" i="0">
                <a:solidFill>
                  <a:srgbClr val="1F3A5F"/>
                </a:solidFill>
                <a:latin typeface="Barlow Condensed"/>
              </a:rPr>
              <a:t>Model checkpoint decisions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226667" y="1600200"/>
          <a:ext cx="9738360" cy="24140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417320"/>
                <a:gridCol w="6309360"/>
              </a:tblGrid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Barlow Condensed"/>
                        </a:rPr>
                        <a:t>Tile</a:t>
                      </a:r>
                    </a:p>
                  </a:txBody>
                  <a:tcPr marL="118872" marR="91440" marT="45720" marB="4572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Barlow Condensed"/>
                        </a:rPr>
                        <a:t>Model call</a:t>
                      </a:r>
                    </a:p>
                  </a:txBody>
                  <a:tcPr marL="118872" marR="91440" marT="45720" marB="4572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Barlow Condensed"/>
                        </a:rPr>
                        <a:t>Release boundary</a:t>
                      </a:r>
                    </a:p>
                  </a:txBody>
                  <a:tcPr marL="118872" marR="91440" marT="45720" marB="45720" anchor="ctr">
                    <a:solidFill>
                      <a:srgbClr val="1F3A5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F36"/>
                          </a:solidFill>
                          <a:latin typeface="Arial"/>
                        </a:rPr>
                        <a:t>1 · Health score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F36"/>
                          </a:solidFill>
                          <a:latin typeface="Arial"/>
                        </a:rPr>
                        <a:t>PULL / FIX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F36"/>
                          </a:solidFill>
                          <a:latin typeface="Arial"/>
                        </a:rPr>
                        <a:t>No undefined aggregate score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F36"/>
                          </a:solidFill>
                          <a:latin typeface="Arial"/>
                        </a:rPr>
                        <a:t>2 · Strain trend</a:t>
                      </a:r>
                    </a:p>
                  </a:txBody>
                  <a:tcPr marL="118872" marR="91440" marT="45720" marB="4572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F36"/>
                          </a:solidFill>
                          <a:latin typeface="Arial"/>
                        </a:rPr>
                        <a:t>PULL / FIX</a:t>
                      </a:r>
                    </a:p>
                  </a:txBody>
                  <a:tcPr marL="118872" marR="91440" marT="45720" marB="4572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F36"/>
                          </a:solidFill>
                          <a:latin typeface="Arial"/>
                        </a:rPr>
                        <a:t>No recycled damage inference</a:t>
                      </a:r>
                    </a:p>
                  </a:txBody>
                  <a:tcPr marL="118872" marR="91440" marT="45720" marB="45720" anchor="ctr">
                    <a:solidFill>
                      <a:srgbClr val="F4F6F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F36"/>
                          </a:solidFill>
                          <a:latin typeface="Arial"/>
                        </a:rPr>
                        <a:t>3 · Join coverage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F36"/>
                          </a:solidFill>
                          <a:latin typeface="Arial"/>
                        </a:rPr>
                        <a:t>APPROVE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F36"/>
                          </a:solidFill>
                          <a:latin typeface="Arial"/>
                        </a:rPr>
                        <a:t>Defined exact-match metric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F36"/>
                          </a:solidFill>
                          <a:latin typeface="Arial"/>
                        </a:rPr>
                        <a:t>4 · Quality flags</a:t>
                      </a:r>
                    </a:p>
                  </a:txBody>
                  <a:tcPr marL="118872" marR="91440" marT="45720" marB="4572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F36"/>
                          </a:solidFill>
                          <a:latin typeface="Arial"/>
                        </a:rPr>
                        <a:t>APPROVE</a:t>
                      </a:r>
                    </a:p>
                  </a:txBody>
                  <a:tcPr marL="118872" marR="91440" marT="45720" marB="4572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F36"/>
                          </a:solidFill>
                          <a:latin typeface="Arial"/>
                        </a:rPr>
                        <a:t>Status only; not condition</a:t>
                      </a:r>
                    </a:p>
                  </a:txBody>
                  <a:tcPr marL="118872" marR="91440" marT="45720" marB="45720" anchor="ctr">
                    <a:solidFill>
                      <a:srgbClr val="F4F6F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F36"/>
                          </a:solidFill>
                          <a:latin typeface="Arial"/>
                        </a:rPr>
                        <a:t>5 · Window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F36"/>
                          </a:solidFill>
                          <a:latin typeface="Arial"/>
                        </a:rPr>
                        <a:t>APPROVE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F36"/>
                          </a:solidFill>
                          <a:latin typeface="Arial"/>
                        </a:rPr>
                        <a:t>Dates, count, source visible</a:t>
                      </a:r>
                    </a:p>
                  </a:txBody>
                  <a:tcPr marL="118872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2F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103120"/>
            <a:ext cx="10149840" cy="2560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4200" b="1" i="0">
                <a:solidFill>
                  <a:srgbClr val="FFFFFF"/>
                </a:solidFill>
                <a:latin typeface="Barlow Condensed"/>
              </a:rPr>
              <a:t>The board is not ready because
its strongest-looking claims are weakest.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4800600"/>
            <a:ext cx="10149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1">
                <a:solidFill>
                  <a:srgbClr val="6F8FAF"/>
                </a:solidFill>
                <a:latin typeface="Arial"/>
              </a:rPr>
              <a:t>Polish and automation do not substitute for definition and evidence.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5720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600"/>
              </a:spcAft>
            </a:pPr>
            <a:r>
              <a:rPr sz="3800" b="1" i="0">
                <a:solidFill>
                  <a:srgbClr val="1F3A5F"/>
                </a:solidFill>
                <a:latin typeface="Barlow Condensed"/>
              </a:rPr>
              <a:t>A defensible review record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389888"/>
            <a:ext cx="10853928" cy="2377440"/>
          </a:xfrm>
          <a:prstGeom prst="roundRect">
            <a:avLst>
              <a:gd name="adj" fmla="val 3500"/>
            </a:avLst>
          </a:prstGeom>
          <a:solidFill>
            <a:srgbClr val="EEF3F8"/>
          </a:solidFill>
          <a:ln w="15875">
            <a:solidFill>
              <a:srgbClr val="3A7D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609344"/>
            <a:ext cx="103052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1F3A5F"/>
                </a:solidFill>
                <a:latin typeface="Barlow Condensed"/>
              </a:rPr>
              <a:t>MODEL NOTE v2 · NOT REQUIRED WORDING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048256"/>
            <a:ext cx="10305288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600" b="0" i="0">
                <a:solidFill>
                  <a:srgbClr val="2B2F36"/>
                </a:solidFill>
                <a:latin typeface="Arial"/>
              </a:rPr>
              <a:t>CLAIM — FOREMAN asks to publish five county-facing tiles without human review.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600" b="0" i="0">
                <a:solidFill>
                  <a:srgbClr val="2B2F36"/>
                </a:solidFill>
                <a:latin typeface="Arial"/>
              </a:rPr>
              <a:t>CHECK — I checked definitions, units, sources, timestamps, and prior evidence.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600" b="0" i="0">
                <a:solidFill>
                  <a:srgbClr val="2B2F36"/>
                </a:solidFill>
                <a:latin typeface="Arial"/>
              </a:rPr>
              <a:t>RESULT — Hold publish until the undefined score and recycled trend are removed or corrected.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4087368"/>
            <a:ext cx="10853928" cy="1280160"/>
          </a:xfrm>
          <a:prstGeom prst="roundRect">
            <a:avLst>
              <a:gd name="adj" fmla="val 3500"/>
            </a:avLst>
          </a:prstGeom>
          <a:solidFill>
            <a:srgbClr val="FFF6E5"/>
          </a:solidFill>
          <a:ln w="15875">
            <a:solidFill>
              <a:srgbClr val="F2C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4306824"/>
            <a:ext cx="1030528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6B7280"/>
                </a:solidFill>
                <a:latin typeface="Barlow Condensed"/>
              </a:rPr>
              <a:t>OWNERSHIP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4745736"/>
            <a:ext cx="10305288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600" b="0" i="0">
                <a:solidFill>
                  <a:srgbClr val="2B2F36"/>
                </a:solidFill>
                <a:latin typeface="Arial"/>
              </a:rPr>
              <a:t>The reviewer records what can ship, what cannot, and why.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685800"/>
            <a:ext cx="10424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800" b="1" i="0">
                <a:solidFill>
                  <a:srgbClr val="FFFFFF"/>
                </a:solidFill>
                <a:latin typeface="Barlow Condensed"/>
              </a:rPr>
              <a:t>Close M11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73736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26B1D"/>
                </a:solidFill>
                <a:latin typeface="Barlow Condensed"/>
              </a:rPr>
              <a:t>HAND 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49039" y="1700784"/>
            <a:ext cx="7589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 i="0">
                <a:solidFill>
                  <a:srgbClr val="FFFFFF"/>
                </a:solidFill>
                <a:latin typeface="Arial"/>
              </a:rPr>
              <a:t>Completed five-tile review form plus Note version 2.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606039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26B1D"/>
                </a:solidFill>
                <a:latin typeface="Barlow Condensed"/>
              </a:rPr>
              <a:t>ALLOW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2569463"/>
            <a:ext cx="7589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 i="0">
                <a:solidFill>
                  <a:srgbClr val="FFFFFF"/>
                </a:solidFill>
                <a:latin typeface="Arial"/>
              </a:rPr>
              <a:t>Reasoned variation when the required correction is specific.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47472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26B1D"/>
                </a:solidFill>
                <a:latin typeface="Barlow Condensed"/>
              </a:rPr>
              <a:t>DO NOT SHIP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3438144"/>
            <a:ext cx="7589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 i="0">
                <a:solidFill>
                  <a:srgbClr val="FFFFFF"/>
                </a:solidFill>
                <a:latin typeface="Arial"/>
              </a:rPr>
              <a:t>Undefined aggregate scores or recycled bad trends.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34340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26B1D"/>
                </a:solidFill>
                <a:latin typeface="Barlow Condensed"/>
              </a:rPr>
              <a:t>CLOSE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4306824"/>
            <a:ext cx="7589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 i="0">
                <a:solidFill>
                  <a:srgbClr val="FFFFFF"/>
                </a:solidFill>
                <a:latin typeface="Arial"/>
              </a:rPr>
              <a:t>Publish is a human decision.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2027-03-09T12:00:00Z</dcterms:created>
  <dcterms:modified xsi:type="dcterms:W3CDTF">2027-03-09T12:00:00Z</dcterms:modified>
  <cp:category/>
</cp:coreProperties>
</file>